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3216aa8-7994-a250-41a1-29e0fcc5b495}">
          <p14:sldIdLst>
            <p14:sldId id="256"/>
            <p14:sldId id="257"/>
            <p14:sldId id="258"/>
            <p14:sldId id="259"/>
          </p14:sldIdLst>
        </p14:section>
        <p14:section name="Identity and access" id="{8b884a4e-24ce-c992-9905-e64fdbf66aa7}">
          <p14:sldIdLst>
            <p14:sldId id="260"/>
            <p14:sldId id="261"/>
          </p14:sldIdLst>
        </p14:section>
        <p14:section name="Endpoint and workload" id="{072fddaa-4740-700d-9f1f-d0a834955059}">
          <p14:sldIdLst>
            <p14:sldId id="262"/>
            <p14:sldId id="263"/>
          </p14:sldIdLst>
        </p14:section>
        <p14:section name="Network and boundary" id="{ab13c4d9-f59a-d0ca-c767-d84b4ea783f6}">
          <p14:sldIdLst>
            <p14:sldId id="264"/>
            <p14:sldId id="265"/>
          </p14:sldIdLst>
        </p14:section>
        <p14:section name="Data protection" id="{68c21bef-fb7d-a8d6-72df-d109e9441d21}">
          <p14:sldIdLst>
            <p14:sldId id="266"/>
            <p14:sldId id="267"/>
          </p14:sldIdLst>
        </p14:section>
        <p14:section name="Detection and response" id="{182489fe-d093-d711-8c39-073e9232b897}">
          <p14:sldIdLst>
            <p14:sldId id="268"/>
            <p14:sldId id="269"/>
          </p14:sldIdLst>
        </p14:section>
        <p14:section name="Feedback" id="{792438cc-b205-2743-45a6-569558c3736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Foundational</c:v>
                </c:pt>
              </c:strCache>
            </c:strRef>
          </c:tx>
          <c:spPr>
            <a:solidFill>
              <a:srgbClr val="007CB3"/>
            </a:solidFill>
            <a:effectLst/>
          </c:spPr>
          <c:invertIfNegative val="0"/>
          <c:dLbls>
            <c:numFmt formatCode="#,##0"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Identity and access</c:v>
                  </c:pt>
                  <c:pt idx="1">
                    <c:v>Endpoint and workload</c:v>
                  </c:pt>
                  <c:pt idx="2">
                    <c:v>Network and boundary</c:v>
                  </c:pt>
                  <c:pt idx="3">
                    <c:v>Data protection</c:v>
                  </c:pt>
                  <c:pt idx="4">
                    <c:v>Detection and response</c:v>
                  </c:pt>
                </c:lvl>
              </c:multiLvlStrCache>
            </c:multiLvlStrRef>
          </c:cat>
          <c:val>
            <c:numRef>
              <c:f>Sheet1!$B$2:$B$6</c:f>
              <c:numCache>
                <c:formatCode>General</c:formatCode>
                <c:ptCount val="5"/>
                <c:pt idx="0">
                  <c:v>6</c:v>
                </c:pt>
                <c:pt idx="1">
                  <c:v>6</c:v>
                </c:pt>
                <c:pt idx="2">
                  <c:v>5</c:v>
                </c:pt>
                <c:pt idx="3">
                  <c:v>9</c:v>
                </c:pt>
                <c:pt idx="4">
                  <c:v>6</c:v>
                </c:pt>
              </c:numCache>
            </c:numRef>
          </c:val>
        </c:ser>
        <c:ser>
          <c:idx val="1"/>
          <c:order val="1"/>
          <c:tx>
            <c:strRef>
              <c:f>Sheet1!$C$1</c:f>
              <c:strCache>
                <c:ptCount val="1"/>
                <c:pt idx="0">
                  <c:v>Defense in depth</c:v>
                </c:pt>
              </c:strCache>
            </c:strRef>
          </c:tx>
          <c:spPr>
            <a:solidFill>
              <a:srgbClr val="15365F"/>
            </a:solidFill>
            <a:effectLst/>
          </c:spPr>
          <c:invertIfNegative val="0"/>
          <c:dLbls>
            <c:numFmt formatCode="#,##0"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Identity and access</c:v>
                  </c:pt>
                  <c:pt idx="1">
                    <c:v>Endpoint and workload</c:v>
                  </c:pt>
                  <c:pt idx="2">
                    <c:v>Network and boundary</c:v>
                  </c:pt>
                  <c:pt idx="3">
                    <c:v>Data protection</c:v>
                  </c:pt>
                  <c:pt idx="4">
                    <c:v>Detection and response</c:v>
                  </c:pt>
                </c:lvl>
              </c:multiLvlStrCache>
            </c:multiLvlStrRef>
          </c:cat>
          <c:val>
            <c:numRef>
              <c:f>Sheet1!$C$2:$C$6</c:f>
              <c:numCache>
                <c:formatCode>General</c:formatCode>
                <c:ptCount val="5"/>
                <c:pt idx="0">
                  <c:v>4</c:v>
                </c:pt>
                <c:pt idx="1">
                  <c:v>6</c:v>
                </c:pt>
                <c:pt idx="2">
                  <c:v>5</c:v>
                </c:pt>
                <c:pt idx="3">
                  <c:v>4</c:v>
                </c:pt>
                <c:pt idx="4">
                  <c:v>3</c:v>
                </c:pt>
              </c:numCache>
            </c:numRef>
          </c:val>
        </c:ser>
        <c:dLbls>
          <c:numFmt formatCode="#,##0"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21374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1374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outlines the controls Atmosera holds every managed environment to. It is informational. The controls are being put in place, and feedback on any control, its tier or how it is measured is welcome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control sits in one of two tiers. Foundational controls go in during the build and should read E at every review. Defense in depth controls each need something from the client, such as testing, a maintenance window or licensing, so they are sequenced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controls are a share of in-scope resources, graded E at 90 percent or more, P from 50 to 89 and N below 50. Controls read from a policy or setting read In force or Not in force. N/A means there was nothing to judge, and it never moves a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pillar holds a mix of foundational and defense in depth controls. The pages that follow list every control in each pillar, one tier per page, with how it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and access, foundational controls. These are configured when the environment is built and are expected at E at every review. Multifactor authentication required at sign-in: Members with at least one successful sign-in in the last 30 days that satisfied multifactor authentication. Location-based sign-in access controls enforced through Conditional Access: An enabled Conditional Access policy blocks sign-ins or requires multifactor authentication by country or named network, for all users and all resources. Legacy authentication blocked: An enabled Conditional Access policy or security defaults block legacy authentication for all users, with approved exceptions only. Anti-phishing policy applied to every mailbox: The Microsoft default anti-phishing policy is enabled, so every mailbox carries baseline spoof protection. Multifactor authentication at admin portal sign-in: Members who signed in to a Microsoft admin portal in the last 30 days and satisfied multifactor authentication. Device code flow sign-ins blocked: Device code flow sign-ins blocked by Conditional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and access, defense in depth controls. Each of these waits on something the client approves, schedules or licenses, and is sequenced on the roadmap. Advanced anti-phishing policy applied: An enabled anti-phishing policy with impersonation, mailbox intelligence and spoof protection. Privileged roles held through eligibility rather than standing assignment: Privileged Entra role assignments that are eligible through Privileged Identity Management, against eligible plus standing assignments. Identity Protection sign-in and user risk policies enforced: An enabled Conditional Access policy with a sign-in risk condition and one with a user risk condition both include all users. Application consent governed by administrative approval: Users cannot consent, or only to low-risk permissions from verified publishers, and the admin consent request workflow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and workload, foundational controls. These are configured when the environment is built and are expected at E at every review. Endpoint detection and response deployed: Devices seen in the last 30 days that are onboarded, against onboarded plus onboarding-eligible devices. Azure virtual machines reporting to endpoint detection: Azure virtual machines seen in the last 30 days. Real-time anti-malware protection enabled: Devices compliant with the real-time protection configuration checks, all platforms. Tamper protection enforced on onboarded devices: Onboarded devices seen in the last 30 days with tamper protection on. Host firewall enforced through endpoint policy: Onboarded devices with Microsoft Defender Firewall on for every profile. Operating system findings remediated within the patch cadence: Machines assessed by Update Manager with no critical or security patch older than the agreed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and workload, defense in depth controls. Each of these waits on something the client approves, schedules or licenses, and is sequenced on the roadmap. Vulnerability assessment running on onboarded devices: Onboarded devices with a vulnerability assessment result. Platform integrity through Trusted Launch: Azure virtual machines deployed with Trusted Launch or confidential computing. Encryption at host on virtual machines: Virtual machine and scale set resources with the encryption at host setting. Disk encryption alternatives are reviewed separately. Credential protection enforced: Onboarded Windows devices with LSA protection on and WDigest credential caching off. Remote Desktop hardened with TLS and Network Level Authentication: Onboarded Windows devices requiring TLS and Network Level Authentication for Remote Desktop. Application allow-listing policy assigned: An App Control for Business policy assigned in Intune.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and boundary, foundational controls. These are configured when the environment is built and are expected at E at every review. Encryption in transit enforced on published web apps: Web and function apps with the HTTPS-only setting. Transport encryption enforced on Azure SQL: Azure SQL servers requiring TLS 1.2 or newer. App Service minimum TLS 1.2: App Service configurations requiring TLS 1.2 or newer. Anonymous blob access disabled: Storage accounts with account-level anonymous access disabled. Network protection active for egress and DNS monitoring: Onboarded Windows devices with network protection in block mode. The Sentinel tunneling and beaconing rules are confirmed in the review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and boundary, defense in depth controls. Each of these waits on something the client approves, schedules or licenses, and is sequenced on the roadmap. Workload subnets protected by segmentation: Workload subnets with a network security group or a route through the firewall. Storage accounts closed to public networks: Storage accounts with public network access disabled. Blob containers closed to anonymous access: Blob containers set to private at the container level, read in every storage account, so they stay closed even if the account-level setting is relaxed. Directory traffic signed and channel-bound: Domain controllers requiring LDAP server signing and channel binding. NTLMv2 enforced with LM and NTLM refused: Onboarded Windows devices sending NTLMv2 responses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protection, foundational controls. These are configured when the environment is built and are expected at E at every review. Secure transfer required on storage accounts: Storage accounts configured to require secure transfer. Storage minimum TLS 1.2: Storage accounts requiring TLS 1.2 or newer. Key Vault soft delete: Vaults able to recover deleted secrets, keys and certificates. Key Vault purge protection: Vaults protected against permanent deletion during the retention period. Managed disks encrypted at rest: Managed disks encrypted with platform or customer managed keys. Safe Links scanning on mail, Teams and Office: At least one Safe Links policy covers mail, Teams and Office. Safe Attachments blocking malicious files: At least one enabled Safe Attachments policy blocks or replaces malicious attachments. Malicious mail removed after delivery: Post-delivery removals of malicious mail in the last 30 days. Zero-hour auto purge enabled for malware, spam and phishing: Every malware and content filter policy keeps zero-hour auto purge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protection, defense in depth controls. Each of these waits on something the client approves, schedules or licenses, and is sequenced on the roadmap. Key Vault access governed by role-based access control: Vaults using the Azure RBAC permission model. Azure Backup protecting virtual machines: Virtual machines with a protected backup item. Pooled session hosts may be excluded by agreement. Collaboration sharing boundaries defined: Tenant sharing level below anyone links, with domain restrictions where agreed. Endpoint disk encryption enforced on managed devices: Managed Windows and macOS devices reported as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and response, foundational controls. These are configured when the environment is built and are expected at E at every review. Endpoint sensors active on Azure virtual machines: Active sensors among onboarded Azure virtual machines seen in the last 30 days. Workstations and network devices such as firewalls are not part of this measure. Cloud workload protection across the resource estate: Eligible resources on a Standard Defender for Cloud plan. Subscription plan configuration, estimated. Domain controller telemetry collected continuously: Domain controller security events arriving in the workspace. Alerts closed with a documented disposition: Alerts closed in the last 30 days that carry a classification and a closing comment. Defender for Identity sensors healthy on domain controllers: Sensors reporting healthy, of sensors registered. Audit logging initiative compliant across its resources: Resources compliant with the ATMO-MXDR diagnostic logging initiative.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and response, defense in depth controls. Each of these waits on something the client approves, schedules or licenses, and is sequenced on the roadmap. Analytics rules enabled in Sentinel: Enabled analytics rules across all workspaces. Threat intelligence indicators ingested tenant-wide: Threat intelligence indicators available for matching in the workspace. Diagnostic logging enabled on all platform resources: Resources with every diagnostic and audit logging assessment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feedback on the controls, their tiers and their measures. Feedback is considered for the next version of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Atmoser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Atmosera-Closing-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Atmosera-Decisions-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mosera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7863840" cy="365760"/>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640080" y="1325880"/>
            <a:ext cx="731520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640080" y="3246120"/>
            <a:ext cx="7863840" cy="50292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5" name="Text 0"/>
          <p:cNvSpPr/>
          <p:nvPr>
            <p:ph idx="103" type="body" hasCustomPrompt="1"/>
          </p:nvPr>
        </p:nvSpPr>
        <p:spPr>
          <a:xfrm>
            <a:off x="640080" y="3840480"/>
            <a:ext cx="6766560" cy="7772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6" name="Text 0"/>
          <p:cNvSpPr/>
          <p:nvPr>
            <p:ph idx="104" type="body" hasCustomPrompt="1"/>
          </p:nvPr>
        </p:nvSpPr>
        <p:spPr>
          <a:xfrm>
            <a:off x="640080" y="4800600"/>
            <a:ext cx="7863840" cy="594360"/>
          </a:xfrm>
          <a:prstGeom prst="rect">
            <a:avLst/>
          </a:prstGeom>
          <a:noFill/>
          <a:ln/>
        </p:spPr>
        <p:txBody>
          <a:bodyPr wrap="square" rtlCol="0"/>
          <a:lstStyle>
            <a:lvl1pPr algn="l" indent="0" marL="0">
              <a:buNone/>
              <a:defRPr lang="en-US" sz="1400" dirty="0">
                <a:solidFill>
                  <a:schemeClr val="accent1"/>
                </a:solidFill>
              </a:defRPr>
            </a:lvl1pPr>
          </a:lstStyle>
          <a:p>
            <a:pPr algn="l" indent="0" marL="0">
              <a:buNone/>
            </a:pPr>
            <a:endParaRPr lang="en-US" sz="1400" dirty="0"/>
          </a:p>
        </p:txBody>
      </p:sp>
      <p:sp>
        <p:nvSpPr>
          <p:cNvPr id="7" name="Text 0"/>
          <p:cNvSpPr/>
          <p:nvPr/>
        </p:nvSpPr>
        <p:spPr>
          <a:xfrm>
            <a:off x="640080" y="5989320"/>
            <a:ext cx="2743200" cy="457200"/>
          </a:xfrm>
          <a:prstGeom prst="rect">
            <a:avLst/>
          </a:prstGeom>
          <a:noFill/>
          <a:ln/>
        </p:spPr>
        <p:txBody>
          <a:bodyPr wrap="square" lIns="0" tIns="0" rIns="0" bIns="0" rtlCol="0" anchor="ctr"/>
          <a:lstStyle/>
          <a:p>
            <a:pPr indent="0" marL="0">
              <a:buNone/>
            </a:pPr>
            <a:r>
              <a:rPr lang="en-US" sz="2800" b="1" dirty="0">
                <a:solidFill>
                  <a:schemeClr val="accent1"/>
                </a:solidFill>
              </a:rPr>
              <a:t>atmosera.</a:t>
            </a: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mosera Content">
    <p:bg>
      <p:bgPr>
        <a:solidFill>
          <a:schemeClr val="bg1"/>
        </a:solidFill>
      </p:bgPr>
    </p:bg>
    <p:spTree>
      <p:nvGrpSpPr>
        <p:cNvPr id="1" name=""/>
        <p:cNvGrpSpPr/>
        <p:nvPr/>
      </p:nvGrpSpPr>
      <p:grpSpPr>
        <a:xfrm>
          <a:off x="0" y="0"/>
          <a:ext cx="0" cy="0"/>
          <a:chOff x="0" y="0"/>
          <a:chExt cx="0" cy="0"/>
        </a:xfrm>
      </p:grpSpPr>
      <p:pic>
        <p:nvPicPr>
          <p:cNvPr id="2" name="Image 0" descr="/Users/nexus/Projects/Client_Facing_Tickets/scripts/EBR_Evidence_Gathering/report/assets/deck-band.jpg">    </p:cNvPr>
          <p:cNvPicPr>
            <a:picLocks noChangeAspect="1"/>
          </p:cNvPicPr>
          <p:nvPr/>
        </p:nvPicPr>
        <p:blipFill>
          <a:blip r:embed="rId1"/>
          <a:stretch>
            <a:fillRect/>
          </a:stretch>
        </p:blipFill>
        <p:spPr>
          <a:xfrm>
            <a:off x="0" y="0"/>
            <a:ext cx="12191695" cy="1280160"/>
          </a:xfrm>
          <a:prstGeom prst="rect">
            <a:avLst/>
          </a:prstGeom>
        </p:spPr>
      </p:pic>
      <p:sp>
        <p:nvSpPr>
          <p:cNvPr id="3" name="Text 0"/>
          <p:cNvSpPr/>
          <p:nvPr>
            <p:ph idx="101" type="title" hasCustomPrompt="1"/>
          </p:nvPr>
        </p:nvSpPr>
        <p:spPr>
          <a:xfrm>
            <a:off x="548640" y="182880"/>
            <a:ext cx="11094415" cy="5943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777240"/>
            <a:ext cx="11094415" cy="3657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mosera 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94944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154680"/>
            <a:ext cx="640080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nvSpPr>
        <p:spPr>
          <a:xfrm>
            <a:off x="640080" y="5989320"/>
            <a:ext cx="2743200" cy="457200"/>
          </a:xfrm>
          <a:prstGeom prst="rect">
            <a:avLst/>
          </a:prstGeom>
          <a:noFill/>
          <a:ln/>
        </p:spPr>
        <p:txBody>
          <a:bodyPr wrap="square" lIns="0" tIns="0" rIns="0" bIns="0" rtlCol="0" anchor="ctr"/>
          <a:lstStyle/>
          <a:p>
            <a:pPr indent="0" marL="0">
              <a:buNone/>
            </a:pPr>
            <a:r>
              <a:rPr lang="en-US" sz="2800" b="1" dirty="0">
                <a:solidFill>
                  <a:schemeClr val="accent1"/>
                </a:solidFill>
              </a:rPr>
              <a:t>atmosera.</a:t>
            </a: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tmosera Decision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8778240" cy="320040"/>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640080" y="868680"/>
            <a:ext cx="8778240" cy="777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1645920"/>
            <a:ext cx="8778240" cy="41148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7863840" cy="365760"/>
          </a:xfrm>
          <a:prstGeom prst="rect">
            <a:avLst/>
          </a:prstGeom>
          <a:noFill/>
          <a:ln/>
        </p:spPr>
        <p:txBody>
          <a:bodyPr wrap="square" lIns="0" tIns="0" rIns="0" bIns="0" rtlCol="0"/>
          <a:lstStyle/>
          <a:p>
            <a:pPr algn="l" indent="0" marL="0">
              <a:buNone/>
            </a:pPr>
            <a:r>
              <a:rPr lang="en-US" sz="1300" b="1" spc="200" kern="0" dirty="0">
                <a:solidFill>
                  <a:schemeClr val="accent1"/>
                </a:solidFill>
              </a:rPr>
              <a:t>MANAGED SECURITY SERVICES · SECURITY CONTROLS STANDARD</a:t>
            </a:r>
            <a:endParaRPr lang="en-US" sz="1300" dirty="0"/>
          </a:p>
        </p:txBody>
      </p:sp>
      <p:sp>
        <p:nvSpPr>
          <p:cNvPr id="3" name="Text 0"/>
          <p:cNvSpPr/>
          <p:nvPr>
            <p:ph idx="101" type="title" hasCustomPrompt="1"/>
          </p:nvPr>
        </p:nvSpPr>
        <p:spPr>
          <a:xfrm>
            <a:off x="640080" y="1325880"/>
            <a:ext cx="7315200" cy="1737360"/>
          </a:xfrm>
          <a:prstGeom prst="rect">
            <a:avLst/>
          </a:prstGeom>
          <a:noFill/>
          <a:ln/>
        </p:spPr>
        <p:txBody>
          <a:bodyPr wrap="square" lIns="0" tIns="0" rIns="0" bIns="0" rtlCol="0" anchor="t"/>
          <a:lstStyle/>
          <a:p>
            <a:pPr algn="l" indent="0" marL="0">
              <a:buNone/>
            </a:pPr>
            <a:r>
              <a:rPr lang="en-US" sz="5400" b="1" dirty="0">
                <a:solidFill>
                  <a:schemeClr val="bg1"/>
                </a:solidFill>
              </a:rPr>
              <a:t>The controls that matter</a:t>
            </a:r>
            <a:endParaRPr lang="en-US" sz="5400" dirty="0"/>
          </a:p>
        </p:txBody>
      </p:sp>
      <p:sp>
        <p:nvSpPr>
          <p:cNvPr id="4" name="Text 0"/>
          <p:cNvSpPr/>
          <p:nvPr>
            <p:ph idx="102" type="body" hasCustomPrompt="1"/>
          </p:nvPr>
        </p:nvSpPr>
        <p:spPr>
          <a:xfrm>
            <a:off x="640080" y="3246120"/>
            <a:ext cx="7863840" cy="502920"/>
          </a:xfrm>
          <a:prstGeom prst="rect">
            <a:avLst/>
          </a:prstGeom>
          <a:noFill/>
          <a:ln/>
        </p:spPr>
        <p:txBody>
          <a:bodyPr wrap="square" lIns="0" tIns="0" rIns="0" bIns="0" rtlCol="0"/>
          <a:lstStyle/>
          <a:p>
            <a:pPr algn="l" indent="0" marL="0">
              <a:buNone/>
            </a:pPr>
            <a:r>
              <a:rPr lang="en-US" sz="2600" b="1" dirty="0">
                <a:solidFill>
                  <a:schemeClr val="bg1"/>
                </a:solidFill>
              </a:rPr>
              <a:t>MXDR security controls standard</a:t>
            </a:r>
            <a:endParaRPr lang="en-US" sz="2600" dirty="0"/>
          </a:p>
        </p:txBody>
      </p:sp>
      <p:sp>
        <p:nvSpPr>
          <p:cNvPr id="5" name="Text 0"/>
          <p:cNvSpPr/>
          <p:nvPr>
            <p:ph idx="103" type="body" hasCustomPrompt="1"/>
          </p:nvPr>
        </p:nvSpPr>
        <p:spPr>
          <a:xfrm>
            <a:off x="640080" y="3840480"/>
            <a:ext cx="6766560" cy="777240"/>
          </a:xfrm>
          <a:prstGeom prst="rect">
            <a:avLst/>
          </a:prstGeom>
          <a:noFill/>
          <a:ln/>
        </p:spPr>
        <p:txBody>
          <a:bodyPr wrap="square" lIns="0" tIns="0" rIns="0" bIns="0" rtlCol="0" anchor="t"/>
          <a:lstStyle/>
          <a:p>
            <a:pPr algn="l" indent="0" marL="0">
              <a:buNone/>
            </a:pPr>
            <a:r>
              <a:rPr lang="en-US" sz="1800" dirty="0">
                <a:solidFill>
                  <a:schemeClr val="bg2"/>
                </a:solidFill>
              </a:rPr>
              <a:t>The controls every managed environment is held to, and how each one is measured.</a:t>
            </a:r>
            <a:endParaRPr lang="en-US" sz="1800" dirty="0"/>
          </a:p>
        </p:txBody>
      </p:sp>
      <p:sp>
        <p:nvSpPr>
          <p:cNvPr id="6" name="Text 0"/>
          <p:cNvSpPr/>
          <p:nvPr>
            <p:ph idx="104" type="body" hasCustomPrompt="1"/>
          </p:nvPr>
        </p:nvSpPr>
        <p:spPr>
          <a:xfrm>
            <a:off x="640080" y="4800600"/>
            <a:ext cx="7863840" cy="594360"/>
          </a:xfrm>
          <a:prstGeom prst="rect">
            <a:avLst/>
          </a:prstGeom>
          <a:noFill/>
          <a:ln/>
        </p:spPr>
        <p:txBody>
          <a:bodyPr wrap="square" lIns="0" tIns="0" rIns="0" bIns="0" rtlCol="0" anchor="t"/>
          <a:lstStyle/>
          <a:p>
            <a:pPr algn="l" indent="0" marL="0">
              <a:buNone/>
            </a:pPr>
            <a:r>
              <a:rPr lang="en-US" sz="1400" dirty="0">
                <a:solidFill>
                  <a:schemeClr val="accent1"/>
                </a:solidFill>
              </a:rPr>
              <a:t>Version Oct 12, 2026 · 32 foundational and 22 defense in depth controls across five pillars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Two tiers of controls</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Foundational controls are built in. Defense in depth is layered on with each client.</a:t>
            </a:r>
            <a:endParaRPr lang="en-US" sz="1600" dirty="0"/>
          </a:p>
        </p:txBody>
      </p:sp>
      <p:sp>
        <p:nvSpPr>
          <p:cNvPr id="4" name="Foundational card"/>
          <p:cNvSpPr/>
          <p:nvPr/>
        </p:nvSpPr>
        <p:spPr>
          <a:xfrm>
            <a:off x="548640" y="1600200"/>
            <a:ext cx="5364328" cy="4846320"/>
          </a:xfrm>
          <a:prstGeom prst="roundRect">
            <a:avLst>
              <a:gd name="adj" fmla="val 1509"/>
            </a:avLst>
          </a:prstGeom>
          <a:solidFill>
            <a:schemeClr val="bg2"/>
          </a:solidFill>
          <a:ln w="12700">
            <a:solidFill>
              <a:schemeClr val="bg2"/>
            </a:solidFill>
            <a:prstDash val="solid"/>
          </a:ln>
        </p:spPr>
      </p:sp>
      <p:sp>
        <p:nvSpPr>
          <p:cNvPr id="5" name="Foundational chip"/>
          <p:cNvSpPr txBox="1"/>
          <p:nvPr/>
        </p:nvSpPr>
        <p:spPr>
          <a:xfrm>
            <a:off x="822960" y="1874520"/>
            <a:ext cx="502920" cy="457200"/>
          </a:xfrm>
          <a:prstGeom prst="roundRect">
            <a:avLst>
              <a:gd name="adj" fmla="val 12000"/>
            </a:avLst>
          </a:prstGeom>
          <a:solidFill>
            <a:schemeClr val="accent2"/>
          </a:solidFill>
          <a:ln/>
        </p:spPr>
        <p:txBody>
          <a:bodyPr wrap="square" lIns="0" tIns="0" rIns="0" bIns="0" rtlCol="0" anchor="ctr"/>
          <a:lstStyle/>
          <a:p>
            <a:pPr algn="ctr" indent="0" marL="0">
              <a:buNone/>
            </a:pPr>
            <a:r>
              <a:rPr lang="en-US" sz="2000" b="1" dirty="0">
                <a:solidFill>
                  <a:schemeClr val="bg1"/>
                </a:solidFill>
              </a:rPr>
              <a:t>F</a:t>
            </a:r>
            <a:endParaRPr lang="en-US" sz="2000" dirty="0"/>
          </a:p>
        </p:txBody>
      </p:sp>
      <p:sp>
        <p:nvSpPr>
          <p:cNvPr id="6" name="Foundational heading"/>
          <p:cNvSpPr txBox="1"/>
          <p:nvPr/>
        </p:nvSpPr>
        <p:spPr>
          <a:xfrm>
            <a:off x="1508760" y="1874520"/>
            <a:ext cx="4129888" cy="457200"/>
          </a:xfrm>
          <a:prstGeom prst="rect">
            <a:avLst/>
          </a:prstGeom>
          <a:noFill/>
          <a:ln/>
        </p:spPr>
        <p:txBody>
          <a:bodyPr wrap="square" lIns="0" tIns="0" rIns="0" bIns="0" rtlCol="0" anchor="ctr"/>
          <a:lstStyle/>
          <a:p>
            <a:pPr indent="0" marL="0">
              <a:buNone/>
            </a:pPr>
            <a:r>
              <a:rPr lang="en-US" sz="2400" b="1" dirty="0">
                <a:solidFill>
                  <a:schemeClr val="tx2"/>
                </a:solidFill>
              </a:rPr>
              <a:t>Foundational</a:t>
            </a:r>
            <a:endParaRPr lang="en-US" sz="2400" dirty="0"/>
          </a:p>
        </p:txBody>
      </p:sp>
      <p:sp>
        <p:nvSpPr>
          <p:cNvPr id="7" name="Foundational definition"/>
          <p:cNvSpPr txBox="1"/>
          <p:nvPr/>
        </p:nvSpPr>
        <p:spPr>
          <a:xfrm>
            <a:off x="822960" y="2514600"/>
            <a:ext cx="4815688" cy="960120"/>
          </a:xfrm>
          <a:prstGeom prst="rect">
            <a:avLst/>
          </a:prstGeom>
          <a:noFill/>
          <a:ln/>
        </p:spPr>
        <p:txBody>
          <a:bodyPr wrap="square" lIns="0" tIns="0" rIns="0" bIns="0" rtlCol="0" anchor="t"/>
          <a:lstStyle/>
          <a:p>
            <a:pPr indent="0" marL="0">
              <a:buNone/>
            </a:pPr>
            <a:r>
              <a:rPr lang="en-US" sz="1500" dirty="0">
                <a:solidFill>
                  <a:schemeClr val="tx1"/>
                </a:solidFill>
              </a:rPr>
              <a:t>Configured when the environment is built and expected to stay enforced at every review. One that reads below E is treated as drift and carries a fix date.</a:t>
            </a:r>
            <a:endParaRPr lang="en-US" sz="1500" dirty="0"/>
          </a:p>
        </p:txBody>
      </p:sp>
      <p:sp>
        <p:nvSpPr>
          <p:cNvPr id="8" name="Foundational criteria heading"/>
          <p:cNvSpPr txBox="1"/>
          <p:nvPr/>
        </p:nvSpPr>
        <p:spPr>
          <a:xfrm>
            <a:off x="822960" y="3566160"/>
            <a:ext cx="4815688" cy="365760"/>
          </a:xfrm>
          <a:prstGeom prst="rect">
            <a:avLst/>
          </a:prstGeom>
          <a:noFill/>
          <a:ln/>
        </p:spPr>
        <p:txBody>
          <a:bodyPr wrap="square" lIns="0" tIns="0" rIns="0" bIns="0" rtlCol="0" anchor="t"/>
          <a:lstStyle/>
          <a:p>
            <a:pPr indent="0" marL="0">
              <a:buNone/>
            </a:pPr>
            <a:r>
              <a:rPr lang="en-US" sz="1500" b="1" dirty="0">
                <a:solidFill>
                  <a:schemeClr val="accent2"/>
                </a:solidFill>
              </a:rPr>
              <a:t>Foundational when all three hold</a:t>
            </a:r>
            <a:endParaRPr lang="en-US" sz="1500" dirty="0"/>
          </a:p>
        </p:txBody>
      </p:sp>
      <p:sp>
        <p:nvSpPr>
          <p:cNvPr id="9" name="Foundational criteria"/>
          <p:cNvSpPr txBox="1"/>
          <p:nvPr/>
        </p:nvSpPr>
        <p:spPr>
          <a:xfrm>
            <a:off x="822960" y="3977640"/>
            <a:ext cx="4815688"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Other controls in the pillar depend on it.</a:t>
            </a:r>
            <a:endParaRPr lang="en-US" sz="1400" dirty="0"/>
          </a:p>
          <a:p>
            <a:pPr marL="342900" indent="-342900">
              <a:spcAft>
                <a:spcPts val="600"/>
              </a:spcAft>
              <a:buSzPct val="100000"/>
              <a:buChar char="•"/>
            </a:pPr>
            <a:r>
              <a:rPr lang="en-US" sz="1400" dirty="0">
                <a:solidFill>
                  <a:schemeClr val="tx1"/>
                </a:solidFill>
              </a:rPr>
              <a:t>It applies to every client in scope of the service.</a:t>
            </a:r>
            <a:endParaRPr lang="en-US" sz="1400" dirty="0"/>
          </a:p>
          <a:p>
            <a:pPr marL="342900" indent="-342900">
              <a:spcAft>
                <a:spcPts val="600"/>
              </a:spcAft>
              <a:buSzPct val="100000"/>
              <a:buChar char="•"/>
            </a:pPr>
            <a:r>
              <a:rPr lang="en-US" sz="1400" dirty="0">
                <a:solidFill>
                  <a:schemeClr val="tx1"/>
                </a:solidFill>
              </a:rPr>
              <a:t>Atmosera can deliver it inside the build window.</a:t>
            </a:r>
            <a:endParaRPr lang="en-US" sz="1400" dirty="0"/>
          </a:p>
        </p:txBody>
      </p:sp>
      <p:sp>
        <p:nvSpPr>
          <p:cNvPr id="10" name="Defense in depth card"/>
          <p:cNvSpPr/>
          <p:nvPr/>
        </p:nvSpPr>
        <p:spPr>
          <a:xfrm>
            <a:off x="6278728" y="1600200"/>
            <a:ext cx="5364328" cy="4846320"/>
          </a:xfrm>
          <a:prstGeom prst="roundRect">
            <a:avLst>
              <a:gd name="adj" fmla="val 1509"/>
            </a:avLst>
          </a:prstGeom>
          <a:solidFill>
            <a:schemeClr val="bg2"/>
          </a:solidFill>
          <a:ln w="12700">
            <a:solidFill>
              <a:schemeClr val="bg2"/>
            </a:solidFill>
            <a:prstDash val="solid"/>
          </a:ln>
        </p:spPr>
      </p:sp>
      <p:sp>
        <p:nvSpPr>
          <p:cNvPr id="11" name="Defense in depth chip"/>
          <p:cNvSpPr txBox="1"/>
          <p:nvPr/>
        </p:nvSpPr>
        <p:spPr>
          <a:xfrm>
            <a:off x="6553048" y="1874520"/>
            <a:ext cx="502920" cy="457200"/>
          </a:xfrm>
          <a:prstGeom prst="roundRect">
            <a:avLst>
              <a:gd name="adj" fmla="val 12000"/>
            </a:avLst>
          </a:prstGeom>
          <a:solidFill>
            <a:schemeClr val="tx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2" name="Defense in depth heading"/>
          <p:cNvSpPr txBox="1"/>
          <p:nvPr/>
        </p:nvSpPr>
        <p:spPr>
          <a:xfrm>
            <a:off x="7238848" y="1874520"/>
            <a:ext cx="4129888" cy="457200"/>
          </a:xfrm>
          <a:prstGeom prst="rect">
            <a:avLst/>
          </a:prstGeom>
          <a:noFill/>
          <a:ln/>
        </p:spPr>
        <p:txBody>
          <a:bodyPr wrap="square" lIns="0" tIns="0" rIns="0" bIns="0" rtlCol="0" anchor="ctr"/>
          <a:lstStyle/>
          <a:p>
            <a:pPr indent="0" marL="0">
              <a:buNone/>
            </a:pPr>
            <a:r>
              <a:rPr lang="en-US" sz="2400" b="1" dirty="0">
                <a:solidFill>
                  <a:schemeClr val="tx2"/>
                </a:solidFill>
              </a:rPr>
              <a:t>Defense in depth</a:t>
            </a:r>
            <a:endParaRPr lang="en-US" sz="2400" dirty="0"/>
          </a:p>
        </p:txBody>
      </p:sp>
      <p:sp>
        <p:nvSpPr>
          <p:cNvPr id="13" name="Defense in depth definition"/>
          <p:cNvSpPr txBox="1"/>
          <p:nvPr/>
        </p:nvSpPr>
        <p:spPr>
          <a:xfrm>
            <a:off x="6553048" y="2514600"/>
            <a:ext cx="4815688" cy="960120"/>
          </a:xfrm>
          <a:prstGeom prst="rect">
            <a:avLst/>
          </a:prstGeom>
          <a:noFill/>
          <a:ln/>
        </p:spPr>
        <p:txBody>
          <a:bodyPr wrap="square" lIns="0" tIns="0" rIns="0" bIns="0" rtlCol="0" anchor="t"/>
          <a:lstStyle/>
          <a:p>
            <a:pPr indent="0" marL="0">
              <a:buNone/>
            </a:pPr>
            <a:r>
              <a:rPr lang="en-US" sz="1500" dirty="0">
                <a:solidFill>
                  <a:schemeClr val="tx1"/>
                </a:solidFill>
              </a:rPr>
              <a:t>The additional safeguards layered on afterward. Each waits on something the client approves, schedules or licenses, and they are sequenced on the roadmap.</a:t>
            </a:r>
            <a:endParaRPr lang="en-US" sz="1500" dirty="0"/>
          </a:p>
        </p:txBody>
      </p:sp>
      <p:sp>
        <p:nvSpPr>
          <p:cNvPr id="14" name="Defense in depth criteria heading"/>
          <p:cNvSpPr txBox="1"/>
          <p:nvPr/>
        </p:nvSpPr>
        <p:spPr>
          <a:xfrm>
            <a:off x="6553048" y="3566160"/>
            <a:ext cx="4815688" cy="365760"/>
          </a:xfrm>
          <a:prstGeom prst="rect">
            <a:avLst/>
          </a:prstGeom>
          <a:noFill/>
          <a:ln/>
        </p:spPr>
        <p:txBody>
          <a:bodyPr wrap="square" lIns="0" tIns="0" rIns="0" bIns="0" rtlCol="0" anchor="t"/>
          <a:lstStyle/>
          <a:p>
            <a:pPr indent="0" marL="0">
              <a:buNone/>
            </a:pPr>
            <a:r>
              <a:rPr lang="en-US" sz="1500" b="1" dirty="0">
                <a:solidFill>
                  <a:schemeClr val="tx2"/>
                </a:solidFill>
              </a:rPr>
              <a:t>Defense in depth when any one is true</a:t>
            </a:r>
            <a:endParaRPr lang="en-US" sz="1500" dirty="0"/>
          </a:p>
        </p:txBody>
      </p:sp>
      <p:sp>
        <p:nvSpPr>
          <p:cNvPr id="15" name="Defense in depth criteria"/>
          <p:cNvSpPr txBox="1"/>
          <p:nvPr/>
        </p:nvSpPr>
        <p:spPr>
          <a:xfrm>
            <a:off x="6553048" y="3977640"/>
            <a:ext cx="4815688"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It needs application or dependency testing only the client can perform.</a:t>
            </a:r>
            <a:endParaRPr lang="en-US" sz="1400" dirty="0"/>
          </a:p>
          <a:p>
            <a:pPr marL="342900" indent="-342900">
              <a:spcAft>
                <a:spcPts val="600"/>
              </a:spcAft>
              <a:buSzPct val="100000"/>
              <a:buChar char="•"/>
            </a:pPr>
            <a:r>
              <a:rPr lang="en-US" sz="1400" dirty="0">
                <a:solidFill>
                  <a:schemeClr val="tx1"/>
                </a:solidFill>
              </a:rPr>
              <a:t>It needs a maintenance window, a reboot or a redeployment.</a:t>
            </a:r>
            <a:endParaRPr lang="en-US" sz="1400" dirty="0"/>
          </a:p>
          <a:p>
            <a:pPr marL="342900" indent="-342900">
              <a:spcAft>
                <a:spcPts val="600"/>
              </a:spcAft>
              <a:buSzPct val="100000"/>
              <a:buChar char="•"/>
            </a:pPr>
            <a:r>
              <a:rPr lang="en-US" sz="1400" dirty="0">
                <a:solidFill>
                  <a:schemeClr val="tx1"/>
                </a:solidFill>
              </a:rPr>
              <a:t>It changes network or directory architecture.</a:t>
            </a:r>
            <a:endParaRPr lang="en-US" sz="1400" dirty="0"/>
          </a:p>
          <a:p>
            <a:pPr marL="342900" indent="-342900">
              <a:spcAft>
                <a:spcPts val="600"/>
              </a:spcAft>
              <a:buSzPct val="100000"/>
              <a:buChar char="•"/>
            </a:pPr>
            <a:r>
              <a:rPr lang="en-US" sz="1400" dirty="0">
                <a:solidFill>
                  <a:schemeClr val="tx1"/>
                </a:solidFill>
              </a:rPr>
              <a:t>It needs licensing or recurring cost beyond the service agreement.</a:t>
            </a:r>
            <a:endParaRPr lang="en-US" sz="1400" dirty="0"/>
          </a:p>
          <a:p>
            <a:pPr marL="342900" indent="-342900">
              <a:spcAft>
                <a:spcPts val="600"/>
              </a:spcAft>
              <a:buSzPct val="100000"/>
              <a:buChar char="•"/>
            </a:pPr>
            <a:r>
              <a:rPr lang="en-US" sz="1400" dirty="0">
                <a:solidFill>
                  <a:schemeClr val="tx1"/>
                </a:solidFill>
              </a:rPr>
              <a:t>It depends on tuning against the environment's own operating history.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How each control is graded</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Every control carries one status at each review</a:t>
            </a:r>
            <a:endParaRPr lang="en-US" sz="1600" dirty="0"/>
          </a:p>
        </p:txBody>
      </p:sp>
      <p:sp>
        <p:nvSpPr>
          <p:cNvPr id="4" name="E card"/>
          <p:cNvSpPr/>
          <p:nvPr/>
        </p:nvSpPr>
        <p:spPr>
          <a:xfrm>
            <a:off x="548640" y="1600200"/>
            <a:ext cx="3515258" cy="2468880"/>
          </a:xfrm>
          <a:prstGeom prst="roundRect">
            <a:avLst>
              <a:gd name="adj" fmla="val 2963"/>
            </a:avLst>
          </a:prstGeom>
          <a:solidFill>
            <a:schemeClr val="bg2"/>
          </a:solidFill>
          <a:ln w="12700">
            <a:solidFill>
              <a:schemeClr val="bg2"/>
            </a:solidFill>
            <a:prstDash val="solid"/>
          </a:ln>
        </p:spPr>
      </p:sp>
      <p:sp>
        <p:nvSpPr>
          <p:cNvPr id="5" name="E mark"/>
          <p:cNvSpPr txBox="1"/>
          <p:nvPr/>
        </p:nvSpPr>
        <p:spPr>
          <a:xfrm>
            <a:off x="868680" y="1920240"/>
            <a:ext cx="777240" cy="777240"/>
          </a:xfrm>
          <a:prstGeom prst="roundRect">
            <a:avLst>
              <a:gd name="adj" fmla="val 7059"/>
            </a:avLst>
          </a:prstGeom>
          <a:solidFill>
            <a:schemeClr val="accent3"/>
          </a:solidFill>
          <a:ln/>
        </p:spPr>
        <p:txBody>
          <a:bodyPr wrap="square" lIns="0" tIns="0" rIns="0" bIns="0" rtlCol="0" anchor="ctr"/>
          <a:lstStyle/>
          <a:p>
            <a:pPr algn="ctr" indent="0" marL="0">
              <a:buNone/>
            </a:pPr>
            <a:r>
              <a:rPr lang="en-US" sz="3600" b="1" dirty="0">
                <a:solidFill>
                  <a:schemeClr val="bg1"/>
                </a:solidFill>
              </a:rPr>
              <a:t>E</a:t>
            </a:r>
            <a:endParaRPr lang="en-US" sz="3600" dirty="0"/>
          </a:p>
        </p:txBody>
      </p:sp>
      <p:sp>
        <p:nvSpPr>
          <p:cNvPr id="6" name="E threshold"/>
          <p:cNvSpPr txBox="1"/>
          <p:nvPr/>
        </p:nvSpPr>
        <p:spPr>
          <a:xfrm>
            <a:off x="868680" y="2834640"/>
            <a:ext cx="2875178" cy="548640"/>
          </a:xfrm>
          <a:prstGeom prst="rect">
            <a:avLst/>
          </a:prstGeom>
          <a:noFill/>
          <a:ln/>
        </p:spPr>
        <p:txBody>
          <a:bodyPr wrap="square" lIns="0" tIns="0" rIns="0" bIns="0" rtlCol="0" anchor="t"/>
          <a:lstStyle/>
          <a:p>
            <a:pPr indent="0" marL="0">
              <a:buNone/>
            </a:pPr>
            <a:r>
              <a:rPr lang="en-US" sz="3000" b="1" dirty="0">
                <a:solidFill>
                  <a:schemeClr val="tx2"/>
                </a:solidFill>
              </a:rPr>
              <a:t>90% or more</a:t>
            </a:r>
            <a:endParaRPr lang="en-US" sz="3000" dirty="0"/>
          </a:p>
        </p:txBody>
      </p:sp>
      <p:sp>
        <p:nvSpPr>
          <p:cNvPr id="7" name="E label"/>
          <p:cNvSpPr txBox="1"/>
          <p:nvPr/>
        </p:nvSpPr>
        <p:spPr>
          <a:xfrm>
            <a:off x="868680" y="3383280"/>
            <a:ext cx="2875178" cy="365760"/>
          </a:xfrm>
          <a:prstGeom prst="rect">
            <a:avLst/>
          </a:prstGeom>
          <a:noFill/>
          <a:ln/>
        </p:spPr>
        <p:txBody>
          <a:bodyPr wrap="square" lIns="0" tIns="0" rIns="0" bIns="0" rtlCol="0" anchor="t"/>
          <a:lstStyle/>
          <a:p>
            <a:pPr indent="0" marL="0">
              <a:buNone/>
            </a:pPr>
            <a:r>
              <a:rPr lang="en-US" sz="1500" dirty="0">
                <a:solidFill>
                  <a:schemeClr val="accent6"/>
                </a:solidFill>
              </a:rPr>
              <a:t>Enforced on in-scope resources</a:t>
            </a:r>
            <a:endParaRPr lang="en-US" sz="1500" dirty="0"/>
          </a:p>
        </p:txBody>
      </p:sp>
      <p:sp>
        <p:nvSpPr>
          <p:cNvPr id="8" name="P card"/>
          <p:cNvSpPr/>
          <p:nvPr/>
        </p:nvSpPr>
        <p:spPr>
          <a:xfrm>
            <a:off x="4338218" y="1600200"/>
            <a:ext cx="3515258" cy="2468880"/>
          </a:xfrm>
          <a:prstGeom prst="roundRect">
            <a:avLst>
              <a:gd name="adj" fmla="val 2963"/>
            </a:avLst>
          </a:prstGeom>
          <a:solidFill>
            <a:schemeClr val="bg2"/>
          </a:solidFill>
          <a:ln w="12700">
            <a:solidFill>
              <a:schemeClr val="bg2"/>
            </a:solidFill>
            <a:prstDash val="solid"/>
          </a:ln>
        </p:spPr>
      </p:sp>
      <p:sp>
        <p:nvSpPr>
          <p:cNvPr id="9" name="P mark"/>
          <p:cNvSpPr txBox="1"/>
          <p:nvPr/>
        </p:nvSpPr>
        <p:spPr>
          <a:xfrm>
            <a:off x="4658258" y="1920240"/>
            <a:ext cx="777240" cy="777240"/>
          </a:xfrm>
          <a:prstGeom prst="roundRect">
            <a:avLst>
              <a:gd name="adj" fmla="val 7059"/>
            </a:avLst>
          </a:prstGeom>
          <a:solidFill>
            <a:schemeClr val="accent2"/>
          </a:solidFill>
          <a:ln/>
        </p:spPr>
        <p:txBody>
          <a:bodyPr wrap="square" lIns="0" tIns="0" rIns="0" bIns="0" rtlCol="0" anchor="ctr"/>
          <a:lstStyle/>
          <a:p>
            <a:pPr algn="ctr" indent="0" marL="0">
              <a:buNone/>
            </a:pPr>
            <a:r>
              <a:rPr lang="en-US" sz="3600" b="1" dirty="0">
                <a:solidFill>
                  <a:schemeClr val="bg1"/>
                </a:solidFill>
              </a:rPr>
              <a:t>P</a:t>
            </a:r>
            <a:endParaRPr lang="en-US" sz="3600" dirty="0"/>
          </a:p>
        </p:txBody>
      </p:sp>
      <p:sp>
        <p:nvSpPr>
          <p:cNvPr id="10" name="P threshold"/>
          <p:cNvSpPr txBox="1"/>
          <p:nvPr/>
        </p:nvSpPr>
        <p:spPr>
          <a:xfrm>
            <a:off x="4658258" y="2834640"/>
            <a:ext cx="2875178" cy="548640"/>
          </a:xfrm>
          <a:prstGeom prst="rect">
            <a:avLst/>
          </a:prstGeom>
          <a:noFill/>
          <a:ln/>
        </p:spPr>
        <p:txBody>
          <a:bodyPr wrap="square" lIns="0" tIns="0" rIns="0" bIns="0" rtlCol="0" anchor="t"/>
          <a:lstStyle/>
          <a:p>
            <a:pPr indent="0" marL="0">
              <a:buNone/>
            </a:pPr>
            <a:r>
              <a:rPr lang="en-US" sz="3000" b="1" dirty="0">
                <a:solidFill>
                  <a:schemeClr val="tx2"/>
                </a:solidFill>
              </a:rPr>
              <a:t>50 to 89%</a:t>
            </a:r>
            <a:endParaRPr lang="en-US" sz="3000" dirty="0"/>
          </a:p>
        </p:txBody>
      </p:sp>
      <p:sp>
        <p:nvSpPr>
          <p:cNvPr id="11" name="P label"/>
          <p:cNvSpPr txBox="1"/>
          <p:nvPr/>
        </p:nvSpPr>
        <p:spPr>
          <a:xfrm>
            <a:off x="4658258" y="3383280"/>
            <a:ext cx="2875178" cy="365760"/>
          </a:xfrm>
          <a:prstGeom prst="rect">
            <a:avLst/>
          </a:prstGeom>
          <a:noFill/>
          <a:ln/>
        </p:spPr>
        <p:txBody>
          <a:bodyPr wrap="square" lIns="0" tIns="0" rIns="0" bIns="0" rtlCol="0" anchor="t"/>
          <a:lstStyle/>
          <a:p>
            <a:pPr indent="0" marL="0">
              <a:buNone/>
            </a:pPr>
            <a:r>
              <a:rPr lang="en-US" sz="1500" dirty="0">
                <a:solidFill>
                  <a:schemeClr val="accent6"/>
                </a:solidFill>
              </a:rPr>
              <a:t>Partial, enforced on some resources</a:t>
            </a:r>
            <a:endParaRPr lang="en-US" sz="1500" dirty="0"/>
          </a:p>
        </p:txBody>
      </p:sp>
      <p:sp>
        <p:nvSpPr>
          <p:cNvPr id="12" name="N card"/>
          <p:cNvSpPr/>
          <p:nvPr/>
        </p:nvSpPr>
        <p:spPr>
          <a:xfrm>
            <a:off x="8127797" y="1600200"/>
            <a:ext cx="3515258" cy="2468880"/>
          </a:xfrm>
          <a:prstGeom prst="roundRect">
            <a:avLst>
              <a:gd name="adj" fmla="val 2963"/>
            </a:avLst>
          </a:prstGeom>
          <a:solidFill>
            <a:schemeClr val="bg2"/>
          </a:solidFill>
          <a:ln w="12700">
            <a:solidFill>
              <a:schemeClr val="bg2"/>
            </a:solidFill>
            <a:prstDash val="solid"/>
          </a:ln>
        </p:spPr>
      </p:sp>
      <p:sp>
        <p:nvSpPr>
          <p:cNvPr id="13" name="N mark"/>
          <p:cNvSpPr txBox="1"/>
          <p:nvPr/>
        </p:nvSpPr>
        <p:spPr>
          <a:xfrm>
            <a:off x="8447837" y="1920240"/>
            <a:ext cx="777240" cy="777240"/>
          </a:xfrm>
          <a:prstGeom prst="roundRect">
            <a:avLst>
              <a:gd name="adj" fmla="val 7059"/>
            </a:avLst>
          </a:prstGeom>
          <a:solidFill>
            <a:schemeClr val="accent4"/>
          </a:solidFill>
          <a:ln/>
        </p:spPr>
        <p:txBody>
          <a:bodyPr wrap="square" lIns="0" tIns="0" rIns="0" bIns="0" rtlCol="0" anchor="ctr"/>
          <a:lstStyle/>
          <a:p>
            <a:pPr algn="ctr" indent="0" marL="0">
              <a:buNone/>
            </a:pPr>
            <a:r>
              <a:rPr lang="en-US" sz="3600" b="1" dirty="0">
                <a:solidFill>
                  <a:schemeClr val="bg1"/>
                </a:solidFill>
              </a:rPr>
              <a:t>N</a:t>
            </a:r>
            <a:endParaRPr lang="en-US" sz="3600" dirty="0"/>
          </a:p>
        </p:txBody>
      </p:sp>
      <p:sp>
        <p:nvSpPr>
          <p:cNvPr id="14" name="N threshold"/>
          <p:cNvSpPr txBox="1"/>
          <p:nvPr/>
        </p:nvSpPr>
        <p:spPr>
          <a:xfrm>
            <a:off x="8447837" y="2834640"/>
            <a:ext cx="2875178" cy="548640"/>
          </a:xfrm>
          <a:prstGeom prst="rect">
            <a:avLst/>
          </a:prstGeom>
          <a:noFill/>
          <a:ln/>
        </p:spPr>
        <p:txBody>
          <a:bodyPr wrap="square" lIns="0" tIns="0" rIns="0" bIns="0" rtlCol="0" anchor="t"/>
          <a:lstStyle/>
          <a:p>
            <a:pPr indent="0" marL="0">
              <a:buNone/>
            </a:pPr>
            <a:r>
              <a:rPr lang="en-US" sz="3000" b="1" dirty="0">
                <a:solidFill>
                  <a:schemeClr val="tx2"/>
                </a:solidFill>
              </a:rPr>
              <a:t>Under 50%</a:t>
            </a:r>
            <a:endParaRPr lang="en-US" sz="3000" dirty="0"/>
          </a:p>
        </p:txBody>
      </p:sp>
      <p:sp>
        <p:nvSpPr>
          <p:cNvPr id="15" name="N label"/>
          <p:cNvSpPr txBox="1"/>
          <p:nvPr/>
        </p:nvSpPr>
        <p:spPr>
          <a:xfrm>
            <a:off x="8447837" y="3383280"/>
            <a:ext cx="2875178" cy="365760"/>
          </a:xfrm>
          <a:prstGeom prst="rect">
            <a:avLst/>
          </a:prstGeom>
          <a:noFill/>
          <a:ln/>
        </p:spPr>
        <p:txBody>
          <a:bodyPr wrap="square" lIns="0" tIns="0" rIns="0" bIns="0" rtlCol="0" anchor="t"/>
          <a:lstStyle/>
          <a:p>
            <a:pPr indent="0" marL="0">
              <a:buNone/>
            </a:pPr>
            <a:r>
              <a:rPr lang="en-US" sz="1500" dirty="0">
                <a:solidFill>
                  <a:schemeClr val="accent6"/>
                </a:solidFill>
              </a:rPr>
              <a:t>Not yet enforced</a:t>
            </a:r>
            <a:endParaRPr lang="en-US" sz="1500" dirty="0"/>
          </a:p>
        </p:txBody>
      </p:sp>
      <p:sp>
        <p:nvSpPr>
          <p:cNvPr id="16" name="In force note card"/>
          <p:cNvSpPr/>
          <p:nvPr/>
        </p:nvSpPr>
        <p:spPr>
          <a:xfrm>
            <a:off x="548640" y="4343400"/>
            <a:ext cx="5410048" cy="1783080"/>
          </a:xfrm>
          <a:prstGeom prst="roundRect">
            <a:avLst>
              <a:gd name="adj" fmla="val 4103"/>
            </a:avLst>
          </a:prstGeom>
          <a:solidFill>
            <a:schemeClr val="bg2"/>
          </a:solidFill>
          <a:ln w="12700">
            <a:solidFill>
              <a:schemeClr val="bg2"/>
            </a:solidFill>
            <a:prstDash val="solid"/>
          </a:ln>
        </p:spPr>
      </p:sp>
      <p:sp>
        <p:nvSpPr>
          <p:cNvPr id="17" name="In force note"/>
          <p:cNvSpPr txBox="1"/>
          <p:nvPr/>
        </p:nvSpPr>
        <p:spPr>
          <a:xfrm>
            <a:off x="868680" y="4617720"/>
            <a:ext cx="4769968" cy="1280160"/>
          </a:xfrm>
          <a:prstGeom prst="rect">
            <a:avLst/>
          </a:prstGeom>
          <a:noFill/>
          <a:ln/>
        </p:spPr>
        <p:txBody>
          <a:bodyPr wrap="square" lIns="0" tIns="0" rIns="0" bIns="0" rtlCol="0" anchor="t"/>
          <a:lstStyle/>
          <a:p>
            <a:pPr indent="0" marL="0">
              <a:buNone/>
            </a:pPr>
            <a:r>
              <a:rPr lang="en-US" sz="2000" b="1" dirty="0">
                <a:solidFill>
                  <a:schemeClr val="tx2"/>
                </a:solidFill>
              </a:rPr>
              <a:t>In force or Not in force</a:t>
            </a:r>
            <a:endParaRPr lang="en-US" sz="2000" dirty="0"/>
          </a:p>
          <a:p>
            <a:pPr indent="0" marL="0">
              <a:spcBef>
                <a:spcPts val="800"/>
              </a:spcBef>
              <a:buNone/>
            </a:pPr>
            <a:r>
              <a:rPr lang="en-US" sz="1500" dirty="0">
                <a:solidFill>
                  <a:schemeClr val="tx1"/>
                </a:solidFill>
              </a:rPr>
              <a:t>A control read from a policy or tenant setting rather than a count, such as a Conditional Access policy, reads In force or Not in force.</a:t>
            </a:r>
            <a:endParaRPr lang="en-US" sz="2000" dirty="0"/>
          </a:p>
        </p:txBody>
      </p:sp>
      <p:sp>
        <p:nvSpPr>
          <p:cNvPr id="18" name="N/A note card"/>
          <p:cNvSpPr/>
          <p:nvPr/>
        </p:nvSpPr>
        <p:spPr>
          <a:xfrm>
            <a:off x="6233008" y="4343400"/>
            <a:ext cx="5410048" cy="1783080"/>
          </a:xfrm>
          <a:prstGeom prst="roundRect">
            <a:avLst>
              <a:gd name="adj" fmla="val 4103"/>
            </a:avLst>
          </a:prstGeom>
          <a:solidFill>
            <a:schemeClr val="bg2"/>
          </a:solidFill>
          <a:ln w="12700">
            <a:solidFill>
              <a:schemeClr val="bg2"/>
            </a:solidFill>
            <a:prstDash val="solid"/>
          </a:ln>
        </p:spPr>
      </p:sp>
      <p:sp>
        <p:nvSpPr>
          <p:cNvPr id="19" name="N/A note"/>
          <p:cNvSpPr txBox="1"/>
          <p:nvPr/>
        </p:nvSpPr>
        <p:spPr>
          <a:xfrm>
            <a:off x="6553048" y="4617720"/>
            <a:ext cx="4769968" cy="1280160"/>
          </a:xfrm>
          <a:prstGeom prst="rect">
            <a:avLst/>
          </a:prstGeom>
          <a:noFill/>
          <a:ln/>
        </p:spPr>
        <p:txBody>
          <a:bodyPr wrap="square" lIns="0" tIns="0" rIns="0" bIns="0" rtlCol="0" anchor="t"/>
          <a:lstStyle/>
          <a:p>
            <a:pPr indent="0" marL="0">
              <a:buNone/>
            </a:pPr>
            <a:r>
              <a:rPr lang="en-US" sz="2000" b="1" dirty="0">
                <a:solidFill>
                  <a:schemeClr val="tx2"/>
                </a:solidFill>
              </a:rPr>
              <a:t>N/A</a:t>
            </a:r>
            <a:endParaRPr lang="en-US" sz="2000" dirty="0"/>
          </a:p>
          <a:p>
            <a:pPr indent="0" marL="0">
              <a:spcBef>
                <a:spcPts val="800"/>
              </a:spcBef>
              <a:buNone/>
            </a:pPr>
            <a:r>
              <a:rPr lang="en-US" sz="1500" dirty="0">
                <a:solidFill>
                  <a:schemeClr val="tx1"/>
                </a:solidFill>
              </a:rPr>
              <a:t>A control with no activity or configuration to judge it by reads N/A and is left out of every count.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Controls by pillar</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54 controls across five pillars</a:t>
            </a:r>
            <a:endParaRPr lang="en-US" sz="1600" dirty="0"/>
          </a:p>
        </p:txBody>
      </p:sp>
      <p:graphicFrame>
        <p:nvGraphicFramePr>
          <p:cNvPr id="4" name="Controls by pillar chart" descr=""/>
          <p:cNvGraphicFramePr/>
          <p:nvPr/>
        </p:nvGraphicFramePr>
        <p:xfrm>
          <a:off x="548640" y="1554480"/>
          <a:ext cx="7680960" cy="4937760"/>
        </p:xfrm>
        <a:graphic xmlns:a="http://schemas.openxmlformats.org/drawingml/2006/main">
          <a:graphicData uri="http://schemas.openxmlformats.org/drawingml/2006/chart">
            <c:chart xmlns:c="http://schemas.openxmlformats.org/drawingml/2006/chart" r:id="rId1"/>
          </a:graphicData>
        </a:graphic>
      </p:graphicFrame>
      <p:sp>
        <p:nvSpPr>
          <p:cNvPr id="5" name="controls in the standard card"/>
          <p:cNvSpPr/>
          <p:nvPr/>
        </p:nvSpPr>
        <p:spPr>
          <a:xfrm>
            <a:off x="8595360" y="1691640"/>
            <a:ext cx="3047695" cy="1371600"/>
          </a:xfrm>
          <a:prstGeom prst="roundRect">
            <a:avLst>
              <a:gd name="adj" fmla="val 5333"/>
            </a:avLst>
          </a:prstGeom>
          <a:solidFill>
            <a:schemeClr val="bg2"/>
          </a:solidFill>
          <a:ln w="12700">
            <a:solidFill>
              <a:schemeClr val="bg2"/>
            </a:solidFill>
            <a:prstDash val="solid"/>
          </a:ln>
        </p:spPr>
      </p:sp>
      <p:sp>
        <p:nvSpPr>
          <p:cNvPr id="6" name="controls in the standard stat"/>
          <p:cNvSpPr txBox="1"/>
          <p:nvPr/>
        </p:nvSpPr>
        <p:spPr>
          <a:xfrm>
            <a:off x="8915400" y="1828800"/>
            <a:ext cx="2407615" cy="1143000"/>
          </a:xfrm>
          <a:prstGeom prst="rect">
            <a:avLst/>
          </a:prstGeom>
          <a:noFill/>
          <a:ln/>
        </p:spPr>
        <p:txBody>
          <a:bodyPr wrap="square" lIns="0" tIns="0" rIns="0" bIns="0" rtlCol="0" anchor="t"/>
          <a:lstStyle/>
          <a:p>
            <a:pPr indent="0" marL="0">
              <a:buNone/>
            </a:pPr>
            <a:r>
              <a:rPr lang="en-US" sz="4800" b="1" dirty="0">
                <a:solidFill>
                  <a:schemeClr val="tx2"/>
                </a:solidFill>
              </a:rPr>
              <a:t>54</a:t>
            </a:r>
            <a:endParaRPr lang="en-US" sz="4800" dirty="0"/>
          </a:p>
          <a:p>
            <a:pPr indent="0" marL="0">
              <a:buNone/>
            </a:pPr>
            <a:r>
              <a:rPr lang="en-US" sz="1500" dirty="0">
                <a:solidFill>
                  <a:schemeClr val="accent6"/>
                </a:solidFill>
              </a:rPr>
              <a:t>controls in the standard</a:t>
            </a:r>
            <a:endParaRPr lang="en-US" sz="4800" dirty="0"/>
          </a:p>
        </p:txBody>
      </p:sp>
      <p:sp>
        <p:nvSpPr>
          <p:cNvPr id="7" name="foundational card"/>
          <p:cNvSpPr/>
          <p:nvPr/>
        </p:nvSpPr>
        <p:spPr>
          <a:xfrm>
            <a:off x="8595360" y="3291840"/>
            <a:ext cx="3047695" cy="1371600"/>
          </a:xfrm>
          <a:prstGeom prst="roundRect">
            <a:avLst>
              <a:gd name="adj" fmla="val 5333"/>
            </a:avLst>
          </a:prstGeom>
          <a:solidFill>
            <a:schemeClr val="bg2"/>
          </a:solidFill>
          <a:ln w="12700">
            <a:solidFill>
              <a:schemeClr val="bg2"/>
            </a:solidFill>
            <a:prstDash val="solid"/>
          </a:ln>
        </p:spPr>
      </p:sp>
      <p:sp>
        <p:nvSpPr>
          <p:cNvPr id="8" name="foundational stat"/>
          <p:cNvSpPr txBox="1"/>
          <p:nvPr/>
        </p:nvSpPr>
        <p:spPr>
          <a:xfrm>
            <a:off x="8915400" y="3429000"/>
            <a:ext cx="2407615" cy="1143000"/>
          </a:xfrm>
          <a:prstGeom prst="rect">
            <a:avLst/>
          </a:prstGeom>
          <a:noFill/>
          <a:ln/>
        </p:spPr>
        <p:txBody>
          <a:bodyPr wrap="square" lIns="0" tIns="0" rIns="0" bIns="0" rtlCol="0" anchor="t"/>
          <a:lstStyle/>
          <a:p>
            <a:pPr indent="0" marL="0">
              <a:buNone/>
            </a:pPr>
            <a:r>
              <a:rPr lang="en-US" sz="4800" b="1" dirty="0">
                <a:solidFill>
                  <a:schemeClr val="accent2"/>
                </a:solidFill>
              </a:rPr>
              <a:t>32</a:t>
            </a:r>
            <a:endParaRPr lang="en-US" sz="4800" dirty="0"/>
          </a:p>
          <a:p>
            <a:pPr indent="0" marL="0">
              <a:buNone/>
            </a:pPr>
            <a:r>
              <a:rPr lang="en-US" sz="1500" dirty="0">
                <a:solidFill>
                  <a:schemeClr val="accent6"/>
                </a:solidFill>
              </a:rPr>
              <a:t>foundational</a:t>
            </a:r>
            <a:endParaRPr lang="en-US" sz="4800" dirty="0"/>
          </a:p>
        </p:txBody>
      </p:sp>
      <p:sp>
        <p:nvSpPr>
          <p:cNvPr id="9" name="defense in depth card"/>
          <p:cNvSpPr/>
          <p:nvPr/>
        </p:nvSpPr>
        <p:spPr>
          <a:xfrm>
            <a:off x="8595360" y="4892040"/>
            <a:ext cx="3047695" cy="1371600"/>
          </a:xfrm>
          <a:prstGeom prst="roundRect">
            <a:avLst>
              <a:gd name="adj" fmla="val 5333"/>
            </a:avLst>
          </a:prstGeom>
          <a:solidFill>
            <a:schemeClr val="bg2"/>
          </a:solidFill>
          <a:ln w="12700">
            <a:solidFill>
              <a:schemeClr val="bg2"/>
            </a:solidFill>
            <a:prstDash val="solid"/>
          </a:ln>
        </p:spPr>
      </p:sp>
      <p:sp>
        <p:nvSpPr>
          <p:cNvPr id="10" name="defense in depth stat"/>
          <p:cNvSpPr txBox="1"/>
          <p:nvPr/>
        </p:nvSpPr>
        <p:spPr>
          <a:xfrm>
            <a:off x="8915400" y="5029200"/>
            <a:ext cx="2407615" cy="1143000"/>
          </a:xfrm>
          <a:prstGeom prst="rect">
            <a:avLst/>
          </a:prstGeom>
          <a:noFill/>
          <a:ln/>
        </p:spPr>
        <p:txBody>
          <a:bodyPr wrap="square" lIns="0" tIns="0" rIns="0" bIns="0" rtlCol="0" anchor="t"/>
          <a:lstStyle/>
          <a:p>
            <a:pPr indent="0" marL="0">
              <a:buNone/>
            </a:pPr>
            <a:r>
              <a:rPr lang="en-US" sz="4800" b="1" dirty="0">
                <a:solidFill>
                  <a:schemeClr val="tx2"/>
                </a:solidFill>
              </a:rPr>
              <a:t>22</a:t>
            </a:r>
            <a:endParaRPr lang="en-US" sz="4800" dirty="0"/>
          </a:p>
          <a:p>
            <a:pPr indent="0" marL="0">
              <a:buNone/>
            </a:pPr>
            <a:r>
              <a:rPr lang="en-US" sz="1500" dirty="0">
                <a:solidFill>
                  <a:schemeClr val="accent6"/>
                </a:solidFill>
              </a:rPr>
              <a:t>defense in depth</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Identity and access</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Foundational · 6 controls · Configured at build and held at E at every review</a:t>
            </a:r>
            <a:endParaRPr lang="en-US" sz="1600" dirty="0"/>
          </a:p>
        </p:txBody>
      </p:sp>
      <p:sp>
        <p:nvSpPr>
          <p:cNvPr id="4" name="F1 card"/>
          <p:cNvSpPr/>
          <p:nvPr/>
        </p:nvSpPr>
        <p:spPr>
          <a:xfrm>
            <a:off x="548640" y="1600200"/>
            <a:ext cx="3515258" cy="2267712"/>
          </a:xfrm>
          <a:prstGeom prst="roundRect">
            <a:avLst>
              <a:gd name="adj" fmla="val 3226"/>
            </a:avLst>
          </a:prstGeom>
          <a:solidFill>
            <a:schemeClr val="bg2"/>
          </a:solidFill>
          <a:ln w="12700">
            <a:solidFill>
              <a:schemeClr val="bg2"/>
            </a:solidFill>
            <a:prstDash val="solid"/>
          </a:ln>
        </p:spPr>
      </p:sp>
      <p:sp>
        <p:nvSpPr>
          <p:cNvPr id="5" name="F1 tag"/>
          <p:cNvSpPr txBox="1"/>
          <p:nvPr/>
        </p:nvSpPr>
        <p:spPr>
          <a:xfrm>
            <a:off x="731520"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F1</a:t>
            </a:r>
            <a:endParaRPr lang="en-US" sz="1300" dirty="0"/>
          </a:p>
        </p:txBody>
      </p:sp>
      <p:sp>
        <p:nvSpPr>
          <p:cNvPr id="6" name="F1 Multifactor authentication required at sign-in"/>
          <p:cNvSpPr txBox="1"/>
          <p:nvPr/>
        </p:nvSpPr>
        <p:spPr>
          <a:xfrm>
            <a:off x="1371600" y="1783080"/>
            <a:ext cx="2527706" cy="1975104"/>
          </a:xfrm>
          <a:prstGeom prst="rect">
            <a:avLst/>
          </a:prstGeom>
          <a:noFill/>
          <a:ln/>
        </p:spPr>
        <p:txBody>
          <a:bodyPr wrap="square" lIns="0" tIns="0" rIns="0" bIns="0" rtlCol="0" anchor="t"/>
          <a:lstStyle/>
          <a:p>
            <a:pPr indent="0" marL="0">
              <a:buNone/>
            </a:pPr>
            <a:r>
              <a:rPr lang="en-US" sz="1400" b="1" dirty="0">
                <a:solidFill>
                  <a:schemeClr val="tx2"/>
                </a:solidFill>
              </a:rPr>
              <a:t>Multifactor authentication required at sign-in</a:t>
            </a:r>
            <a:endParaRPr lang="en-US" sz="1400" dirty="0"/>
          </a:p>
          <a:p>
            <a:pPr indent="0" marL="0">
              <a:spcBef>
                <a:spcPts val="500"/>
              </a:spcBef>
              <a:buNone/>
            </a:pPr>
            <a:r>
              <a:rPr lang="en-US" sz="1200" dirty="0">
                <a:solidFill>
                  <a:schemeClr val="accent6"/>
                </a:solidFill>
              </a:rPr>
              <a:t>Members with at least one successful sign-in in the last 30 days that satisfied multifactor authentication.</a:t>
            </a:r>
            <a:endParaRPr lang="en-US" sz="1400" dirty="0"/>
          </a:p>
        </p:txBody>
      </p:sp>
      <p:sp>
        <p:nvSpPr>
          <p:cNvPr id="7" name="F2 card"/>
          <p:cNvSpPr/>
          <p:nvPr/>
        </p:nvSpPr>
        <p:spPr>
          <a:xfrm>
            <a:off x="4338218" y="1600200"/>
            <a:ext cx="3515258" cy="2267712"/>
          </a:xfrm>
          <a:prstGeom prst="roundRect">
            <a:avLst>
              <a:gd name="adj" fmla="val 3226"/>
            </a:avLst>
          </a:prstGeom>
          <a:solidFill>
            <a:schemeClr val="bg2"/>
          </a:solidFill>
          <a:ln w="12700">
            <a:solidFill>
              <a:schemeClr val="bg2"/>
            </a:solidFill>
            <a:prstDash val="solid"/>
          </a:ln>
        </p:spPr>
      </p:sp>
      <p:sp>
        <p:nvSpPr>
          <p:cNvPr id="8" name="F2 tag"/>
          <p:cNvSpPr txBox="1"/>
          <p:nvPr/>
        </p:nvSpPr>
        <p:spPr>
          <a:xfrm>
            <a:off x="4521098"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F2</a:t>
            </a:r>
            <a:endParaRPr lang="en-US" sz="1300" dirty="0"/>
          </a:p>
        </p:txBody>
      </p:sp>
      <p:sp>
        <p:nvSpPr>
          <p:cNvPr id="9" name="F2 Location-based sign-in access controls enforced through Conditional Access"/>
          <p:cNvSpPr txBox="1"/>
          <p:nvPr/>
        </p:nvSpPr>
        <p:spPr>
          <a:xfrm>
            <a:off x="5161178" y="1783080"/>
            <a:ext cx="2527706" cy="1975104"/>
          </a:xfrm>
          <a:prstGeom prst="rect">
            <a:avLst/>
          </a:prstGeom>
          <a:noFill/>
          <a:ln/>
        </p:spPr>
        <p:txBody>
          <a:bodyPr wrap="square" lIns="0" tIns="0" rIns="0" bIns="0" rtlCol="0" anchor="t"/>
          <a:lstStyle/>
          <a:p>
            <a:pPr indent="0" marL="0">
              <a:buNone/>
            </a:pPr>
            <a:r>
              <a:rPr lang="en-US" sz="1400" b="1" dirty="0">
                <a:solidFill>
                  <a:schemeClr val="tx2"/>
                </a:solidFill>
              </a:rPr>
              <a:t>Location-based sign-in access controls enforced through Conditional Access</a:t>
            </a:r>
            <a:endParaRPr lang="en-US" sz="1400" dirty="0"/>
          </a:p>
          <a:p>
            <a:pPr indent="0" marL="0">
              <a:spcBef>
                <a:spcPts val="500"/>
              </a:spcBef>
              <a:buNone/>
            </a:pPr>
            <a:r>
              <a:rPr lang="en-US" sz="1200" dirty="0">
                <a:solidFill>
                  <a:schemeClr val="accent6"/>
                </a:solidFill>
              </a:rPr>
              <a:t>An enabled Conditional Access policy blocks sign-ins or requires multifactor authentication by country or named network, for all users and all resources.</a:t>
            </a:r>
            <a:endParaRPr lang="en-US" sz="1400" dirty="0"/>
          </a:p>
        </p:txBody>
      </p:sp>
      <p:sp>
        <p:nvSpPr>
          <p:cNvPr id="10" name="F3 card"/>
          <p:cNvSpPr/>
          <p:nvPr/>
        </p:nvSpPr>
        <p:spPr>
          <a:xfrm>
            <a:off x="8127797" y="1600200"/>
            <a:ext cx="3515258" cy="2267712"/>
          </a:xfrm>
          <a:prstGeom prst="roundRect">
            <a:avLst>
              <a:gd name="adj" fmla="val 3226"/>
            </a:avLst>
          </a:prstGeom>
          <a:solidFill>
            <a:schemeClr val="bg2"/>
          </a:solidFill>
          <a:ln w="12700">
            <a:solidFill>
              <a:schemeClr val="bg2"/>
            </a:solidFill>
            <a:prstDash val="solid"/>
          </a:ln>
        </p:spPr>
      </p:sp>
      <p:sp>
        <p:nvSpPr>
          <p:cNvPr id="11" name="F3 tag"/>
          <p:cNvSpPr txBox="1"/>
          <p:nvPr/>
        </p:nvSpPr>
        <p:spPr>
          <a:xfrm>
            <a:off x="8310677"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F3</a:t>
            </a:r>
            <a:endParaRPr lang="en-US" sz="1300" dirty="0"/>
          </a:p>
        </p:txBody>
      </p:sp>
      <p:sp>
        <p:nvSpPr>
          <p:cNvPr id="12" name="F3 Legacy authentication blocked"/>
          <p:cNvSpPr txBox="1"/>
          <p:nvPr/>
        </p:nvSpPr>
        <p:spPr>
          <a:xfrm>
            <a:off x="8950757" y="1783080"/>
            <a:ext cx="2527706" cy="1975104"/>
          </a:xfrm>
          <a:prstGeom prst="rect">
            <a:avLst/>
          </a:prstGeom>
          <a:noFill/>
          <a:ln/>
        </p:spPr>
        <p:txBody>
          <a:bodyPr wrap="square" lIns="0" tIns="0" rIns="0" bIns="0" rtlCol="0" anchor="t"/>
          <a:lstStyle/>
          <a:p>
            <a:pPr indent="0" marL="0">
              <a:buNone/>
            </a:pPr>
            <a:r>
              <a:rPr lang="en-US" sz="1400" b="1" dirty="0">
                <a:solidFill>
                  <a:schemeClr val="tx2"/>
                </a:solidFill>
              </a:rPr>
              <a:t>Legacy authentication blocked</a:t>
            </a:r>
            <a:endParaRPr lang="en-US" sz="1400" dirty="0"/>
          </a:p>
          <a:p>
            <a:pPr indent="0" marL="0">
              <a:spcBef>
                <a:spcPts val="500"/>
              </a:spcBef>
              <a:buNone/>
            </a:pPr>
            <a:r>
              <a:rPr lang="en-US" sz="1200" dirty="0">
                <a:solidFill>
                  <a:schemeClr val="accent6"/>
                </a:solidFill>
              </a:rPr>
              <a:t>An enabled Conditional Access policy or security defaults block legacy authentication for all users, with approved exceptions only.</a:t>
            </a:r>
            <a:endParaRPr lang="en-US" sz="1400" dirty="0"/>
          </a:p>
        </p:txBody>
      </p:sp>
      <p:sp>
        <p:nvSpPr>
          <p:cNvPr id="13" name="F4 card"/>
          <p:cNvSpPr/>
          <p:nvPr/>
        </p:nvSpPr>
        <p:spPr>
          <a:xfrm>
            <a:off x="548640" y="4142232"/>
            <a:ext cx="3515258" cy="2267712"/>
          </a:xfrm>
          <a:prstGeom prst="roundRect">
            <a:avLst>
              <a:gd name="adj" fmla="val 3226"/>
            </a:avLst>
          </a:prstGeom>
          <a:solidFill>
            <a:schemeClr val="bg2"/>
          </a:solidFill>
          <a:ln w="12700">
            <a:solidFill>
              <a:schemeClr val="bg2"/>
            </a:solidFill>
            <a:prstDash val="solid"/>
          </a:ln>
        </p:spPr>
      </p:sp>
      <p:sp>
        <p:nvSpPr>
          <p:cNvPr id="14" name="F4 tag"/>
          <p:cNvSpPr txBox="1"/>
          <p:nvPr/>
        </p:nvSpPr>
        <p:spPr>
          <a:xfrm>
            <a:off x="731520" y="4343400"/>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F4</a:t>
            </a:r>
            <a:endParaRPr lang="en-US" sz="1300" dirty="0"/>
          </a:p>
        </p:txBody>
      </p:sp>
      <p:sp>
        <p:nvSpPr>
          <p:cNvPr id="15" name="F4 Anti-phishing policy applied to every mailbox"/>
          <p:cNvSpPr txBox="1"/>
          <p:nvPr/>
        </p:nvSpPr>
        <p:spPr>
          <a:xfrm>
            <a:off x="1371600" y="4325112"/>
            <a:ext cx="2527706" cy="1975104"/>
          </a:xfrm>
          <a:prstGeom prst="rect">
            <a:avLst/>
          </a:prstGeom>
          <a:noFill/>
          <a:ln/>
        </p:spPr>
        <p:txBody>
          <a:bodyPr wrap="square" lIns="0" tIns="0" rIns="0" bIns="0" rtlCol="0" anchor="t"/>
          <a:lstStyle/>
          <a:p>
            <a:pPr indent="0" marL="0">
              <a:buNone/>
            </a:pPr>
            <a:r>
              <a:rPr lang="en-US" sz="1400" b="1" dirty="0">
                <a:solidFill>
                  <a:schemeClr val="tx2"/>
                </a:solidFill>
              </a:rPr>
              <a:t>Anti-phishing policy applied to every mailbox</a:t>
            </a:r>
            <a:endParaRPr lang="en-US" sz="1400" dirty="0"/>
          </a:p>
          <a:p>
            <a:pPr indent="0" marL="0">
              <a:spcBef>
                <a:spcPts val="500"/>
              </a:spcBef>
              <a:buNone/>
            </a:pPr>
            <a:r>
              <a:rPr lang="en-US" sz="1200" dirty="0">
                <a:solidFill>
                  <a:schemeClr val="accent6"/>
                </a:solidFill>
              </a:rPr>
              <a:t>The Microsoft default anti-phishing policy is enabled, so every mailbox carries baseline spoof protection.</a:t>
            </a:r>
            <a:endParaRPr lang="en-US" sz="1400" dirty="0"/>
          </a:p>
        </p:txBody>
      </p:sp>
      <p:sp>
        <p:nvSpPr>
          <p:cNvPr id="16" name="F5 card"/>
          <p:cNvSpPr/>
          <p:nvPr/>
        </p:nvSpPr>
        <p:spPr>
          <a:xfrm>
            <a:off x="4338218" y="4142232"/>
            <a:ext cx="3515258" cy="2267712"/>
          </a:xfrm>
          <a:prstGeom prst="roundRect">
            <a:avLst>
              <a:gd name="adj" fmla="val 3226"/>
            </a:avLst>
          </a:prstGeom>
          <a:solidFill>
            <a:schemeClr val="bg2"/>
          </a:solidFill>
          <a:ln w="12700">
            <a:solidFill>
              <a:schemeClr val="bg2"/>
            </a:solidFill>
            <a:prstDash val="solid"/>
          </a:ln>
        </p:spPr>
      </p:sp>
      <p:sp>
        <p:nvSpPr>
          <p:cNvPr id="17" name="F5 tag"/>
          <p:cNvSpPr txBox="1"/>
          <p:nvPr/>
        </p:nvSpPr>
        <p:spPr>
          <a:xfrm>
            <a:off x="4521098" y="4343400"/>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F5</a:t>
            </a:r>
            <a:endParaRPr lang="en-US" sz="1300" dirty="0"/>
          </a:p>
        </p:txBody>
      </p:sp>
      <p:sp>
        <p:nvSpPr>
          <p:cNvPr id="18" name="F5 Multifactor authentication at admin portal sign-in"/>
          <p:cNvSpPr txBox="1"/>
          <p:nvPr/>
        </p:nvSpPr>
        <p:spPr>
          <a:xfrm>
            <a:off x="5161178" y="4325112"/>
            <a:ext cx="2527706" cy="1975104"/>
          </a:xfrm>
          <a:prstGeom prst="rect">
            <a:avLst/>
          </a:prstGeom>
          <a:noFill/>
          <a:ln/>
        </p:spPr>
        <p:txBody>
          <a:bodyPr wrap="square" lIns="0" tIns="0" rIns="0" bIns="0" rtlCol="0" anchor="t"/>
          <a:lstStyle/>
          <a:p>
            <a:pPr indent="0" marL="0">
              <a:buNone/>
            </a:pPr>
            <a:r>
              <a:rPr lang="en-US" sz="1400" b="1" dirty="0">
                <a:solidFill>
                  <a:schemeClr val="tx2"/>
                </a:solidFill>
              </a:rPr>
              <a:t>Multifactor authentication at admin portal sign-in</a:t>
            </a:r>
            <a:endParaRPr lang="en-US" sz="1400" dirty="0"/>
          </a:p>
          <a:p>
            <a:pPr indent="0" marL="0">
              <a:spcBef>
                <a:spcPts val="500"/>
              </a:spcBef>
              <a:buNone/>
            </a:pPr>
            <a:r>
              <a:rPr lang="en-US" sz="1200" dirty="0">
                <a:solidFill>
                  <a:schemeClr val="accent6"/>
                </a:solidFill>
              </a:rPr>
              <a:t>Members who signed in to a Microsoft admin portal in the last 30 days and satisfied multifactor authentication.</a:t>
            </a:r>
            <a:endParaRPr lang="en-US" sz="1400" dirty="0"/>
          </a:p>
        </p:txBody>
      </p:sp>
      <p:sp>
        <p:nvSpPr>
          <p:cNvPr id="19" name="F6 card"/>
          <p:cNvSpPr/>
          <p:nvPr/>
        </p:nvSpPr>
        <p:spPr>
          <a:xfrm>
            <a:off x="8127797" y="4142232"/>
            <a:ext cx="3515258" cy="2267712"/>
          </a:xfrm>
          <a:prstGeom prst="roundRect">
            <a:avLst>
              <a:gd name="adj" fmla="val 3226"/>
            </a:avLst>
          </a:prstGeom>
          <a:solidFill>
            <a:schemeClr val="bg2"/>
          </a:solidFill>
          <a:ln w="12700">
            <a:solidFill>
              <a:schemeClr val="bg2"/>
            </a:solidFill>
            <a:prstDash val="solid"/>
          </a:ln>
        </p:spPr>
      </p:sp>
      <p:sp>
        <p:nvSpPr>
          <p:cNvPr id="20" name="F6 tag"/>
          <p:cNvSpPr txBox="1"/>
          <p:nvPr/>
        </p:nvSpPr>
        <p:spPr>
          <a:xfrm>
            <a:off x="8310677" y="4343400"/>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F6</a:t>
            </a:r>
            <a:endParaRPr lang="en-US" sz="1300" dirty="0"/>
          </a:p>
        </p:txBody>
      </p:sp>
      <p:sp>
        <p:nvSpPr>
          <p:cNvPr id="21" name="F6 Device code flow sign-ins blocked"/>
          <p:cNvSpPr txBox="1"/>
          <p:nvPr/>
        </p:nvSpPr>
        <p:spPr>
          <a:xfrm>
            <a:off x="8950757" y="4325112"/>
            <a:ext cx="2527706" cy="1975104"/>
          </a:xfrm>
          <a:prstGeom prst="rect">
            <a:avLst/>
          </a:prstGeom>
          <a:noFill/>
          <a:ln/>
        </p:spPr>
        <p:txBody>
          <a:bodyPr wrap="square" lIns="0" tIns="0" rIns="0" bIns="0" rtlCol="0" anchor="t"/>
          <a:lstStyle/>
          <a:p>
            <a:pPr indent="0" marL="0">
              <a:buNone/>
            </a:pPr>
            <a:r>
              <a:rPr lang="en-US" sz="1400" b="1" dirty="0">
                <a:solidFill>
                  <a:schemeClr val="tx2"/>
                </a:solidFill>
              </a:rPr>
              <a:t>Device code flow sign-ins blocked</a:t>
            </a:r>
            <a:endParaRPr lang="en-US" sz="1400" dirty="0"/>
          </a:p>
          <a:p>
            <a:pPr indent="0" marL="0">
              <a:spcBef>
                <a:spcPts val="500"/>
              </a:spcBef>
              <a:buNone/>
            </a:pPr>
            <a:r>
              <a:rPr lang="en-US" sz="1200" dirty="0">
                <a:solidFill>
                  <a:schemeClr val="accent6"/>
                </a:solidFill>
              </a:rPr>
              <a:t>Device code flow sign-ins blocked by Conditional Access.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Identity and access</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Defense in depth · 4 controls · Layered on afterward and sequenced with each client on the roadmap</a:t>
            </a:r>
            <a:endParaRPr lang="en-US" sz="1600" dirty="0"/>
          </a:p>
        </p:txBody>
      </p:sp>
      <p:sp>
        <p:nvSpPr>
          <p:cNvPr id="4" name="D1 card"/>
          <p:cNvSpPr/>
          <p:nvPr/>
        </p:nvSpPr>
        <p:spPr>
          <a:xfrm>
            <a:off x="548640" y="1600200"/>
            <a:ext cx="3515258" cy="2084832"/>
          </a:xfrm>
          <a:prstGeom prst="roundRect">
            <a:avLst>
              <a:gd name="adj" fmla="val 3509"/>
            </a:avLst>
          </a:prstGeom>
          <a:solidFill>
            <a:schemeClr val="bg2"/>
          </a:solidFill>
          <a:ln w="12700">
            <a:solidFill>
              <a:schemeClr val="bg2"/>
            </a:solidFill>
            <a:prstDash val="solid"/>
          </a:ln>
        </p:spPr>
      </p:sp>
      <p:sp>
        <p:nvSpPr>
          <p:cNvPr id="5" name="D1 tag"/>
          <p:cNvSpPr txBox="1"/>
          <p:nvPr/>
        </p:nvSpPr>
        <p:spPr>
          <a:xfrm>
            <a:off x="731520"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D1</a:t>
            </a:r>
            <a:endParaRPr lang="en-US" sz="1300" dirty="0"/>
          </a:p>
        </p:txBody>
      </p:sp>
      <p:sp>
        <p:nvSpPr>
          <p:cNvPr id="6" name="D1 Advanced anti-phishing policy applied"/>
          <p:cNvSpPr txBox="1"/>
          <p:nvPr/>
        </p:nvSpPr>
        <p:spPr>
          <a:xfrm>
            <a:off x="1371600" y="1783080"/>
            <a:ext cx="2527706" cy="1792224"/>
          </a:xfrm>
          <a:prstGeom prst="rect">
            <a:avLst/>
          </a:prstGeom>
          <a:noFill/>
          <a:ln/>
        </p:spPr>
        <p:txBody>
          <a:bodyPr wrap="square" lIns="0" tIns="0" rIns="0" bIns="0" rtlCol="0" anchor="t"/>
          <a:lstStyle/>
          <a:p>
            <a:pPr indent="0" marL="0">
              <a:buNone/>
            </a:pPr>
            <a:r>
              <a:rPr lang="en-US" sz="1400" b="1" dirty="0">
                <a:solidFill>
                  <a:schemeClr val="tx2"/>
                </a:solidFill>
              </a:rPr>
              <a:t>Advanced anti-phishing policy applied</a:t>
            </a:r>
            <a:endParaRPr lang="en-US" sz="1400" dirty="0"/>
          </a:p>
          <a:p>
            <a:pPr indent="0" marL="0">
              <a:spcBef>
                <a:spcPts val="500"/>
              </a:spcBef>
              <a:buNone/>
            </a:pPr>
            <a:r>
              <a:rPr lang="en-US" sz="1200" dirty="0">
                <a:solidFill>
                  <a:schemeClr val="accent6"/>
                </a:solidFill>
              </a:rPr>
              <a:t>An enabled anti-phishing policy with impersonation, mailbox intelligence and spoof protection.</a:t>
            </a:r>
            <a:endParaRPr lang="en-US" sz="1400" dirty="0"/>
          </a:p>
        </p:txBody>
      </p:sp>
      <p:sp>
        <p:nvSpPr>
          <p:cNvPr id="7" name="D2 card"/>
          <p:cNvSpPr/>
          <p:nvPr/>
        </p:nvSpPr>
        <p:spPr>
          <a:xfrm>
            <a:off x="4338218" y="1600200"/>
            <a:ext cx="3515258" cy="2084832"/>
          </a:xfrm>
          <a:prstGeom prst="roundRect">
            <a:avLst>
              <a:gd name="adj" fmla="val 3509"/>
            </a:avLst>
          </a:prstGeom>
          <a:solidFill>
            <a:schemeClr val="bg2"/>
          </a:solidFill>
          <a:ln w="12700">
            <a:solidFill>
              <a:schemeClr val="bg2"/>
            </a:solidFill>
            <a:prstDash val="solid"/>
          </a:ln>
        </p:spPr>
      </p:sp>
      <p:sp>
        <p:nvSpPr>
          <p:cNvPr id="8" name="D2 tag"/>
          <p:cNvSpPr txBox="1"/>
          <p:nvPr/>
        </p:nvSpPr>
        <p:spPr>
          <a:xfrm>
            <a:off x="4521098"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D2</a:t>
            </a:r>
            <a:endParaRPr lang="en-US" sz="1300" dirty="0"/>
          </a:p>
        </p:txBody>
      </p:sp>
      <p:sp>
        <p:nvSpPr>
          <p:cNvPr id="9" name="D2 Privileged roles held through eligibility rather than standing assignment"/>
          <p:cNvSpPr txBox="1"/>
          <p:nvPr/>
        </p:nvSpPr>
        <p:spPr>
          <a:xfrm>
            <a:off x="5161178" y="1783080"/>
            <a:ext cx="2527706" cy="1792224"/>
          </a:xfrm>
          <a:prstGeom prst="rect">
            <a:avLst/>
          </a:prstGeom>
          <a:noFill/>
          <a:ln/>
        </p:spPr>
        <p:txBody>
          <a:bodyPr wrap="square" lIns="0" tIns="0" rIns="0" bIns="0" rtlCol="0" anchor="t"/>
          <a:lstStyle/>
          <a:p>
            <a:pPr indent="0" marL="0">
              <a:buNone/>
            </a:pPr>
            <a:r>
              <a:rPr lang="en-US" sz="1400" b="1" dirty="0">
                <a:solidFill>
                  <a:schemeClr val="tx2"/>
                </a:solidFill>
              </a:rPr>
              <a:t>Privileged roles held through eligibility rather than standing assignment</a:t>
            </a:r>
            <a:endParaRPr lang="en-US" sz="1400" dirty="0"/>
          </a:p>
          <a:p>
            <a:pPr indent="0" marL="0">
              <a:spcBef>
                <a:spcPts val="500"/>
              </a:spcBef>
              <a:buNone/>
            </a:pPr>
            <a:r>
              <a:rPr lang="en-US" sz="1200" dirty="0">
                <a:solidFill>
                  <a:schemeClr val="accent6"/>
                </a:solidFill>
              </a:rPr>
              <a:t>Privileged Entra role assignments that are eligible through Privileged Identity Management, against eligible plus standing assignments.</a:t>
            </a:r>
            <a:endParaRPr lang="en-US" sz="1400" dirty="0"/>
          </a:p>
        </p:txBody>
      </p:sp>
      <p:sp>
        <p:nvSpPr>
          <p:cNvPr id="10" name="D3 card"/>
          <p:cNvSpPr/>
          <p:nvPr/>
        </p:nvSpPr>
        <p:spPr>
          <a:xfrm>
            <a:off x="8127797" y="1600200"/>
            <a:ext cx="3515258" cy="2084832"/>
          </a:xfrm>
          <a:prstGeom prst="roundRect">
            <a:avLst>
              <a:gd name="adj" fmla="val 3509"/>
            </a:avLst>
          </a:prstGeom>
          <a:solidFill>
            <a:schemeClr val="bg2"/>
          </a:solidFill>
          <a:ln w="12700">
            <a:solidFill>
              <a:schemeClr val="bg2"/>
            </a:solidFill>
            <a:prstDash val="solid"/>
          </a:ln>
        </p:spPr>
      </p:sp>
      <p:sp>
        <p:nvSpPr>
          <p:cNvPr id="11" name="D3 tag"/>
          <p:cNvSpPr txBox="1"/>
          <p:nvPr/>
        </p:nvSpPr>
        <p:spPr>
          <a:xfrm>
            <a:off x="8310677"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D3</a:t>
            </a:r>
            <a:endParaRPr lang="en-US" sz="1300" dirty="0"/>
          </a:p>
        </p:txBody>
      </p:sp>
      <p:sp>
        <p:nvSpPr>
          <p:cNvPr id="12" name="D3 Identity Protection sign-in and user risk policies enforced"/>
          <p:cNvSpPr txBox="1"/>
          <p:nvPr/>
        </p:nvSpPr>
        <p:spPr>
          <a:xfrm>
            <a:off x="8950757" y="1783080"/>
            <a:ext cx="2527706" cy="1792224"/>
          </a:xfrm>
          <a:prstGeom prst="rect">
            <a:avLst/>
          </a:prstGeom>
          <a:noFill/>
          <a:ln/>
        </p:spPr>
        <p:txBody>
          <a:bodyPr wrap="square" lIns="0" tIns="0" rIns="0" bIns="0" rtlCol="0" anchor="t"/>
          <a:lstStyle/>
          <a:p>
            <a:pPr indent="0" marL="0">
              <a:buNone/>
            </a:pPr>
            <a:r>
              <a:rPr lang="en-US" sz="1400" b="1" dirty="0">
                <a:solidFill>
                  <a:schemeClr val="tx2"/>
                </a:solidFill>
              </a:rPr>
              <a:t>Identity Protection sign-in and user risk policies enforced</a:t>
            </a:r>
            <a:endParaRPr lang="en-US" sz="1400" dirty="0"/>
          </a:p>
          <a:p>
            <a:pPr indent="0" marL="0">
              <a:spcBef>
                <a:spcPts val="500"/>
              </a:spcBef>
              <a:buNone/>
            </a:pPr>
            <a:r>
              <a:rPr lang="en-US" sz="1200" dirty="0">
                <a:solidFill>
                  <a:schemeClr val="accent6"/>
                </a:solidFill>
              </a:rPr>
              <a:t>An enabled Conditional Access policy with a sign-in risk condition and one with a user risk condition both include all users.</a:t>
            </a:r>
            <a:endParaRPr lang="en-US" sz="1400" dirty="0"/>
          </a:p>
        </p:txBody>
      </p:sp>
      <p:sp>
        <p:nvSpPr>
          <p:cNvPr id="13" name="D4 card"/>
          <p:cNvSpPr/>
          <p:nvPr/>
        </p:nvSpPr>
        <p:spPr>
          <a:xfrm>
            <a:off x="548640" y="3959352"/>
            <a:ext cx="3515258" cy="2084832"/>
          </a:xfrm>
          <a:prstGeom prst="roundRect">
            <a:avLst>
              <a:gd name="adj" fmla="val 3509"/>
            </a:avLst>
          </a:prstGeom>
          <a:solidFill>
            <a:schemeClr val="bg2"/>
          </a:solidFill>
          <a:ln w="12700">
            <a:solidFill>
              <a:schemeClr val="bg2"/>
            </a:solidFill>
            <a:prstDash val="solid"/>
          </a:ln>
        </p:spPr>
      </p:sp>
      <p:sp>
        <p:nvSpPr>
          <p:cNvPr id="14" name="D4 tag"/>
          <p:cNvSpPr txBox="1"/>
          <p:nvPr/>
        </p:nvSpPr>
        <p:spPr>
          <a:xfrm>
            <a:off x="731520" y="4160520"/>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D4</a:t>
            </a:r>
            <a:endParaRPr lang="en-US" sz="1300" dirty="0"/>
          </a:p>
        </p:txBody>
      </p:sp>
      <p:sp>
        <p:nvSpPr>
          <p:cNvPr id="15" name="D4 Application consent governed by administrative approval"/>
          <p:cNvSpPr txBox="1"/>
          <p:nvPr/>
        </p:nvSpPr>
        <p:spPr>
          <a:xfrm>
            <a:off x="1371600" y="4142232"/>
            <a:ext cx="2527706" cy="1792224"/>
          </a:xfrm>
          <a:prstGeom prst="rect">
            <a:avLst/>
          </a:prstGeom>
          <a:noFill/>
          <a:ln/>
        </p:spPr>
        <p:txBody>
          <a:bodyPr wrap="square" lIns="0" tIns="0" rIns="0" bIns="0" rtlCol="0" anchor="t"/>
          <a:lstStyle/>
          <a:p>
            <a:pPr indent="0" marL="0">
              <a:buNone/>
            </a:pPr>
            <a:r>
              <a:rPr lang="en-US" sz="1400" b="1" dirty="0">
                <a:solidFill>
                  <a:schemeClr val="tx2"/>
                </a:solidFill>
              </a:rPr>
              <a:t>Application consent governed by administrative approval</a:t>
            </a:r>
            <a:endParaRPr lang="en-US" sz="1400" dirty="0"/>
          </a:p>
          <a:p>
            <a:pPr indent="0" marL="0">
              <a:spcBef>
                <a:spcPts val="500"/>
              </a:spcBef>
              <a:buNone/>
            </a:pPr>
            <a:r>
              <a:rPr lang="en-US" sz="1200" dirty="0">
                <a:solidFill>
                  <a:schemeClr val="accent6"/>
                </a:solidFill>
              </a:rPr>
              <a:t>Users cannot consent, or only to low-risk permissions from verified publishers, and the admin consent request workflow is 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Endpoint and workload</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Foundational · 6 controls · Configured at build and held at E at every review</a:t>
            </a:r>
            <a:endParaRPr lang="en-US" sz="1600" dirty="0"/>
          </a:p>
        </p:txBody>
      </p:sp>
      <p:sp>
        <p:nvSpPr>
          <p:cNvPr id="4" name="F1 card"/>
          <p:cNvSpPr/>
          <p:nvPr/>
        </p:nvSpPr>
        <p:spPr>
          <a:xfrm>
            <a:off x="548640" y="1600200"/>
            <a:ext cx="3515258" cy="1677924"/>
          </a:xfrm>
          <a:prstGeom prst="roundRect">
            <a:avLst>
              <a:gd name="adj" fmla="val 4360"/>
            </a:avLst>
          </a:prstGeom>
          <a:solidFill>
            <a:schemeClr val="bg2"/>
          </a:solidFill>
          <a:ln w="12700">
            <a:solidFill>
              <a:schemeClr val="bg2"/>
            </a:solidFill>
            <a:prstDash val="solid"/>
          </a:ln>
        </p:spPr>
      </p:sp>
      <p:sp>
        <p:nvSpPr>
          <p:cNvPr id="5" name="F1 tag"/>
          <p:cNvSpPr txBox="1"/>
          <p:nvPr/>
        </p:nvSpPr>
        <p:spPr>
          <a:xfrm>
            <a:off x="731520"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F1</a:t>
            </a:r>
            <a:endParaRPr lang="en-US" sz="1300" dirty="0"/>
          </a:p>
        </p:txBody>
      </p:sp>
      <p:sp>
        <p:nvSpPr>
          <p:cNvPr id="6" name="F1 Endpoint detection and response deployed"/>
          <p:cNvSpPr txBox="1"/>
          <p:nvPr/>
        </p:nvSpPr>
        <p:spPr>
          <a:xfrm>
            <a:off x="1371600" y="1783080"/>
            <a:ext cx="2527706" cy="1385316"/>
          </a:xfrm>
          <a:prstGeom prst="rect">
            <a:avLst/>
          </a:prstGeom>
          <a:noFill/>
          <a:ln/>
        </p:spPr>
        <p:txBody>
          <a:bodyPr wrap="square" lIns="0" tIns="0" rIns="0" bIns="0" rtlCol="0" anchor="t"/>
          <a:lstStyle/>
          <a:p>
            <a:pPr indent="0" marL="0">
              <a:buNone/>
            </a:pPr>
            <a:r>
              <a:rPr lang="en-US" sz="1400" b="1" dirty="0">
                <a:solidFill>
                  <a:schemeClr val="tx2"/>
                </a:solidFill>
              </a:rPr>
              <a:t>Endpoint detection and response deployed</a:t>
            </a:r>
            <a:endParaRPr lang="en-US" sz="1400" dirty="0"/>
          </a:p>
          <a:p>
            <a:pPr indent="0" marL="0">
              <a:spcBef>
                <a:spcPts val="500"/>
              </a:spcBef>
              <a:buNone/>
            </a:pPr>
            <a:r>
              <a:rPr lang="en-US" sz="1200" dirty="0">
                <a:solidFill>
                  <a:schemeClr val="accent6"/>
                </a:solidFill>
              </a:rPr>
              <a:t>Devices seen in the last 30 days that are onboarded, against onboarded plus onboarding-eligible devices.</a:t>
            </a:r>
            <a:endParaRPr lang="en-US" sz="1400" dirty="0"/>
          </a:p>
        </p:txBody>
      </p:sp>
      <p:sp>
        <p:nvSpPr>
          <p:cNvPr id="7" name="F2 card"/>
          <p:cNvSpPr/>
          <p:nvPr/>
        </p:nvSpPr>
        <p:spPr>
          <a:xfrm>
            <a:off x="4338218" y="1600200"/>
            <a:ext cx="3515258" cy="1677924"/>
          </a:xfrm>
          <a:prstGeom prst="roundRect">
            <a:avLst>
              <a:gd name="adj" fmla="val 4360"/>
            </a:avLst>
          </a:prstGeom>
          <a:solidFill>
            <a:schemeClr val="bg2"/>
          </a:solidFill>
          <a:ln w="12700">
            <a:solidFill>
              <a:schemeClr val="bg2"/>
            </a:solidFill>
            <a:prstDash val="solid"/>
          </a:ln>
        </p:spPr>
      </p:sp>
      <p:sp>
        <p:nvSpPr>
          <p:cNvPr id="8" name="F2 tag"/>
          <p:cNvSpPr txBox="1"/>
          <p:nvPr/>
        </p:nvSpPr>
        <p:spPr>
          <a:xfrm>
            <a:off x="4521098"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F2</a:t>
            </a:r>
            <a:endParaRPr lang="en-US" sz="1300" dirty="0"/>
          </a:p>
        </p:txBody>
      </p:sp>
      <p:sp>
        <p:nvSpPr>
          <p:cNvPr id="9" name="F2 Azure virtual machines reporting to endpoint detection"/>
          <p:cNvSpPr txBox="1"/>
          <p:nvPr/>
        </p:nvSpPr>
        <p:spPr>
          <a:xfrm>
            <a:off x="5161178" y="1783080"/>
            <a:ext cx="2527706" cy="1385316"/>
          </a:xfrm>
          <a:prstGeom prst="rect">
            <a:avLst/>
          </a:prstGeom>
          <a:noFill/>
          <a:ln/>
        </p:spPr>
        <p:txBody>
          <a:bodyPr wrap="square" lIns="0" tIns="0" rIns="0" bIns="0" rtlCol="0" anchor="t"/>
          <a:lstStyle/>
          <a:p>
            <a:pPr indent="0" marL="0">
              <a:buNone/>
            </a:pPr>
            <a:r>
              <a:rPr lang="en-US" sz="1400" b="1" dirty="0">
                <a:solidFill>
                  <a:schemeClr val="tx2"/>
                </a:solidFill>
              </a:rPr>
              <a:t>Azure virtual machines reporting to endpoint detection</a:t>
            </a:r>
            <a:endParaRPr lang="en-US" sz="1400" dirty="0"/>
          </a:p>
          <a:p>
            <a:pPr indent="0" marL="0">
              <a:spcBef>
                <a:spcPts val="500"/>
              </a:spcBef>
              <a:buNone/>
            </a:pPr>
            <a:r>
              <a:rPr lang="en-US" sz="1200" dirty="0">
                <a:solidFill>
                  <a:schemeClr val="accent6"/>
                </a:solidFill>
              </a:rPr>
              <a:t>Azure virtual machines seen in the last 30 days.</a:t>
            </a:r>
            <a:endParaRPr lang="en-US" sz="1400" dirty="0"/>
          </a:p>
        </p:txBody>
      </p:sp>
      <p:sp>
        <p:nvSpPr>
          <p:cNvPr id="10" name="F3 card"/>
          <p:cNvSpPr/>
          <p:nvPr/>
        </p:nvSpPr>
        <p:spPr>
          <a:xfrm>
            <a:off x="8127797" y="1600200"/>
            <a:ext cx="3515258" cy="1677924"/>
          </a:xfrm>
          <a:prstGeom prst="roundRect">
            <a:avLst>
              <a:gd name="adj" fmla="val 4360"/>
            </a:avLst>
          </a:prstGeom>
          <a:solidFill>
            <a:schemeClr val="bg2"/>
          </a:solidFill>
          <a:ln w="12700">
            <a:solidFill>
              <a:schemeClr val="bg2"/>
            </a:solidFill>
            <a:prstDash val="solid"/>
          </a:ln>
        </p:spPr>
      </p:sp>
      <p:sp>
        <p:nvSpPr>
          <p:cNvPr id="11" name="F3 tag"/>
          <p:cNvSpPr txBox="1"/>
          <p:nvPr/>
        </p:nvSpPr>
        <p:spPr>
          <a:xfrm>
            <a:off x="8310677"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F3</a:t>
            </a:r>
            <a:endParaRPr lang="en-US" sz="1300" dirty="0"/>
          </a:p>
        </p:txBody>
      </p:sp>
      <p:sp>
        <p:nvSpPr>
          <p:cNvPr id="12" name="F3 Real-time anti-malware protection enabled"/>
          <p:cNvSpPr txBox="1"/>
          <p:nvPr/>
        </p:nvSpPr>
        <p:spPr>
          <a:xfrm>
            <a:off x="8950757" y="1783080"/>
            <a:ext cx="2527706" cy="1385316"/>
          </a:xfrm>
          <a:prstGeom prst="rect">
            <a:avLst/>
          </a:prstGeom>
          <a:noFill/>
          <a:ln/>
        </p:spPr>
        <p:txBody>
          <a:bodyPr wrap="square" lIns="0" tIns="0" rIns="0" bIns="0" rtlCol="0" anchor="t"/>
          <a:lstStyle/>
          <a:p>
            <a:pPr indent="0" marL="0">
              <a:buNone/>
            </a:pPr>
            <a:r>
              <a:rPr lang="en-US" sz="1400" b="1" dirty="0">
                <a:solidFill>
                  <a:schemeClr val="tx2"/>
                </a:solidFill>
              </a:rPr>
              <a:t>Real-time anti-malware protection enabled</a:t>
            </a:r>
            <a:endParaRPr lang="en-US" sz="1400" dirty="0"/>
          </a:p>
          <a:p>
            <a:pPr indent="0" marL="0">
              <a:spcBef>
                <a:spcPts val="500"/>
              </a:spcBef>
              <a:buNone/>
            </a:pPr>
            <a:r>
              <a:rPr lang="en-US" sz="1200" dirty="0">
                <a:solidFill>
                  <a:schemeClr val="accent6"/>
                </a:solidFill>
              </a:rPr>
              <a:t>Devices compliant with the real-time protection configuration checks, all platforms.</a:t>
            </a:r>
            <a:endParaRPr lang="en-US" sz="1400" dirty="0"/>
          </a:p>
        </p:txBody>
      </p:sp>
      <p:sp>
        <p:nvSpPr>
          <p:cNvPr id="13" name="F4 card"/>
          <p:cNvSpPr/>
          <p:nvPr/>
        </p:nvSpPr>
        <p:spPr>
          <a:xfrm>
            <a:off x="548640" y="3552444"/>
            <a:ext cx="3515258" cy="1677924"/>
          </a:xfrm>
          <a:prstGeom prst="roundRect">
            <a:avLst>
              <a:gd name="adj" fmla="val 4360"/>
            </a:avLst>
          </a:prstGeom>
          <a:solidFill>
            <a:schemeClr val="bg2"/>
          </a:solidFill>
          <a:ln w="12700">
            <a:solidFill>
              <a:schemeClr val="bg2"/>
            </a:solidFill>
            <a:prstDash val="solid"/>
          </a:ln>
        </p:spPr>
      </p:sp>
      <p:sp>
        <p:nvSpPr>
          <p:cNvPr id="14" name="F4 tag"/>
          <p:cNvSpPr txBox="1"/>
          <p:nvPr/>
        </p:nvSpPr>
        <p:spPr>
          <a:xfrm>
            <a:off x="731520" y="375361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F4</a:t>
            </a:r>
            <a:endParaRPr lang="en-US" sz="1300" dirty="0"/>
          </a:p>
        </p:txBody>
      </p:sp>
      <p:sp>
        <p:nvSpPr>
          <p:cNvPr id="15" name="F4 Tamper protection enforced on onboarded devices"/>
          <p:cNvSpPr txBox="1"/>
          <p:nvPr/>
        </p:nvSpPr>
        <p:spPr>
          <a:xfrm>
            <a:off x="1371600" y="3735324"/>
            <a:ext cx="2527706" cy="1385316"/>
          </a:xfrm>
          <a:prstGeom prst="rect">
            <a:avLst/>
          </a:prstGeom>
          <a:noFill/>
          <a:ln/>
        </p:spPr>
        <p:txBody>
          <a:bodyPr wrap="square" lIns="0" tIns="0" rIns="0" bIns="0" rtlCol="0" anchor="t"/>
          <a:lstStyle/>
          <a:p>
            <a:pPr indent="0" marL="0">
              <a:buNone/>
            </a:pPr>
            <a:r>
              <a:rPr lang="en-US" sz="1400" b="1" dirty="0">
                <a:solidFill>
                  <a:schemeClr val="tx2"/>
                </a:solidFill>
              </a:rPr>
              <a:t>Tamper protection enforced on onboarded devices</a:t>
            </a:r>
            <a:endParaRPr lang="en-US" sz="1400" dirty="0"/>
          </a:p>
          <a:p>
            <a:pPr indent="0" marL="0">
              <a:spcBef>
                <a:spcPts val="500"/>
              </a:spcBef>
              <a:buNone/>
            </a:pPr>
            <a:r>
              <a:rPr lang="en-US" sz="1200" dirty="0">
                <a:solidFill>
                  <a:schemeClr val="accent6"/>
                </a:solidFill>
              </a:rPr>
              <a:t>Onboarded devices seen in the last 30 days with tamper protection on.</a:t>
            </a:r>
            <a:endParaRPr lang="en-US" sz="1400" dirty="0"/>
          </a:p>
        </p:txBody>
      </p:sp>
      <p:sp>
        <p:nvSpPr>
          <p:cNvPr id="16" name="F5 card"/>
          <p:cNvSpPr/>
          <p:nvPr/>
        </p:nvSpPr>
        <p:spPr>
          <a:xfrm>
            <a:off x="4338218" y="3552444"/>
            <a:ext cx="3515258" cy="1677924"/>
          </a:xfrm>
          <a:prstGeom prst="roundRect">
            <a:avLst>
              <a:gd name="adj" fmla="val 4360"/>
            </a:avLst>
          </a:prstGeom>
          <a:solidFill>
            <a:schemeClr val="bg2"/>
          </a:solidFill>
          <a:ln w="12700">
            <a:solidFill>
              <a:schemeClr val="bg2"/>
            </a:solidFill>
            <a:prstDash val="solid"/>
          </a:ln>
        </p:spPr>
      </p:sp>
      <p:sp>
        <p:nvSpPr>
          <p:cNvPr id="17" name="F5 tag"/>
          <p:cNvSpPr txBox="1"/>
          <p:nvPr/>
        </p:nvSpPr>
        <p:spPr>
          <a:xfrm>
            <a:off x="4521098" y="375361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F5</a:t>
            </a:r>
            <a:endParaRPr lang="en-US" sz="1300" dirty="0"/>
          </a:p>
        </p:txBody>
      </p:sp>
      <p:sp>
        <p:nvSpPr>
          <p:cNvPr id="18" name="F5 Host firewall enforced through endpoint policy"/>
          <p:cNvSpPr txBox="1"/>
          <p:nvPr/>
        </p:nvSpPr>
        <p:spPr>
          <a:xfrm>
            <a:off x="5161178" y="3735324"/>
            <a:ext cx="2527706" cy="1385316"/>
          </a:xfrm>
          <a:prstGeom prst="rect">
            <a:avLst/>
          </a:prstGeom>
          <a:noFill/>
          <a:ln/>
        </p:spPr>
        <p:txBody>
          <a:bodyPr wrap="square" lIns="0" tIns="0" rIns="0" bIns="0" rtlCol="0" anchor="t"/>
          <a:lstStyle/>
          <a:p>
            <a:pPr indent="0" marL="0">
              <a:buNone/>
            </a:pPr>
            <a:r>
              <a:rPr lang="en-US" sz="1400" b="1" dirty="0">
                <a:solidFill>
                  <a:schemeClr val="tx2"/>
                </a:solidFill>
              </a:rPr>
              <a:t>Host firewall enforced through endpoint policy</a:t>
            </a:r>
            <a:endParaRPr lang="en-US" sz="1400" dirty="0"/>
          </a:p>
          <a:p>
            <a:pPr indent="0" marL="0">
              <a:spcBef>
                <a:spcPts val="500"/>
              </a:spcBef>
              <a:buNone/>
            </a:pPr>
            <a:r>
              <a:rPr lang="en-US" sz="1200" dirty="0">
                <a:solidFill>
                  <a:schemeClr val="accent6"/>
                </a:solidFill>
              </a:rPr>
              <a:t>Onboarded devices with Microsoft Defender Firewall on for every profile.</a:t>
            </a:r>
            <a:endParaRPr lang="en-US" sz="1400" dirty="0"/>
          </a:p>
        </p:txBody>
      </p:sp>
      <p:sp>
        <p:nvSpPr>
          <p:cNvPr id="19" name="F6 card"/>
          <p:cNvSpPr/>
          <p:nvPr/>
        </p:nvSpPr>
        <p:spPr>
          <a:xfrm>
            <a:off x="8127797" y="3552444"/>
            <a:ext cx="3515258" cy="1677924"/>
          </a:xfrm>
          <a:prstGeom prst="roundRect">
            <a:avLst>
              <a:gd name="adj" fmla="val 4360"/>
            </a:avLst>
          </a:prstGeom>
          <a:solidFill>
            <a:schemeClr val="bg2"/>
          </a:solidFill>
          <a:ln w="12700">
            <a:solidFill>
              <a:schemeClr val="bg2"/>
            </a:solidFill>
            <a:prstDash val="solid"/>
          </a:ln>
        </p:spPr>
      </p:sp>
      <p:sp>
        <p:nvSpPr>
          <p:cNvPr id="20" name="F6 tag"/>
          <p:cNvSpPr txBox="1"/>
          <p:nvPr/>
        </p:nvSpPr>
        <p:spPr>
          <a:xfrm>
            <a:off x="8310677" y="375361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F6</a:t>
            </a:r>
            <a:endParaRPr lang="en-US" sz="1300" dirty="0"/>
          </a:p>
        </p:txBody>
      </p:sp>
      <p:sp>
        <p:nvSpPr>
          <p:cNvPr id="21" name="F6 Operating system findings remediated within the patch cadence"/>
          <p:cNvSpPr txBox="1"/>
          <p:nvPr/>
        </p:nvSpPr>
        <p:spPr>
          <a:xfrm>
            <a:off x="8950757" y="3735324"/>
            <a:ext cx="2527706" cy="1385316"/>
          </a:xfrm>
          <a:prstGeom prst="rect">
            <a:avLst/>
          </a:prstGeom>
          <a:noFill/>
          <a:ln/>
        </p:spPr>
        <p:txBody>
          <a:bodyPr wrap="square" lIns="0" tIns="0" rIns="0" bIns="0" rtlCol="0" anchor="t"/>
          <a:lstStyle/>
          <a:p>
            <a:pPr indent="0" marL="0">
              <a:buNone/>
            </a:pPr>
            <a:r>
              <a:rPr lang="en-US" sz="1400" b="1" dirty="0">
                <a:solidFill>
                  <a:schemeClr val="tx2"/>
                </a:solidFill>
              </a:rPr>
              <a:t>Operating system findings remediated within the patch cadence</a:t>
            </a:r>
            <a:endParaRPr lang="en-US" sz="1400" dirty="0"/>
          </a:p>
          <a:p>
            <a:pPr indent="0" marL="0">
              <a:spcBef>
                <a:spcPts val="500"/>
              </a:spcBef>
              <a:buNone/>
            </a:pPr>
            <a:r>
              <a:rPr lang="en-US" sz="1200" dirty="0">
                <a:solidFill>
                  <a:schemeClr val="accent6"/>
                </a:solidFill>
              </a:rPr>
              <a:t>Machines assessed by Update Manager with no critical or security patch older than the agreed cadence.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Endpoint and workload</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Defense in depth · 6 controls · Layered on afterward and sequenced with each client on the roadmap</a:t>
            </a:r>
            <a:endParaRPr lang="en-US" sz="1600" dirty="0"/>
          </a:p>
        </p:txBody>
      </p:sp>
      <p:sp>
        <p:nvSpPr>
          <p:cNvPr id="4" name="D1 card"/>
          <p:cNvSpPr/>
          <p:nvPr/>
        </p:nvSpPr>
        <p:spPr>
          <a:xfrm>
            <a:off x="548640" y="1600200"/>
            <a:ext cx="3515258" cy="1819656"/>
          </a:xfrm>
          <a:prstGeom prst="roundRect">
            <a:avLst>
              <a:gd name="adj" fmla="val 4020"/>
            </a:avLst>
          </a:prstGeom>
          <a:solidFill>
            <a:schemeClr val="bg2"/>
          </a:solidFill>
          <a:ln w="12700">
            <a:solidFill>
              <a:schemeClr val="bg2"/>
            </a:solidFill>
            <a:prstDash val="solid"/>
          </a:ln>
        </p:spPr>
      </p:sp>
      <p:sp>
        <p:nvSpPr>
          <p:cNvPr id="5" name="D1 tag"/>
          <p:cNvSpPr txBox="1"/>
          <p:nvPr/>
        </p:nvSpPr>
        <p:spPr>
          <a:xfrm>
            <a:off x="731520"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D1</a:t>
            </a:r>
            <a:endParaRPr lang="en-US" sz="1300" dirty="0"/>
          </a:p>
        </p:txBody>
      </p:sp>
      <p:sp>
        <p:nvSpPr>
          <p:cNvPr id="6" name="D1 Vulnerability assessment running on onboarded devices"/>
          <p:cNvSpPr txBox="1"/>
          <p:nvPr/>
        </p:nvSpPr>
        <p:spPr>
          <a:xfrm>
            <a:off x="1371600" y="1783080"/>
            <a:ext cx="2527706" cy="1527048"/>
          </a:xfrm>
          <a:prstGeom prst="rect">
            <a:avLst/>
          </a:prstGeom>
          <a:noFill/>
          <a:ln/>
        </p:spPr>
        <p:txBody>
          <a:bodyPr wrap="square" lIns="0" tIns="0" rIns="0" bIns="0" rtlCol="0" anchor="t"/>
          <a:lstStyle/>
          <a:p>
            <a:pPr indent="0" marL="0">
              <a:buNone/>
            </a:pPr>
            <a:r>
              <a:rPr lang="en-US" sz="1400" b="1" dirty="0">
                <a:solidFill>
                  <a:schemeClr val="tx2"/>
                </a:solidFill>
              </a:rPr>
              <a:t>Vulnerability assessment running on onboarded devices</a:t>
            </a:r>
            <a:endParaRPr lang="en-US" sz="1400" dirty="0"/>
          </a:p>
          <a:p>
            <a:pPr indent="0" marL="0">
              <a:spcBef>
                <a:spcPts val="500"/>
              </a:spcBef>
              <a:buNone/>
            </a:pPr>
            <a:r>
              <a:rPr lang="en-US" sz="1200" dirty="0">
                <a:solidFill>
                  <a:schemeClr val="accent6"/>
                </a:solidFill>
              </a:rPr>
              <a:t>Onboarded devices with a vulnerability assessment result.</a:t>
            </a:r>
            <a:endParaRPr lang="en-US" sz="1400" dirty="0"/>
          </a:p>
        </p:txBody>
      </p:sp>
      <p:sp>
        <p:nvSpPr>
          <p:cNvPr id="7" name="D2 card"/>
          <p:cNvSpPr/>
          <p:nvPr/>
        </p:nvSpPr>
        <p:spPr>
          <a:xfrm>
            <a:off x="4338218" y="1600200"/>
            <a:ext cx="3515258" cy="1819656"/>
          </a:xfrm>
          <a:prstGeom prst="roundRect">
            <a:avLst>
              <a:gd name="adj" fmla="val 4020"/>
            </a:avLst>
          </a:prstGeom>
          <a:solidFill>
            <a:schemeClr val="bg2"/>
          </a:solidFill>
          <a:ln w="12700">
            <a:solidFill>
              <a:schemeClr val="bg2"/>
            </a:solidFill>
            <a:prstDash val="solid"/>
          </a:ln>
        </p:spPr>
      </p:sp>
      <p:sp>
        <p:nvSpPr>
          <p:cNvPr id="8" name="D2 tag"/>
          <p:cNvSpPr txBox="1"/>
          <p:nvPr/>
        </p:nvSpPr>
        <p:spPr>
          <a:xfrm>
            <a:off x="4521098"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D2</a:t>
            </a:r>
            <a:endParaRPr lang="en-US" sz="1300" dirty="0"/>
          </a:p>
        </p:txBody>
      </p:sp>
      <p:sp>
        <p:nvSpPr>
          <p:cNvPr id="9" name="D2 Platform integrity through Trusted Launch"/>
          <p:cNvSpPr txBox="1"/>
          <p:nvPr/>
        </p:nvSpPr>
        <p:spPr>
          <a:xfrm>
            <a:off x="5161178" y="1783080"/>
            <a:ext cx="2527706" cy="1527048"/>
          </a:xfrm>
          <a:prstGeom prst="rect">
            <a:avLst/>
          </a:prstGeom>
          <a:noFill/>
          <a:ln/>
        </p:spPr>
        <p:txBody>
          <a:bodyPr wrap="square" lIns="0" tIns="0" rIns="0" bIns="0" rtlCol="0" anchor="t"/>
          <a:lstStyle/>
          <a:p>
            <a:pPr indent="0" marL="0">
              <a:buNone/>
            </a:pPr>
            <a:r>
              <a:rPr lang="en-US" sz="1400" b="1" dirty="0">
                <a:solidFill>
                  <a:schemeClr val="tx2"/>
                </a:solidFill>
              </a:rPr>
              <a:t>Platform integrity through Trusted Launch</a:t>
            </a:r>
            <a:endParaRPr lang="en-US" sz="1400" dirty="0"/>
          </a:p>
          <a:p>
            <a:pPr indent="0" marL="0">
              <a:spcBef>
                <a:spcPts val="500"/>
              </a:spcBef>
              <a:buNone/>
            </a:pPr>
            <a:r>
              <a:rPr lang="en-US" sz="1200" dirty="0">
                <a:solidFill>
                  <a:schemeClr val="accent6"/>
                </a:solidFill>
              </a:rPr>
              <a:t>Azure virtual machines deployed with Trusted Launch or confidential computing.</a:t>
            </a:r>
            <a:endParaRPr lang="en-US" sz="1400" dirty="0"/>
          </a:p>
        </p:txBody>
      </p:sp>
      <p:sp>
        <p:nvSpPr>
          <p:cNvPr id="10" name="D3 card"/>
          <p:cNvSpPr/>
          <p:nvPr/>
        </p:nvSpPr>
        <p:spPr>
          <a:xfrm>
            <a:off x="8127797" y="1600200"/>
            <a:ext cx="3515258" cy="1819656"/>
          </a:xfrm>
          <a:prstGeom prst="roundRect">
            <a:avLst>
              <a:gd name="adj" fmla="val 4020"/>
            </a:avLst>
          </a:prstGeom>
          <a:solidFill>
            <a:schemeClr val="bg2"/>
          </a:solidFill>
          <a:ln w="12700">
            <a:solidFill>
              <a:schemeClr val="bg2"/>
            </a:solidFill>
            <a:prstDash val="solid"/>
          </a:ln>
        </p:spPr>
      </p:sp>
      <p:sp>
        <p:nvSpPr>
          <p:cNvPr id="11" name="D3 tag"/>
          <p:cNvSpPr txBox="1"/>
          <p:nvPr/>
        </p:nvSpPr>
        <p:spPr>
          <a:xfrm>
            <a:off x="8310677"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D3</a:t>
            </a:r>
            <a:endParaRPr lang="en-US" sz="1300" dirty="0"/>
          </a:p>
        </p:txBody>
      </p:sp>
      <p:sp>
        <p:nvSpPr>
          <p:cNvPr id="12" name="D3 Encryption at host on virtual machines"/>
          <p:cNvSpPr txBox="1"/>
          <p:nvPr/>
        </p:nvSpPr>
        <p:spPr>
          <a:xfrm>
            <a:off x="8950757" y="1783080"/>
            <a:ext cx="2527706" cy="1527048"/>
          </a:xfrm>
          <a:prstGeom prst="rect">
            <a:avLst/>
          </a:prstGeom>
          <a:noFill/>
          <a:ln/>
        </p:spPr>
        <p:txBody>
          <a:bodyPr wrap="square" lIns="0" tIns="0" rIns="0" bIns="0" rtlCol="0" anchor="t"/>
          <a:lstStyle/>
          <a:p>
            <a:pPr indent="0" marL="0">
              <a:buNone/>
            </a:pPr>
            <a:r>
              <a:rPr lang="en-US" sz="1400" b="1" dirty="0">
                <a:solidFill>
                  <a:schemeClr val="tx2"/>
                </a:solidFill>
              </a:rPr>
              <a:t>Encryption at host on virtual machines</a:t>
            </a:r>
            <a:endParaRPr lang="en-US" sz="1400" dirty="0"/>
          </a:p>
          <a:p>
            <a:pPr indent="0" marL="0">
              <a:spcBef>
                <a:spcPts val="500"/>
              </a:spcBef>
              <a:buNone/>
            </a:pPr>
            <a:r>
              <a:rPr lang="en-US" sz="1200" dirty="0">
                <a:solidFill>
                  <a:schemeClr val="accent6"/>
                </a:solidFill>
              </a:rPr>
              <a:t>Virtual machine and scale set resources with the encryption at host setting. Disk encryption alternatives are reviewed separately.</a:t>
            </a:r>
            <a:endParaRPr lang="en-US" sz="1400" dirty="0"/>
          </a:p>
        </p:txBody>
      </p:sp>
      <p:sp>
        <p:nvSpPr>
          <p:cNvPr id="13" name="D4 card"/>
          <p:cNvSpPr/>
          <p:nvPr/>
        </p:nvSpPr>
        <p:spPr>
          <a:xfrm>
            <a:off x="548640" y="3694176"/>
            <a:ext cx="3515258" cy="1819656"/>
          </a:xfrm>
          <a:prstGeom prst="roundRect">
            <a:avLst>
              <a:gd name="adj" fmla="val 4020"/>
            </a:avLst>
          </a:prstGeom>
          <a:solidFill>
            <a:schemeClr val="bg2"/>
          </a:solidFill>
          <a:ln w="12700">
            <a:solidFill>
              <a:schemeClr val="bg2"/>
            </a:solidFill>
            <a:prstDash val="solid"/>
          </a:ln>
        </p:spPr>
      </p:sp>
      <p:sp>
        <p:nvSpPr>
          <p:cNvPr id="14" name="D4 tag"/>
          <p:cNvSpPr txBox="1"/>
          <p:nvPr/>
        </p:nvSpPr>
        <p:spPr>
          <a:xfrm>
            <a:off x="731520" y="3895344"/>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D4</a:t>
            </a:r>
            <a:endParaRPr lang="en-US" sz="1300" dirty="0"/>
          </a:p>
        </p:txBody>
      </p:sp>
      <p:sp>
        <p:nvSpPr>
          <p:cNvPr id="15" name="D4 Credential protection enforced"/>
          <p:cNvSpPr txBox="1"/>
          <p:nvPr/>
        </p:nvSpPr>
        <p:spPr>
          <a:xfrm>
            <a:off x="1371600" y="3877056"/>
            <a:ext cx="2527706" cy="1527048"/>
          </a:xfrm>
          <a:prstGeom prst="rect">
            <a:avLst/>
          </a:prstGeom>
          <a:noFill/>
          <a:ln/>
        </p:spPr>
        <p:txBody>
          <a:bodyPr wrap="square" lIns="0" tIns="0" rIns="0" bIns="0" rtlCol="0" anchor="t"/>
          <a:lstStyle/>
          <a:p>
            <a:pPr indent="0" marL="0">
              <a:buNone/>
            </a:pPr>
            <a:r>
              <a:rPr lang="en-US" sz="1400" b="1" dirty="0">
                <a:solidFill>
                  <a:schemeClr val="tx2"/>
                </a:solidFill>
              </a:rPr>
              <a:t>Credential protection enforced</a:t>
            </a:r>
            <a:endParaRPr lang="en-US" sz="1400" dirty="0"/>
          </a:p>
          <a:p>
            <a:pPr indent="0" marL="0">
              <a:spcBef>
                <a:spcPts val="500"/>
              </a:spcBef>
              <a:buNone/>
            </a:pPr>
            <a:r>
              <a:rPr lang="en-US" sz="1200" dirty="0">
                <a:solidFill>
                  <a:schemeClr val="accent6"/>
                </a:solidFill>
              </a:rPr>
              <a:t>Onboarded Windows devices with LSA protection on and WDigest credential caching off.</a:t>
            </a:r>
            <a:endParaRPr lang="en-US" sz="1400" dirty="0"/>
          </a:p>
        </p:txBody>
      </p:sp>
      <p:sp>
        <p:nvSpPr>
          <p:cNvPr id="16" name="D5 card"/>
          <p:cNvSpPr/>
          <p:nvPr/>
        </p:nvSpPr>
        <p:spPr>
          <a:xfrm>
            <a:off x="4338218" y="3694176"/>
            <a:ext cx="3515258" cy="1819656"/>
          </a:xfrm>
          <a:prstGeom prst="roundRect">
            <a:avLst>
              <a:gd name="adj" fmla="val 4020"/>
            </a:avLst>
          </a:prstGeom>
          <a:solidFill>
            <a:schemeClr val="bg2"/>
          </a:solidFill>
          <a:ln w="12700">
            <a:solidFill>
              <a:schemeClr val="bg2"/>
            </a:solidFill>
            <a:prstDash val="solid"/>
          </a:ln>
        </p:spPr>
      </p:sp>
      <p:sp>
        <p:nvSpPr>
          <p:cNvPr id="17" name="D5 tag"/>
          <p:cNvSpPr txBox="1"/>
          <p:nvPr/>
        </p:nvSpPr>
        <p:spPr>
          <a:xfrm>
            <a:off x="4521098" y="3895344"/>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D5</a:t>
            </a:r>
            <a:endParaRPr lang="en-US" sz="1300" dirty="0"/>
          </a:p>
        </p:txBody>
      </p:sp>
      <p:sp>
        <p:nvSpPr>
          <p:cNvPr id="18" name="D5 Remote Desktop hardened with TLS and Network Level Authentication"/>
          <p:cNvSpPr txBox="1"/>
          <p:nvPr/>
        </p:nvSpPr>
        <p:spPr>
          <a:xfrm>
            <a:off x="5161178" y="3877056"/>
            <a:ext cx="2527706" cy="1527048"/>
          </a:xfrm>
          <a:prstGeom prst="rect">
            <a:avLst/>
          </a:prstGeom>
          <a:noFill/>
          <a:ln/>
        </p:spPr>
        <p:txBody>
          <a:bodyPr wrap="square" lIns="0" tIns="0" rIns="0" bIns="0" rtlCol="0" anchor="t"/>
          <a:lstStyle/>
          <a:p>
            <a:pPr indent="0" marL="0">
              <a:buNone/>
            </a:pPr>
            <a:r>
              <a:rPr lang="en-US" sz="1400" b="1" dirty="0">
                <a:solidFill>
                  <a:schemeClr val="tx2"/>
                </a:solidFill>
              </a:rPr>
              <a:t>Remote Desktop hardened with TLS and Network Level Authentication</a:t>
            </a:r>
            <a:endParaRPr lang="en-US" sz="1400" dirty="0"/>
          </a:p>
          <a:p>
            <a:pPr indent="0" marL="0">
              <a:spcBef>
                <a:spcPts val="500"/>
              </a:spcBef>
              <a:buNone/>
            </a:pPr>
            <a:r>
              <a:rPr lang="en-US" sz="1200" dirty="0">
                <a:solidFill>
                  <a:schemeClr val="accent6"/>
                </a:solidFill>
              </a:rPr>
              <a:t>Onboarded Windows devices requiring TLS and Network Level Authentication for Remote Desktop.</a:t>
            </a:r>
            <a:endParaRPr lang="en-US" sz="1400" dirty="0"/>
          </a:p>
        </p:txBody>
      </p:sp>
      <p:sp>
        <p:nvSpPr>
          <p:cNvPr id="19" name="D6 card"/>
          <p:cNvSpPr/>
          <p:nvPr/>
        </p:nvSpPr>
        <p:spPr>
          <a:xfrm>
            <a:off x="8127797" y="3694176"/>
            <a:ext cx="3515258" cy="1819656"/>
          </a:xfrm>
          <a:prstGeom prst="roundRect">
            <a:avLst>
              <a:gd name="adj" fmla="val 4020"/>
            </a:avLst>
          </a:prstGeom>
          <a:solidFill>
            <a:schemeClr val="bg2"/>
          </a:solidFill>
          <a:ln w="12700">
            <a:solidFill>
              <a:schemeClr val="bg2"/>
            </a:solidFill>
            <a:prstDash val="solid"/>
          </a:ln>
        </p:spPr>
      </p:sp>
      <p:sp>
        <p:nvSpPr>
          <p:cNvPr id="20" name="D6 tag"/>
          <p:cNvSpPr txBox="1"/>
          <p:nvPr/>
        </p:nvSpPr>
        <p:spPr>
          <a:xfrm>
            <a:off x="8310677" y="3895344"/>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D6</a:t>
            </a:r>
            <a:endParaRPr lang="en-US" sz="1300" dirty="0"/>
          </a:p>
        </p:txBody>
      </p:sp>
      <p:sp>
        <p:nvSpPr>
          <p:cNvPr id="21" name="D6 Application allow-listing policy assigned"/>
          <p:cNvSpPr txBox="1"/>
          <p:nvPr/>
        </p:nvSpPr>
        <p:spPr>
          <a:xfrm>
            <a:off x="8950757" y="3877056"/>
            <a:ext cx="2527706" cy="1527048"/>
          </a:xfrm>
          <a:prstGeom prst="rect">
            <a:avLst/>
          </a:prstGeom>
          <a:noFill/>
          <a:ln/>
        </p:spPr>
        <p:txBody>
          <a:bodyPr wrap="square" lIns="0" tIns="0" rIns="0" bIns="0" rtlCol="0" anchor="t"/>
          <a:lstStyle/>
          <a:p>
            <a:pPr indent="0" marL="0">
              <a:buNone/>
            </a:pPr>
            <a:r>
              <a:rPr lang="en-US" sz="1400" b="1" dirty="0">
                <a:solidFill>
                  <a:schemeClr val="tx2"/>
                </a:solidFill>
              </a:rPr>
              <a:t>Application allow-listing policy assigned</a:t>
            </a:r>
            <a:endParaRPr lang="en-US" sz="1400" dirty="0"/>
          </a:p>
          <a:p>
            <a:pPr indent="0" marL="0">
              <a:spcBef>
                <a:spcPts val="500"/>
              </a:spcBef>
              <a:buNone/>
            </a:pPr>
            <a:r>
              <a:rPr lang="en-US" sz="1200" dirty="0">
                <a:solidFill>
                  <a:schemeClr val="accent6"/>
                </a:solidFill>
              </a:rPr>
              <a:t>An App Control for Business policy assigned in Intune.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Network and boundary</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Foundational · 5 controls · Configured at build and held at E at every review</a:t>
            </a:r>
            <a:endParaRPr lang="en-US" sz="1600" dirty="0"/>
          </a:p>
        </p:txBody>
      </p:sp>
      <p:sp>
        <p:nvSpPr>
          <p:cNvPr id="4" name="F1 card"/>
          <p:cNvSpPr/>
          <p:nvPr/>
        </p:nvSpPr>
        <p:spPr>
          <a:xfrm>
            <a:off x="548640" y="1600200"/>
            <a:ext cx="3515258" cy="2043684"/>
          </a:xfrm>
          <a:prstGeom prst="roundRect">
            <a:avLst>
              <a:gd name="adj" fmla="val 3579"/>
            </a:avLst>
          </a:prstGeom>
          <a:solidFill>
            <a:schemeClr val="bg2"/>
          </a:solidFill>
          <a:ln w="12700">
            <a:solidFill>
              <a:schemeClr val="bg2"/>
            </a:solidFill>
            <a:prstDash val="solid"/>
          </a:ln>
        </p:spPr>
      </p:sp>
      <p:sp>
        <p:nvSpPr>
          <p:cNvPr id="5" name="F1 tag"/>
          <p:cNvSpPr txBox="1"/>
          <p:nvPr/>
        </p:nvSpPr>
        <p:spPr>
          <a:xfrm>
            <a:off x="731520"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F1</a:t>
            </a:r>
            <a:endParaRPr lang="en-US" sz="1300" dirty="0"/>
          </a:p>
        </p:txBody>
      </p:sp>
      <p:sp>
        <p:nvSpPr>
          <p:cNvPr id="6" name="F1 Encryption in transit enforced on published web apps"/>
          <p:cNvSpPr txBox="1"/>
          <p:nvPr/>
        </p:nvSpPr>
        <p:spPr>
          <a:xfrm>
            <a:off x="1371600" y="1783080"/>
            <a:ext cx="2527706" cy="1751076"/>
          </a:xfrm>
          <a:prstGeom prst="rect">
            <a:avLst/>
          </a:prstGeom>
          <a:noFill/>
          <a:ln/>
        </p:spPr>
        <p:txBody>
          <a:bodyPr wrap="square" lIns="0" tIns="0" rIns="0" bIns="0" rtlCol="0" anchor="t"/>
          <a:lstStyle/>
          <a:p>
            <a:pPr indent="0" marL="0">
              <a:buNone/>
            </a:pPr>
            <a:r>
              <a:rPr lang="en-US" sz="1400" b="1" dirty="0">
                <a:solidFill>
                  <a:schemeClr val="tx2"/>
                </a:solidFill>
              </a:rPr>
              <a:t>Encryption in transit enforced on published web apps</a:t>
            </a:r>
            <a:endParaRPr lang="en-US" sz="1400" dirty="0"/>
          </a:p>
          <a:p>
            <a:pPr indent="0" marL="0">
              <a:spcBef>
                <a:spcPts val="500"/>
              </a:spcBef>
              <a:buNone/>
            </a:pPr>
            <a:r>
              <a:rPr lang="en-US" sz="1200" dirty="0">
                <a:solidFill>
                  <a:schemeClr val="accent6"/>
                </a:solidFill>
              </a:rPr>
              <a:t>Web and function apps with the HTTPS-only setting.</a:t>
            </a:r>
            <a:endParaRPr lang="en-US" sz="1400" dirty="0"/>
          </a:p>
        </p:txBody>
      </p:sp>
      <p:sp>
        <p:nvSpPr>
          <p:cNvPr id="7" name="F2 card"/>
          <p:cNvSpPr/>
          <p:nvPr/>
        </p:nvSpPr>
        <p:spPr>
          <a:xfrm>
            <a:off x="4338218" y="1600200"/>
            <a:ext cx="3515258" cy="2043684"/>
          </a:xfrm>
          <a:prstGeom prst="roundRect">
            <a:avLst>
              <a:gd name="adj" fmla="val 3579"/>
            </a:avLst>
          </a:prstGeom>
          <a:solidFill>
            <a:schemeClr val="bg2"/>
          </a:solidFill>
          <a:ln w="12700">
            <a:solidFill>
              <a:schemeClr val="bg2"/>
            </a:solidFill>
            <a:prstDash val="solid"/>
          </a:ln>
        </p:spPr>
      </p:sp>
      <p:sp>
        <p:nvSpPr>
          <p:cNvPr id="8" name="F2 tag"/>
          <p:cNvSpPr txBox="1"/>
          <p:nvPr/>
        </p:nvSpPr>
        <p:spPr>
          <a:xfrm>
            <a:off x="4521098"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F2</a:t>
            </a:r>
            <a:endParaRPr lang="en-US" sz="1300" dirty="0"/>
          </a:p>
        </p:txBody>
      </p:sp>
      <p:sp>
        <p:nvSpPr>
          <p:cNvPr id="9" name="F2 Transport encryption enforced on Azure SQL"/>
          <p:cNvSpPr txBox="1"/>
          <p:nvPr/>
        </p:nvSpPr>
        <p:spPr>
          <a:xfrm>
            <a:off x="5161178" y="1783080"/>
            <a:ext cx="2527706" cy="1751076"/>
          </a:xfrm>
          <a:prstGeom prst="rect">
            <a:avLst/>
          </a:prstGeom>
          <a:noFill/>
          <a:ln/>
        </p:spPr>
        <p:txBody>
          <a:bodyPr wrap="square" lIns="0" tIns="0" rIns="0" bIns="0" rtlCol="0" anchor="t"/>
          <a:lstStyle/>
          <a:p>
            <a:pPr indent="0" marL="0">
              <a:buNone/>
            </a:pPr>
            <a:r>
              <a:rPr lang="en-US" sz="1400" b="1" dirty="0">
                <a:solidFill>
                  <a:schemeClr val="tx2"/>
                </a:solidFill>
              </a:rPr>
              <a:t>Transport encryption enforced on Azure SQL</a:t>
            </a:r>
            <a:endParaRPr lang="en-US" sz="1400" dirty="0"/>
          </a:p>
          <a:p>
            <a:pPr indent="0" marL="0">
              <a:spcBef>
                <a:spcPts val="500"/>
              </a:spcBef>
              <a:buNone/>
            </a:pPr>
            <a:r>
              <a:rPr lang="en-US" sz="1200" dirty="0">
                <a:solidFill>
                  <a:schemeClr val="accent6"/>
                </a:solidFill>
              </a:rPr>
              <a:t>Azure SQL servers requiring TLS 1.2 or newer.</a:t>
            </a:r>
            <a:endParaRPr lang="en-US" sz="1400" dirty="0"/>
          </a:p>
        </p:txBody>
      </p:sp>
      <p:sp>
        <p:nvSpPr>
          <p:cNvPr id="10" name="F3 card"/>
          <p:cNvSpPr/>
          <p:nvPr/>
        </p:nvSpPr>
        <p:spPr>
          <a:xfrm>
            <a:off x="8127797" y="1600200"/>
            <a:ext cx="3515258" cy="2043684"/>
          </a:xfrm>
          <a:prstGeom prst="roundRect">
            <a:avLst>
              <a:gd name="adj" fmla="val 3579"/>
            </a:avLst>
          </a:prstGeom>
          <a:solidFill>
            <a:schemeClr val="bg2"/>
          </a:solidFill>
          <a:ln w="12700">
            <a:solidFill>
              <a:schemeClr val="bg2"/>
            </a:solidFill>
            <a:prstDash val="solid"/>
          </a:ln>
        </p:spPr>
      </p:sp>
      <p:sp>
        <p:nvSpPr>
          <p:cNvPr id="11" name="F3 tag"/>
          <p:cNvSpPr txBox="1"/>
          <p:nvPr/>
        </p:nvSpPr>
        <p:spPr>
          <a:xfrm>
            <a:off x="8310677"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F3</a:t>
            </a:r>
            <a:endParaRPr lang="en-US" sz="1300" dirty="0"/>
          </a:p>
        </p:txBody>
      </p:sp>
      <p:sp>
        <p:nvSpPr>
          <p:cNvPr id="12" name="F3 App Service minimum TLS 1.2"/>
          <p:cNvSpPr txBox="1"/>
          <p:nvPr/>
        </p:nvSpPr>
        <p:spPr>
          <a:xfrm>
            <a:off x="8950757" y="1783080"/>
            <a:ext cx="2527706" cy="1751076"/>
          </a:xfrm>
          <a:prstGeom prst="rect">
            <a:avLst/>
          </a:prstGeom>
          <a:noFill/>
          <a:ln/>
        </p:spPr>
        <p:txBody>
          <a:bodyPr wrap="square" lIns="0" tIns="0" rIns="0" bIns="0" rtlCol="0" anchor="t"/>
          <a:lstStyle/>
          <a:p>
            <a:pPr indent="0" marL="0">
              <a:buNone/>
            </a:pPr>
            <a:r>
              <a:rPr lang="en-US" sz="1400" b="1" dirty="0">
                <a:solidFill>
                  <a:schemeClr val="tx2"/>
                </a:solidFill>
              </a:rPr>
              <a:t>App Service minimum TLS 1.2</a:t>
            </a:r>
            <a:endParaRPr lang="en-US" sz="1400" dirty="0"/>
          </a:p>
          <a:p>
            <a:pPr indent="0" marL="0">
              <a:spcBef>
                <a:spcPts val="500"/>
              </a:spcBef>
              <a:buNone/>
            </a:pPr>
            <a:r>
              <a:rPr lang="en-US" sz="1200" dirty="0">
                <a:solidFill>
                  <a:schemeClr val="accent6"/>
                </a:solidFill>
              </a:rPr>
              <a:t>App Service configurations requiring TLS 1.2 or newer.</a:t>
            </a:r>
            <a:endParaRPr lang="en-US" sz="1400" dirty="0"/>
          </a:p>
        </p:txBody>
      </p:sp>
      <p:sp>
        <p:nvSpPr>
          <p:cNvPr id="13" name="F4 card"/>
          <p:cNvSpPr/>
          <p:nvPr/>
        </p:nvSpPr>
        <p:spPr>
          <a:xfrm>
            <a:off x="548640" y="3918204"/>
            <a:ext cx="3515258" cy="2043684"/>
          </a:xfrm>
          <a:prstGeom prst="roundRect">
            <a:avLst>
              <a:gd name="adj" fmla="val 3579"/>
            </a:avLst>
          </a:prstGeom>
          <a:solidFill>
            <a:schemeClr val="bg2"/>
          </a:solidFill>
          <a:ln w="12700">
            <a:solidFill>
              <a:schemeClr val="bg2"/>
            </a:solidFill>
            <a:prstDash val="solid"/>
          </a:ln>
        </p:spPr>
      </p:sp>
      <p:sp>
        <p:nvSpPr>
          <p:cNvPr id="14" name="F4 tag"/>
          <p:cNvSpPr txBox="1"/>
          <p:nvPr/>
        </p:nvSpPr>
        <p:spPr>
          <a:xfrm>
            <a:off x="731520" y="411937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F4</a:t>
            </a:r>
            <a:endParaRPr lang="en-US" sz="1300" dirty="0"/>
          </a:p>
        </p:txBody>
      </p:sp>
      <p:sp>
        <p:nvSpPr>
          <p:cNvPr id="15" name="F4 Anonymous blob access disabled"/>
          <p:cNvSpPr txBox="1"/>
          <p:nvPr/>
        </p:nvSpPr>
        <p:spPr>
          <a:xfrm>
            <a:off x="1371600" y="4101084"/>
            <a:ext cx="2527706" cy="1751076"/>
          </a:xfrm>
          <a:prstGeom prst="rect">
            <a:avLst/>
          </a:prstGeom>
          <a:noFill/>
          <a:ln/>
        </p:spPr>
        <p:txBody>
          <a:bodyPr wrap="square" lIns="0" tIns="0" rIns="0" bIns="0" rtlCol="0" anchor="t"/>
          <a:lstStyle/>
          <a:p>
            <a:pPr indent="0" marL="0">
              <a:buNone/>
            </a:pPr>
            <a:r>
              <a:rPr lang="en-US" sz="1400" b="1" dirty="0">
                <a:solidFill>
                  <a:schemeClr val="tx2"/>
                </a:solidFill>
              </a:rPr>
              <a:t>Anonymous blob access disabled</a:t>
            </a:r>
            <a:endParaRPr lang="en-US" sz="1400" dirty="0"/>
          </a:p>
          <a:p>
            <a:pPr indent="0" marL="0">
              <a:spcBef>
                <a:spcPts val="500"/>
              </a:spcBef>
              <a:buNone/>
            </a:pPr>
            <a:r>
              <a:rPr lang="en-US" sz="1200" dirty="0">
                <a:solidFill>
                  <a:schemeClr val="accent6"/>
                </a:solidFill>
              </a:rPr>
              <a:t>Storage accounts with account-level anonymous access disabled.</a:t>
            </a:r>
            <a:endParaRPr lang="en-US" sz="1400" dirty="0"/>
          </a:p>
        </p:txBody>
      </p:sp>
      <p:sp>
        <p:nvSpPr>
          <p:cNvPr id="16" name="F5 card"/>
          <p:cNvSpPr/>
          <p:nvPr/>
        </p:nvSpPr>
        <p:spPr>
          <a:xfrm>
            <a:off x="4338218" y="3918204"/>
            <a:ext cx="3515258" cy="2043684"/>
          </a:xfrm>
          <a:prstGeom prst="roundRect">
            <a:avLst>
              <a:gd name="adj" fmla="val 3579"/>
            </a:avLst>
          </a:prstGeom>
          <a:solidFill>
            <a:schemeClr val="bg2"/>
          </a:solidFill>
          <a:ln w="12700">
            <a:solidFill>
              <a:schemeClr val="bg2"/>
            </a:solidFill>
            <a:prstDash val="solid"/>
          </a:ln>
        </p:spPr>
      </p:sp>
      <p:sp>
        <p:nvSpPr>
          <p:cNvPr id="17" name="F5 tag"/>
          <p:cNvSpPr txBox="1"/>
          <p:nvPr/>
        </p:nvSpPr>
        <p:spPr>
          <a:xfrm>
            <a:off x="4521098" y="411937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F5</a:t>
            </a:r>
            <a:endParaRPr lang="en-US" sz="1300" dirty="0"/>
          </a:p>
        </p:txBody>
      </p:sp>
      <p:sp>
        <p:nvSpPr>
          <p:cNvPr id="18" name="F5 Network protection active for egress and DNS monitoring"/>
          <p:cNvSpPr txBox="1"/>
          <p:nvPr/>
        </p:nvSpPr>
        <p:spPr>
          <a:xfrm>
            <a:off x="5161178" y="4101084"/>
            <a:ext cx="2527706" cy="1751076"/>
          </a:xfrm>
          <a:prstGeom prst="rect">
            <a:avLst/>
          </a:prstGeom>
          <a:noFill/>
          <a:ln/>
        </p:spPr>
        <p:txBody>
          <a:bodyPr wrap="square" lIns="0" tIns="0" rIns="0" bIns="0" rtlCol="0" anchor="t"/>
          <a:lstStyle/>
          <a:p>
            <a:pPr indent="0" marL="0">
              <a:buNone/>
            </a:pPr>
            <a:r>
              <a:rPr lang="en-US" sz="1400" b="1" dirty="0">
                <a:solidFill>
                  <a:schemeClr val="tx2"/>
                </a:solidFill>
              </a:rPr>
              <a:t>Network protection active for egress and DNS monitoring</a:t>
            </a:r>
            <a:endParaRPr lang="en-US" sz="1400" dirty="0"/>
          </a:p>
          <a:p>
            <a:pPr indent="0" marL="0">
              <a:spcBef>
                <a:spcPts val="500"/>
              </a:spcBef>
              <a:buNone/>
            </a:pPr>
            <a:r>
              <a:rPr lang="en-US" sz="1200" dirty="0">
                <a:solidFill>
                  <a:schemeClr val="accent6"/>
                </a:solidFill>
              </a:rPr>
              <a:t>Onboarded Windows devices with network protection in block mode. The Sentinel tunneling and beaconing rules are confirmed in the review worksheet.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Network and boundary</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Defense in depth · 5 controls · Layered on afterward and sequenced with each client on the roadmap</a:t>
            </a:r>
            <a:endParaRPr lang="en-US" sz="1600" dirty="0"/>
          </a:p>
        </p:txBody>
      </p:sp>
      <p:sp>
        <p:nvSpPr>
          <p:cNvPr id="4" name="D1 card"/>
          <p:cNvSpPr/>
          <p:nvPr/>
        </p:nvSpPr>
        <p:spPr>
          <a:xfrm>
            <a:off x="548640" y="1600200"/>
            <a:ext cx="3515258" cy="1819656"/>
          </a:xfrm>
          <a:prstGeom prst="roundRect">
            <a:avLst>
              <a:gd name="adj" fmla="val 4020"/>
            </a:avLst>
          </a:prstGeom>
          <a:solidFill>
            <a:schemeClr val="bg2"/>
          </a:solidFill>
          <a:ln w="12700">
            <a:solidFill>
              <a:schemeClr val="bg2"/>
            </a:solidFill>
            <a:prstDash val="solid"/>
          </a:ln>
        </p:spPr>
      </p:sp>
      <p:sp>
        <p:nvSpPr>
          <p:cNvPr id="5" name="D1 tag"/>
          <p:cNvSpPr txBox="1"/>
          <p:nvPr/>
        </p:nvSpPr>
        <p:spPr>
          <a:xfrm>
            <a:off x="731520"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D1</a:t>
            </a:r>
            <a:endParaRPr lang="en-US" sz="1300" dirty="0"/>
          </a:p>
        </p:txBody>
      </p:sp>
      <p:sp>
        <p:nvSpPr>
          <p:cNvPr id="6" name="D1 Workload subnets protected by segmentation"/>
          <p:cNvSpPr txBox="1"/>
          <p:nvPr/>
        </p:nvSpPr>
        <p:spPr>
          <a:xfrm>
            <a:off x="1371600" y="1783080"/>
            <a:ext cx="2527706" cy="1527048"/>
          </a:xfrm>
          <a:prstGeom prst="rect">
            <a:avLst/>
          </a:prstGeom>
          <a:noFill/>
          <a:ln/>
        </p:spPr>
        <p:txBody>
          <a:bodyPr wrap="square" lIns="0" tIns="0" rIns="0" bIns="0" rtlCol="0" anchor="t"/>
          <a:lstStyle/>
          <a:p>
            <a:pPr indent="0" marL="0">
              <a:buNone/>
            </a:pPr>
            <a:r>
              <a:rPr lang="en-US" sz="1400" b="1" dirty="0">
                <a:solidFill>
                  <a:schemeClr val="tx2"/>
                </a:solidFill>
              </a:rPr>
              <a:t>Workload subnets protected by segmentation</a:t>
            </a:r>
            <a:endParaRPr lang="en-US" sz="1400" dirty="0"/>
          </a:p>
          <a:p>
            <a:pPr indent="0" marL="0">
              <a:spcBef>
                <a:spcPts val="500"/>
              </a:spcBef>
              <a:buNone/>
            </a:pPr>
            <a:r>
              <a:rPr lang="en-US" sz="1200" dirty="0">
                <a:solidFill>
                  <a:schemeClr val="accent6"/>
                </a:solidFill>
              </a:rPr>
              <a:t>Workload subnets with a network security group or a route through the firewall.</a:t>
            </a:r>
            <a:endParaRPr lang="en-US" sz="1400" dirty="0"/>
          </a:p>
        </p:txBody>
      </p:sp>
      <p:sp>
        <p:nvSpPr>
          <p:cNvPr id="7" name="D2 card"/>
          <p:cNvSpPr/>
          <p:nvPr/>
        </p:nvSpPr>
        <p:spPr>
          <a:xfrm>
            <a:off x="4338218" y="1600200"/>
            <a:ext cx="3515258" cy="1819656"/>
          </a:xfrm>
          <a:prstGeom prst="roundRect">
            <a:avLst>
              <a:gd name="adj" fmla="val 4020"/>
            </a:avLst>
          </a:prstGeom>
          <a:solidFill>
            <a:schemeClr val="bg2"/>
          </a:solidFill>
          <a:ln w="12700">
            <a:solidFill>
              <a:schemeClr val="bg2"/>
            </a:solidFill>
            <a:prstDash val="solid"/>
          </a:ln>
        </p:spPr>
      </p:sp>
      <p:sp>
        <p:nvSpPr>
          <p:cNvPr id="8" name="D2 tag"/>
          <p:cNvSpPr txBox="1"/>
          <p:nvPr/>
        </p:nvSpPr>
        <p:spPr>
          <a:xfrm>
            <a:off x="4521098"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D2</a:t>
            </a:r>
            <a:endParaRPr lang="en-US" sz="1300" dirty="0"/>
          </a:p>
        </p:txBody>
      </p:sp>
      <p:sp>
        <p:nvSpPr>
          <p:cNvPr id="9" name="D2 Storage accounts closed to public networks"/>
          <p:cNvSpPr txBox="1"/>
          <p:nvPr/>
        </p:nvSpPr>
        <p:spPr>
          <a:xfrm>
            <a:off x="5161178" y="1783080"/>
            <a:ext cx="2527706" cy="1527048"/>
          </a:xfrm>
          <a:prstGeom prst="rect">
            <a:avLst/>
          </a:prstGeom>
          <a:noFill/>
          <a:ln/>
        </p:spPr>
        <p:txBody>
          <a:bodyPr wrap="square" lIns="0" tIns="0" rIns="0" bIns="0" rtlCol="0" anchor="t"/>
          <a:lstStyle/>
          <a:p>
            <a:pPr indent="0" marL="0">
              <a:buNone/>
            </a:pPr>
            <a:r>
              <a:rPr lang="en-US" sz="1400" b="1" dirty="0">
                <a:solidFill>
                  <a:schemeClr val="tx2"/>
                </a:solidFill>
              </a:rPr>
              <a:t>Storage accounts closed to public networks</a:t>
            </a:r>
            <a:endParaRPr lang="en-US" sz="1400" dirty="0"/>
          </a:p>
          <a:p>
            <a:pPr indent="0" marL="0">
              <a:spcBef>
                <a:spcPts val="500"/>
              </a:spcBef>
              <a:buNone/>
            </a:pPr>
            <a:r>
              <a:rPr lang="en-US" sz="1200" dirty="0">
                <a:solidFill>
                  <a:schemeClr val="accent6"/>
                </a:solidFill>
              </a:rPr>
              <a:t>Storage accounts with public network access disabled.</a:t>
            </a:r>
            <a:endParaRPr lang="en-US" sz="1400" dirty="0"/>
          </a:p>
        </p:txBody>
      </p:sp>
      <p:sp>
        <p:nvSpPr>
          <p:cNvPr id="10" name="D3 card"/>
          <p:cNvSpPr/>
          <p:nvPr/>
        </p:nvSpPr>
        <p:spPr>
          <a:xfrm>
            <a:off x="8127797" y="1600200"/>
            <a:ext cx="3515258" cy="1819656"/>
          </a:xfrm>
          <a:prstGeom prst="roundRect">
            <a:avLst>
              <a:gd name="adj" fmla="val 4020"/>
            </a:avLst>
          </a:prstGeom>
          <a:solidFill>
            <a:schemeClr val="bg2"/>
          </a:solidFill>
          <a:ln w="12700">
            <a:solidFill>
              <a:schemeClr val="bg2"/>
            </a:solidFill>
            <a:prstDash val="solid"/>
          </a:ln>
        </p:spPr>
      </p:sp>
      <p:sp>
        <p:nvSpPr>
          <p:cNvPr id="11" name="D3 tag"/>
          <p:cNvSpPr txBox="1"/>
          <p:nvPr/>
        </p:nvSpPr>
        <p:spPr>
          <a:xfrm>
            <a:off x="8310677"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D3</a:t>
            </a:r>
            <a:endParaRPr lang="en-US" sz="1300" dirty="0"/>
          </a:p>
        </p:txBody>
      </p:sp>
      <p:sp>
        <p:nvSpPr>
          <p:cNvPr id="12" name="D3 Blob containers closed to anonymous access"/>
          <p:cNvSpPr txBox="1"/>
          <p:nvPr/>
        </p:nvSpPr>
        <p:spPr>
          <a:xfrm>
            <a:off x="8950757" y="1783080"/>
            <a:ext cx="2527706" cy="1527048"/>
          </a:xfrm>
          <a:prstGeom prst="rect">
            <a:avLst/>
          </a:prstGeom>
          <a:noFill/>
          <a:ln/>
        </p:spPr>
        <p:txBody>
          <a:bodyPr wrap="square" lIns="0" tIns="0" rIns="0" bIns="0" rtlCol="0" anchor="t"/>
          <a:lstStyle/>
          <a:p>
            <a:pPr indent="0" marL="0">
              <a:buNone/>
            </a:pPr>
            <a:r>
              <a:rPr lang="en-US" sz="1400" b="1" dirty="0">
                <a:solidFill>
                  <a:schemeClr val="tx2"/>
                </a:solidFill>
              </a:rPr>
              <a:t>Blob containers closed to anonymous access</a:t>
            </a:r>
            <a:endParaRPr lang="en-US" sz="1400" dirty="0"/>
          </a:p>
          <a:p>
            <a:pPr indent="0" marL="0">
              <a:spcBef>
                <a:spcPts val="500"/>
              </a:spcBef>
              <a:buNone/>
            </a:pPr>
            <a:r>
              <a:rPr lang="en-US" sz="1200" dirty="0">
                <a:solidFill>
                  <a:schemeClr val="accent6"/>
                </a:solidFill>
              </a:rPr>
              <a:t>Blob containers set to private at the container level, read in every storage account, so they stay closed even if the account-level setting is relaxed.</a:t>
            </a:r>
            <a:endParaRPr lang="en-US" sz="1400" dirty="0"/>
          </a:p>
        </p:txBody>
      </p:sp>
      <p:sp>
        <p:nvSpPr>
          <p:cNvPr id="13" name="D4 card"/>
          <p:cNvSpPr/>
          <p:nvPr/>
        </p:nvSpPr>
        <p:spPr>
          <a:xfrm>
            <a:off x="548640" y="3694176"/>
            <a:ext cx="3515258" cy="1819656"/>
          </a:xfrm>
          <a:prstGeom prst="roundRect">
            <a:avLst>
              <a:gd name="adj" fmla="val 4020"/>
            </a:avLst>
          </a:prstGeom>
          <a:solidFill>
            <a:schemeClr val="bg2"/>
          </a:solidFill>
          <a:ln w="12700">
            <a:solidFill>
              <a:schemeClr val="bg2"/>
            </a:solidFill>
            <a:prstDash val="solid"/>
          </a:ln>
        </p:spPr>
      </p:sp>
      <p:sp>
        <p:nvSpPr>
          <p:cNvPr id="14" name="D4 tag"/>
          <p:cNvSpPr txBox="1"/>
          <p:nvPr/>
        </p:nvSpPr>
        <p:spPr>
          <a:xfrm>
            <a:off x="731520" y="3895344"/>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D4</a:t>
            </a:r>
            <a:endParaRPr lang="en-US" sz="1300" dirty="0"/>
          </a:p>
        </p:txBody>
      </p:sp>
      <p:sp>
        <p:nvSpPr>
          <p:cNvPr id="15" name="D4 Directory traffic signed and channel-bound"/>
          <p:cNvSpPr txBox="1"/>
          <p:nvPr/>
        </p:nvSpPr>
        <p:spPr>
          <a:xfrm>
            <a:off x="1371600" y="3877056"/>
            <a:ext cx="2527706" cy="1527048"/>
          </a:xfrm>
          <a:prstGeom prst="rect">
            <a:avLst/>
          </a:prstGeom>
          <a:noFill/>
          <a:ln/>
        </p:spPr>
        <p:txBody>
          <a:bodyPr wrap="square" lIns="0" tIns="0" rIns="0" bIns="0" rtlCol="0" anchor="t"/>
          <a:lstStyle/>
          <a:p>
            <a:pPr indent="0" marL="0">
              <a:buNone/>
            </a:pPr>
            <a:r>
              <a:rPr lang="en-US" sz="1400" b="1" dirty="0">
                <a:solidFill>
                  <a:schemeClr val="tx2"/>
                </a:solidFill>
              </a:rPr>
              <a:t>Directory traffic signed and channel-bound</a:t>
            </a:r>
            <a:endParaRPr lang="en-US" sz="1400" dirty="0"/>
          </a:p>
          <a:p>
            <a:pPr indent="0" marL="0">
              <a:spcBef>
                <a:spcPts val="500"/>
              </a:spcBef>
              <a:buNone/>
            </a:pPr>
            <a:r>
              <a:rPr lang="en-US" sz="1200" dirty="0">
                <a:solidFill>
                  <a:schemeClr val="accent6"/>
                </a:solidFill>
              </a:rPr>
              <a:t>Domain controllers requiring LDAP server signing and channel binding.</a:t>
            </a:r>
            <a:endParaRPr lang="en-US" sz="1400" dirty="0"/>
          </a:p>
        </p:txBody>
      </p:sp>
      <p:sp>
        <p:nvSpPr>
          <p:cNvPr id="16" name="D5 card"/>
          <p:cNvSpPr/>
          <p:nvPr/>
        </p:nvSpPr>
        <p:spPr>
          <a:xfrm>
            <a:off x="4338218" y="3694176"/>
            <a:ext cx="3515258" cy="1819656"/>
          </a:xfrm>
          <a:prstGeom prst="roundRect">
            <a:avLst>
              <a:gd name="adj" fmla="val 4020"/>
            </a:avLst>
          </a:prstGeom>
          <a:solidFill>
            <a:schemeClr val="bg2"/>
          </a:solidFill>
          <a:ln w="12700">
            <a:solidFill>
              <a:schemeClr val="bg2"/>
            </a:solidFill>
            <a:prstDash val="solid"/>
          </a:ln>
        </p:spPr>
      </p:sp>
      <p:sp>
        <p:nvSpPr>
          <p:cNvPr id="17" name="D5 tag"/>
          <p:cNvSpPr txBox="1"/>
          <p:nvPr/>
        </p:nvSpPr>
        <p:spPr>
          <a:xfrm>
            <a:off x="4521098" y="3895344"/>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D5</a:t>
            </a:r>
            <a:endParaRPr lang="en-US" sz="1300" dirty="0"/>
          </a:p>
        </p:txBody>
      </p:sp>
      <p:sp>
        <p:nvSpPr>
          <p:cNvPr id="18" name="D5 NTLMv2 enforced with LM and NTLM refused"/>
          <p:cNvSpPr txBox="1"/>
          <p:nvPr/>
        </p:nvSpPr>
        <p:spPr>
          <a:xfrm>
            <a:off x="5161178" y="3877056"/>
            <a:ext cx="2527706" cy="1527048"/>
          </a:xfrm>
          <a:prstGeom prst="rect">
            <a:avLst/>
          </a:prstGeom>
          <a:noFill/>
          <a:ln/>
        </p:spPr>
        <p:txBody>
          <a:bodyPr wrap="square" lIns="0" tIns="0" rIns="0" bIns="0" rtlCol="0" anchor="t"/>
          <a:lstStyle/>
          <a:p>
            <a:pPr indent="0" marL="0">
              <a:buNone/>
            </a:pPr>
            <a:r>
              <a:rPr lang="en-US" sz="1400" b="1" dirty="0">
                <a:solidFill>
                  <a:schemeClr val="tx2"/>
                </a:solidFill>
              </a:rPr>
              <a:t>NTLMv2 enforced with LM and NTLM refused</a:t>
            </a:r>
            <a:endParaRPr lang="en-US" sz="1400" dirty="0"/>
          </a:p>
          <a:p>
            <a:pPr indent="0" marL="0">
              <a:spcBef>
                <a:spcPts val="500"/>
              </a:spcBef>
              <a:buNone/>
            </a:pPr>
            <a:r>
              <a:rPr lang="en-US" sz="1200" dirty="0">
                <a:solidFill>
                  <a:schemeClr val="accent6"/>
                </a:solidFill>
              </a:rPr>
              <a:t>Onboarded Windows devices sending NTLMv2 responses only.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Data protection</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Foundational · 9 controls · Configured at build and held at E at every review</a:t>
            </a:r>
            <a:endParaRPr lang="en-US" sz="1600" dirty="0"/>
          </a:p>
        </p:txBody>
      </p:sp>
      <p:sp>
        <p:nvSpPr>
          <p:cNvPr id="4" name="F1 card"/>
          <p:cNvSpPr/>
          <p:nvPr/>
        </p:nvSpPr>
        <p:spPr>
          <a:xfrm>
            <a:off x="548640" y="1508760"/>
            <a:ext cx="3515258" cy="1542288"/>
          </a:xfrm>
          <a:prstGeom prst="roundRect">
            <a:avLst>
              <a:gd name="adj" fmla="val 4743"/>
            </a:avLst>
          </a:prstGeom>
          <a:solidFill>
            <a:schemeClr val="bg2"/>
          </a:solidFill>
          <a:ln w="12700">
            <a:solidFill>
              <a:schemeClr val="bg2"/>
            </a:solidFill>
            <a:prstDash val="solid"/>
          </a:ln>
        </p:spPr>
      </p:sp>
      <p:sp>
        <p:nvSpPr>
          <p:cNvPr id="5" name="F1 tag"/>
          <p:cNvSpPr txBox="1"/>
          <p:nvPr/>
        </p:nvSpPr>
        <p:spPr>
          <a:xfrm>
            <a:off x="731520" y="170992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F1</a:t>
            </a:r>
            <a:endParaRPr lang="en-US" sz="1300" dirty="0"/>
          </a:p>
        </p:txBody>
      </p:sp>
      <p:sp>
        <p:nvSpPr>
          <p:cNvPr id="6" name="F1 Secure transfer required on storage accounts"/>
          <p:cNvSpPr txBox="1"/>
          <p:nvPr/>
        </p:nvSpPr>
        <p:spPr>
          <a:xfrm>
            <a:off x="1371600" y="1691640"/>
            <a:ext cx="2527706" cy="1249680"/>
          </a:xfrm>
          <a:prstGeom prst="rect">
            <a:avLst/>
          </a:prstGeom>
          <a:noFill/>
          <a:ln/>
        </p:spPr>
        <p:txBody>
          <a:bodyPr wrap="square" lIns="0" tIns="0" rIns="0" bIns="0" rtlCol="0" anchor="t"/>
          <a:lstStyle/>
          <a:p>
            <a:pPr indent="0" marL="0">
              <a:buNone/>
            </a:pPr>
            <a:r>
              <a:rPr lang="en-US" sz="1400" b="1" dirty="0">
                <a:solidFill>
                  <a:schemeClr val="tx2"/>
                </a:solidFill>
              </a:rPr>
              <a:t>Secure transfer required on storage accounts</a:t>
            </a:r>
            <a:endParaRPr lang="en-US" sz="1400" dirty="0"/>
          </a:p>
          <a:p>
            <a:pPr indent="0" marL="0">
              <a:spcBef>
                <a:spcPts val="500"/>
              </a:spcBef>
              <a:buNone/>
            </a:pPr>
            <a:r>
              <a:rPr lang="en-US" sz="1200" dirty="0">
                <a:solidFill>
                  <a:schemeClr val="accent6"/>
                </a:solidFill>
              </a:rPr>
              <a:t>Storage accounts configured to require secure transfer.</a:t>
            </a:r>
            <a:endParaRPr lang="en-US" sz="1400" dirty="0"/>
          </a:p>
        </p:txBody>
      </p:sp>
      <p:sp>
        <p:nvSpPr>
          <p:cNvPr id="7" name="F2 card"/>
          <p:cNvSpPr/>
          <p:nvPr/>
        </p:nvSpPr>
        <p:spPr>
          <a:xfrm>
            <a:off x="4338218" y="1508760"/>
            <a:ext cx="3515258" cy="1542288"/>
          </a:xfrm>
          <a:prstGeom prst="roundRect">
            <a:avLst>
              <a:gd name="adj" fmla="val 4743"/>
            </a:avLst>
          </a:prstGeom>
          <a:solidFill>
            <a:schemeClr val="bg2"/>
          </a:solidFill>
          <a:ln w="12700">
            <a:solidFill>
              <a:schemeClr val="bg2"/>
            </a:solidFill>
            <a:prstDash val="solid"/>
          </a:ln>
        </p:spPr>
      </p:sp>
      <p:sp>
        <p:nvSpPr>
          <p:cNvPr id="8" name="F2 tag"/>
          <p:cNvSpPr txBox="1"/>
          <p:nvPr/>
        </p:nvSpPr>
        <p:spPr>
          <a:xfrm>
            <a:off x="4521098" y="170992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F2</a:t>
            </a:r>
            <a:endParaRPr lang="en-US" sz="1300" dirty="0"/>
          </a:p>
        </p:txBody>
      </p:sp>
      <p:sp>
        <p:nvSpPr>
          <p:cNvPr id="9" name="F2 Storage minimum TLS 1.2"/>
          <p:cNvSpPr txBox="1"/>
          <p:nvPr/>
        </p:nvSpPr>
        <p:spPr>
          <a:xfrm>
            <a:off x="5161178" y="1691640"/>
            <a:ext cx="2527706" cy="1249680"/>
          </a:xfrm>
          <a:prstGeom prst="rect">
            <a:avLst/>
          </a:prstGeom>
          <a:noFill/>
          <a:ln/>
        </p:spPr>
        <p:txBody>
          <a:bodyPr wrap="square" lIns="0" tIns="0" rIns="0" bIns="0" rtlCol="0" anchor="t"/>
          <a:lstStyle/>
          <a:p>
            <a:pPr indent="0" marL="0">
              <a:buNone/>
            </a:pPr>
            <a:r>
              <a:rPr lang="en-US" sz="1400" b="1" dirty="0">
                <a:solidFill>
                  <a:schemeClr val="tx2"/>
                </a:solidFill>
              </a:rPr>
              <a:t>Storage minimum TLS 1.2</a:t>
            </a:r>
            <a:endParaRPr lang="en-US" sz="1400" dirty="0"/>
          </a:p>
          <a:p>
            <a:pPr indent="0" marL="0">
              <a:spcBef>
                <a:spcPts val="500"/>
              </a:spcBef>
              <a:buNone/>
            </a:pPr>
            <a:r>
              <a:rPr lang="en-US" sz="1200" dirty="0">
                <a:solidFill>
                  <a:schemeClr val="accent6"/>
                </a:solidFill>
              </a:rPr>
              <a:t>Storage accounts requiring TLS 1.2 or newer.</a:t>
            </a:r>
            <a:endParaRPr lang="en-US" sz="1400" dirty="0"/>
          </a:p>
        </p:txBody>
      </p:sp>
      <p:sp>
        <p:nvSpPr>
          <p:cNvPr id="10" name="F3 card"/>
          <p:cNvSpPr/>
          <p:nvPr/>
        </p:nvSpPr>
        <p:spPr>
          <a:xfrm>
            <a:off x="8127797" y="1508760"/>
            <a:ext cx="3515258" cy="1542288"/>
          </a:xfrm>
          <a:prstGeom prst="roundRect">
            <a:avLst>
              <a:gd name="adj" fmla="val 4743"/>
            </a:avLst>
          </a:prstGeom>
          <a:solidFill>
            <a:schemeClr val="bg2"/>
          </a:solidFill>
          <a:ln w="12700">
            <a:solidFill>
              <a:schemeClr val="bg2"/>
            </a:solidFill>
            <a:prstDash val="solid"/>
          </a:ln>
        </p:spPr>
      </p:sp>
      <p:sp>
        <p:nvSpPr>
          <p:cNvPr id="11" name="F3 tag"/>
          <p:cNvSpPr txBox="1"/>
          <p:nvPr/>
        </p:nvSpPr>
        <p:spPr>
          <a:xfrm>
            <a:off x="8310677" y="170992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F3</a:t>
            </a:r>
            <a:endParaRPr lang="en-US" sz="1300" dirty="0"/>
          </a:p>
        </p:txBody>
      </p:sp>
      <p:sp>
        <p:nvSpPr>
          <p:cNvPr id="12" name="F3 Key Vault soft delete"/>
          <p:cNvSpPr txBox="1"/>
          <p:nvPr/>
        </p:nvSpPr>
        <p:spPr>
          <a:xfrm>
            <a:off x="8950757" y="1691640"/>
            <a:ext cx="2527706" cy="1249680"/>
          </a:xfrm>
          <a:prstGeom prst="rect">
            <a:avLst/>
          </a:prstGeom>
          <a:noFill/>
          <a:ln/>
        </p:spPr>
        <p:txBody>
          <a:bodyPr wrap="square" lIns="0" tIns="0" rIns="0" bIns="0" rtlCol="0" anchor="t"/>
          <a:lstStyle/>
          <a:p>
            <a:pPr indent="0" marL="0">
              <a:buNone/>
            </a:pPr>
            <a:r>
              <a:rPr lang="en-US" sz="1400" b="1" dirty="0">
                <a:solidFill>
                  <a:schemeClr val="tx2"/>
                </a:solidFill>
              </a:rPr>
              <a:t>Key Vault soft delete</a:t>
            </a:r>
            <a:endParaRPr lang="en-US" sz="1400" dirty="0"/>
          </a:p>
          <a:p>
            <a:pPr indent="0" marL="0">
              <a:spcBef>
                <a:spcPts val="500"/>
              </a:spcBef>
              <a:buNone/>
            </a:pPr>
            <a:r>
              <a:rPr lang="en-US" sz="1200" dirty="0">
                <a:solidFill>
                  <a:schemeClr val="accent6"/>
                </a:solidFill>
              </a:rPr>
              <a:t>Vaults able to recover deleted secrets, keys and certificates.</a:t>
            </a:r>
            <a:endParaRPr lang="en-US" sz="1400" dirty="0"/>
          </a:p>
        </p:txBody>
      </p:sp>
      <p:sp>
        <p:nvSpPr>
          <p:cNvPr id="13" name="F4 card"/>
          <p:cNvSpPr/>
          <p:nvPr/>
        </p:nvSpPr>
        <p:spPr>
          <a:xfrm>
            <a:off x="548640" y="3252216"/>
            <a:ext cx="3515258" cy="1542288"/>
          </a:xfrm>
          <a:prstGeom prst="roundRect">
            <a:avLst>
              <a:gd name="adj" fmla="val 4743"/>
            </a:avLst>
          </a:prstGeom>
          <a:solidFill>
            <a:schemeClr val="bg2"/>
          </a:solidFill>
          <a:ln w="12700">
            <a:solidFill>
              <a:schemeClr val="bg2"/>
            </a:solidFill>
            <a:prstDash val="solid"/>
          </a:ln>
        </p:spPr>
      </p:sp>
      <p:sp>
        <p:nvSpPr>
          <p:cNvPr id="14" name="F4 tag"/>
          <p:cNvSpPr txBox="1"/>
          <p:nvPr/>
        </p:nvSpPr>
        <p:spPr>
          <a:xfrm>
            <a:off x="731520" y="3453384"/>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F4</a:t>
            </a:r>
            <a:endParaRPr lang="en-US" sz="1300" dirty="0"/>
          </a:p>
        </p:txBody>
      </p:sp>
      <p:sp>
        <p:nvSpPr>
          <p:cNvPr id="15" name="F4 Key Vault purge protection"/>
          <p:cNvSpPr txBox="1"/>
          <p:nvPr/>
        </p:nvSpPr>
        <p:spPr>
          <a:xfrm>
            <a:off x="1371600" y="3435096"/>
            <a:ext cx="2527706" cy="1249680"/>
          </a:xfrm>
          <a:prstGeom prst="rect">
            <a:avLst/>
          </a:prstGeom>
          <a:noFill/>
          <a:ln/>
        </p:spPr>
        <p:txBody>
          <a:bodyPr wrap="square" lIns="0" tIns="0" rIns="0" bIns="0" rtlCol="0" anchor="t"/>
          <a:lstStyle/>
          <a:p>
            <a:pPr indent="0" marL="0">
              <a:buNone/>
            </a:pPr>
            <a:r>
              <a:rPr lang="en-US" sz="1400" b="1" dirty="0">
                <a:solidFill>
                  <a:schemeClr val="tx2"/>
                </a:solidFill>
              </a:rPr>
              <a:t>Key Vault purge protection</a:t>
            </a:r>
            <a:endParaRPr lang="en-US" sz="1400" dirty="0"/>
          </a:p>
          <a:p>
            <a:pPr indent="0" marL="0">
              <a:spcBef>
                <a:spcPts val="500"/>
              </a:spcBef>
              <a:buNone/>
            </a:pPr>
            <a:r>
              <a:rPr lang="en-US" sz="1200" dirty="0">
                <a:solidFill>
                  <a:schemeClr val="accent6"/>
                </a:solidFill>
              </a:rPr>
              <a:t>Vaults protected against permanent deletion during the retention period.</a:t>
            </a:r>
            <a:endParaRPr lang="en-US" sz="1400" dirty="0"/>
          </a:p>
        </p:txBody>
      </p:sp>
      <p:sp>
        <p:nvSpPr>
          <p:cNvPr id="16" name="F5 card"/>
          <p:cNvSpPr/>
          <p:nvPr/>
        </p:nvSpPr>
        <p:spPr>
          <a:xfrm>
            <a:off x="4338218" y="3252216"/>
            <a:ext cx="3515258" cy="1542288"/>
          </a:xfrm>
          <a:prstGeom prst="roundRect">
            <a:avLst>
              <a:gd name="adj" fmla="val 4743"/>
            </a:avLst>
          </a:prstGeom>
          <a:solidFill>
            <a:schemeClr val="bg2"/>
          </a:solidFill>
          <a:ln w="12700">
            <a:solidFill>
              <a:schemeClr val="bg2"/>
            </a:solidFill>
            <a:prstDash val="solid"/>
          </a:ln>
        </p:spPr>
      </p:sp>
      <p:sp>
        <p:nvSpPr>
          <p:cNvPr id="17" name="F5 tag"/>
          <p:cNvSpPr txBox="1"/>
          <p:nvPr/>
        </p:nvSpPr>
        <p:spPr>
          <a:xfrm>
            <a:off x="4521098" y="3453384"/>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F5</a:t>
            </a:r>
            <a:endParaRPr lang="en-US" sz="1300" dirty="0"/>
          </a:p>
        </p:txBody>
      </p:sp>
      <p:sp>
        <p:nvSpPr>
          <p:cNvPr id="18" name="F5 Managed disks encrypted at rest"/>
          <p:cNvSpPr txBox="1"/>
          <p:nvPr/>
        </p:nvSpPr>
        <p:spPr>
          <a:xfrm>
            <a:off x="5161178" y="3435096"/>
            <a:ext cx="2527706" cy="1249680"/>
          </a:xfrm>
          <a:prstGeom prst="rect">
            <a:avLst/>
          </a:prstGeom>
          <a:noFill/>
          <a:ln/>
        </p:spPr>
        <p:txBody>
          <a:bodyPr wrap="square" lIns="0" tIns="0" rIns="0" bIns="0" rtlCol="0" anchor="t"/>
          <a:lstStyle/>
          <a:p>
            <a:pPr indent="0" marL="0">
              <a:buNone/>
            </a:pPr>
            <a:r>
              <a:rPr lang="en-US" sz="1400" b="1" dirty="0">
                <a:solidFill>
                  <a:schemeClr val="tx2"/>
                </a:solidFill>
              </a:rPr>
              <a:t>Managed disks encrypted at rest</a:t>
            </a:r>
            <a:endParaRPr lang="en-US" sz="1400" dirty="0"/>
          </a:p>
          <a:p>
            <a:pPr indent="0" marL="0">
              <a:spcBef>
                <a:spcPts val="500"/>
              </a:spcBef>
              <a:buNone/>
            </a:pPr>
            <a:r>
              <a:rPr lang="en-US" sz="1200" dirty="0">
                <a:solidFill>
                  <a:schemeClr val="accent6"/>
                </a:solidFill>
              </a:rPr>
              <a:t>Managed disks encrypted with platform or customer managed keys.</a:t>
            </a:r>
            <a:endParaRPr lang="en-US" sz="1400" dirty="0"/>
          </a:p>
        </p:txBody>
      </p:sp>
      <p:sp>
        <p:nvSpPr>
          <p:cNvPr id="19" name="F6 card"/>
          <p:cNvSpPr/>
          <p:nvPr/>
        </p:nvSpPr>
        <p:spPr>
          <a:xfrm>
            <a:off x="8127797" y="3252216"/>
            <a:ext cx="3515258" cy="1542288"/>
          </a:xfrm>
          <a:prstGeom prst="roundRect">
            <a:avLst>
              <a:gd name="adj" fmla="val 4743"/>
            </a:avLst>
          </a:prstGeom>
          <a:solidFill>
            <a:schemeClr val="bg2"/>
          </a:solidFill>
          <a:ln w="12700">
            <a:solidFill>
              <a:schemeClr val="bg2"/>
            </a:solidFill>
            <a:prstDash val="solid"/>
          </a:ln>
        </p:spPr>
      </p:sp>
      <p:sp>
        <p:nvSpPr>
          <p:cNvPr id="20" name="F6 tag"/>
          <p:cNvSpPr txBox="1"/>
          <p:nvPr/>
        </p:nvSpPr>
        <p:spPr>
          <a:xfrm>
            <a:off x="8310677" y="3453384"/>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F6</a:t>
            </a:r>
            <a:endParaRPr lang="en-US" sz="1300" dirty="0"/>
          </a:p>
        </p:txBody>
      </p:sp>
      <p:sp>
        <p:nvSpPr>
          <p:cNvPr id="21" name="F6 Safe Links scanning on mail, Teams and Office"/>
          <p:cNvSpPr txBox="1"/>
          <p:nvPr/>
        </p:nvSpPr>
        <p:spPr>
          <a:xfrm>
            <a:off x="8950757" y="3435096"/>
            <a:ext cx="2527706" cy="1249680"/>
          </a:xfrm>
          <a:prstGeom prst="rect">
            <a:avLst/>
          </a:prstGeom>
          <a:noFill/>
          <a:ln/>
        </p:spPr>
        <p:txBody>
          <a:bodyPr wrap="square" lIns="0" tIns="0" rIns="0" bIns="0" rtlCol="0" anchor="t"/>
          <a:lstStyle/>
          <a:p>
            <a:pPr indent="0" marL="0">
              <a:buNone/>
            </a:pPr>
            <a:r>
              <a:rPr lang="en-US" sz="1400" b="1" dirty="0">
                <a:solidFill>
                  <a:schemeClr val="tx2"/>
                </a:solidFill>
              </a:rPr>
              <a:t>Safe Links scanning on mail, Teams and Office</a:t>
            </a:r>
            <a:endParaRPr lang="en-US" sz="1400" dirty="0"/>
          </a:p>
          <a:p>
            <a:pPr indent="0" marL="0">
              <a:spcBef>
                <a:spcPts val="500"/>
              </a:spcBef>
              <a:buNone/>
            </a:pPr>
            <a:r>
              <a:rPr lang="en-US" sz="1200" dirty="0">
                <a:solidFill>
                  <a:schemeClr val="accent6"/>
                </a:solidFill>
              </a:rPr>
              <a:t>At least one Safe Links policy covers mail, Teams and Office.</a:t>
            </a:r>
            <a:endParaRPr lang="en-US" sz="1400" dirty="0"/>
          </a:p>
        </p:txBody>
      </p:sp>
      <p:sp>
        <p:nvSpPr>
          <p:cNvPr id="22" name="F7 card"/>
          <p:cNvSpPr/>
          <p:nvPr/>
        </p:nvSpPr>
        <p:spPr>
          <a:xfrm>
            <a:off x="548640" y="4995672"/>
            <a:ext cx="3515258" cy="1542288"/>
          </a:xfrm>
          <a:prstGeom prst="roundRect">
            <a:avLst>
              <a:gd name="adj" fmla="val 4743"/>
            </a:avLst>
          </a:prstGeom>
          <a:solidFill>
            <a:schemeClr val="bg2"/>
          </a:solidFill>
          <a:ln w="12700">
            <a:solidFill>
              <a:schemeClr val="bg2"/>
            </a:solidFill>
            <a:prstDash val="solid"/>
          </a:ln>
        </p:spPr>
      </p:sp>
      <p:sp>
        <p:nvSpPr>
          <p:cNvPr id="23" name="F7 tag"/>
          <p:cNvSpPr txBox="1"/>
          <p:nvPr/>
        </p:nvSpPr>
        <p:spPr>
          <a:xfrm>
            <a:off x="731520" y="5196840"/>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F7</a:t>
            </a:r>
            <a:endParaRPr lang="en-US" sz="1300" dirty="0"/>
          </a:p>
        </p:txBody>
      </p:sp>
      <p:sp>
        <p:nvSpPr>
          <p:cNvPr id="24" name="F7 Safe Attachments blocking malicious files"/>
          <p:cNvSpPr txBox="1"/>
          <p:nvPr/>
        </p:nvSpPr>
        <p:spPr>
          <a:xfrm>
            <a:off x="1371600" y="5178552"/>
            <a:ext cx="2527706" cy="1249680"/>
          </a:xfrm>
          <a:prstGeom prst="rect">
            <a:avLst/>
          </a:prstGeom>
          <a:noFill/>
          <a:ln/>
        </p:spPr>
        <p:txBody>
          <a:bodyPr wrap="square" lIns="0" tIns="0" rIns="0" bIns="0" rtlCol="0" anchor="t"/>
          <a:lstStyle/>
          <a:p>
            <a:pPr indent="0" marL="0">
              <a:buNone/>
            </a:pPr>
            <a:r>
              <a:rPr lang="en-US" sz="1400" b="1" dirty="0">
                <a:solidFill>
                  <a:schemeClr val="tx2"/>
                </a:solidFill>
              </a:rPr>
              <a:t>Safe Attachments blocking malicious files</a:t>
            </a:r>
            <a:endParaRPr lang="en-US" sz="1400" dirty="0"/>
          </a:p>
          <a:p>
            <a:pPr indent="0" marL="0">
              <a:spcBef>
                <a:spcPts val="500"/>
              </a:spcBef>
              <a:buNone/>
            </a:pPr>
            <a:r>
              <a:rPr lang="en-US" sz="1200" dirty="0">
                <a:solidFill>
                  <a:schemeClr val="accent6"/>
                </a:solidFill>
              </a:rPr>
              <a:t>At least one enabled Safe Attachments policy blocks or replaces malicious attachments.</a:t>
            </a:r>
            <a:endParaRPr lang="en-US" sz="1400" dirty="0"/>
          </a:p>
        </p:txBody>
      </p:sp>
      <p:sp>
        <p:nvSpPr>
          <p:cNvPr id="25" name="F8 card"/>
          <p:cNvSpPr/>
          <p:nvPr/>
        </p:nvSpPr>
        <p:spPr>
          <a:xfrm>
            <a:off x="4338218" y="4995672"/>
            <a:ext cx="3515258" cy="1542288"/>
          </a:xfrm>
          <a:prstGeom prst="roundRect">
            <a:avLst>
              <a:gd name="adj" fmla="val 4743"/>
            </a:avLst>
          </a:prstGeom>
          <a:solidFill>
            <a:schemeClr val="bg2"/>
          </a:solidFill>
          <a:ln w="12700">
            <a:solidFill>
              <a:schemeClr val="bg2"/>
            </a:solidFill>
            <a:prstDash val="solid"/>
          </a:ln>
        </p:spPr>
      </p:sp>
      <p:sp>
        <p:nvSpPr>
          <p:cNvPr id="26" name="F8 tag"/>
          <p:cNvSpPr txBox="1"/>
          <p:nvPr/>
        </p:nvSpPr>
        <p:spPr>
          <a:xfrm>
            <a:off x="4521098" y="5196840"/>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F8</a:t>
            </a:r>
            <a:endParaRPr lang="en-US" sz="1300" dirty="0"/>
          </a:p>
        </p:txBody>
      </p:sp>
      <p:sp>
        <p:nvSpPr>
          <p:cNvPr id="27" name="F8 Malicious mail removed after delivery"/>
          <p:cNvSpPr txBox="1"/>
          <p:nvPr/>
        </p:nvSpPr>
        <p:spPr>
          <a:xfrm>
            <a:off x="5161178" y="5178552"/>
            <a:ext cx="2527706" cy="1249680"/>
          </a:xfrm>
          <a:prstGeom prst="rect">
            <a:avLst/>
          </a:prstGeom>
          <a:noFill/>
          <a:ln/>
        </p:spPr>
        <p:txBody>
          <a:bodyPr wrap="square" lIns="0" tIns="0" rIns="0" bIns="0" rtlCol="0" anchor="t"/>
          <a:lstStyle/>
          <a:p>
            <a:pPr indent="0" marL="0">
              <a:buNone/>
            </a:pPr>
            <a:r>
              <a:rPr lang="en-US" sz="1400" b="1" dirty="0">
                <a:solidFill>
                  <a:schemeClr val="tx2"/>
                </a:solidFill>
              </a:rPr>
              <a:t>Malicious mail removed after delivery</a:t>
            </a:r>
            <a:endParaRPr lang="en-US" sz="1400" dirty="0"/>
          </a:p>
          <a:p>
            <a:pPr indent="0" marL="0">
              <a:spcBef>
                <a:spcPts val="500"/>
              </a:spcBef>
              <a:buNone/>
            </a:pPr>
            <a:r>
              <a:rPr lang="en-US" sz="1200" dirty="0">
                <a:solidFill>
                  <a:schemeClr val="accent6"/>
                </a:solidFill>
              </a:rPr>
              <a:t>Post-delivery removals of malicious mail in the last 30 days.</a:t>
            </a:r>
            <a:endParaRPr lang="en-US" sz="1400" dirty="0"/>
          </a:p>
        </p:txBody>
      </p:sp>
      <p:sp>
        <p:nvSpPr>
          <p:cNvPr id="28" name="F9 card"/>
          <p:cNvSpPr/>
          <p:nvPr/>
        </p:nvSpPr>
        <p:spPr>
          <a:xfrm>
            <a:off x="8127797" y="4995672"/>
            <a:ext cx="3515258" cy="1542288"/>
          </a:xfrm>
          <a:prstGeom prst="roundRect">
            <a:avLst>
              <a:gd name="adj" fmla="val 4743"/>
            </a:avLst>
          </a:prstGeom>
          <a:solidFill>
            <a:schemeClr val="bg2"/>
          </a:solidFill>
          <a:ln w="12700">
            <a:solidFill>
              <a:schemeClr val="bg2"/>
            </a:solidFill>
            <a:prstDash val="solid"/>
          </a:ln>
        </p:spPr>
      </p:sp>
      <p:sp>
        <p:nvSpPr>
          <p:cNvPr id="29" name="F9 tag"/>
          <p:cNvSpPr txBox="1"/>
          <p:nvPr/>
        </p:nvSpPr>
        <p:spPr>
          <a:xfrm>
            <a:off x="8310677" y="5196840"/>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F9</a:t>
            </a:r>
            <a:endParaRPr lang="en-US" sz="1300" dirty="0"/>
          </a:p>
        </p:txBody>
      </p:sp>
      <p:sp>
        <p:nvSpPr>
          <p:cNvPr id="30" name="F9 Zero-hour auto purge enabled for malware, spam and phishing"/>
          <p:cNvSpPr txBox="1"/>
          <p:nvPr/>
        </p:nvSpPr>
        <p:spPr>
          <a:xfrm>
            <a:off x="8950757" y="5178552"/>
            <a:ext cx="2527706" cy="1249680"/>
          </a:xfrm>
          <a:prstGeom prst="rect">
            <a:avLst/>
          </a:prstGeom>
          <a:noFill/>
          <a:ln/>
        </p:spPr>
        <p:txBody>
          <a:bodyPr wrap="square" lIns="0" tIns="0" rIns="0" bIns="0" rtlCol="0" anchor="t"/>
          <a:lstStyle/>
          <a:p>
            <a:pPr indent="0" marL="0">
              <a:buNone/>
            </a:pPr>
            <a:r>
              <a:rPr lang="en-US" sz="1400" b="1" dirty="0">
                <a:solidFill>
                  <a:schemeClr val="tx2"/>
                </a:solidFill>
              </a:rPr>
              <a:t>Zero-hour auto purge enabled for malware, spam and phishing</a:t>
            </a:r>
            <a:endParaRPr lang="en-US" sz="1400" dirty="0"/>
          </a:p>
          <a:p>
            <a:pPr indent="0" marL="0">
              <a:spcBef>
                <a:spcPts val="500"/>
              </a:spcBef>
              <a:buNone/>
            </a:pPr>
            <a:r>
              <a:rPr lang="en-US" sz="1200" dirty="0">
                <a:solidFill>
                  <a:schemeClr val="accent6"/>
                </a:solidFill>
              </a:rPr>
              <a:t>Every malware and content filter policy keeps zero-hour auto purge 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Data protection</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Defense in depth · 4 controls · Layered on afterward and sequenced with each client on the roadmap</a:t>
            </a:r>
            <a:endParaRPr lang="en-US" sz="1600" dirty="0"/>
          </a:p>
        </p:txBody>
      </p:sp>
      <p:sp>
        <p:nvSpPr>
          <p:cNvPr id="4" name="D1 card"/>
          <p:cNvSpPr/>
          <p:nvPr/>
        </p:nvSpPr>
        <p:spPr>
          <a:xfrm>
            <a:off x="548640" y="1600200"/>
            <a:ext cx="3515258" cy="1495044"/>
          </a:xfrm>
          <a:prstGeom prst="roundRect">
            <a:avLst>
              <a:gd name="adj" fmla="val 4893"/>
            </a:avLst>
          </a:prstGeom>
          <a:solidFill>
            <a:schemeClr val="bg2"/>
          </a:solidFill>
          <a:ln w="12700">
            <a:solidFill>
              <a:schemeClr val="bg2"/>
            </a:solidFill>
            <a:prstDash val="solid"/>
          </a:ln>
        </p:spPr>
      </p:sp>
      <p:sp>
        <p:nvSpPr>
          <p:cNvPr id="5" name="D1 tag"/>
          <p:cNvSpPr txBox="1"/>
          <p:nvPr/>
        </p:nvSpPr>
        <p:spPr>
          <a:xfrm>
            <a:off x="731520"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D1</a:t>
            </a:r>
            <a:endParaRPr lang="en-US" sz="1300" dirty="0"/>
          </a:p>
        </p:txBody>
      </p:sp>
      <p:sp>
        <p:nvSpPr>
          <p:cNvPr id="6" name="D1 Key Vault access governed by role-based access control"/>
          <p:cNvSpPr txBox="1"/>
          <p:nvPr/>
        </p:nvSpPr>
        <p:spPr>
          <a:xfrm>
            <a:off x="1371600" y="1783080"/>
            <a:ext cx="2527706" cy="1202436"/>
          </a:xfrm>
          <a:prstGeom prst="rect">
            <a:avLst/>
          </a:prstGeom>
          <a:noFill/>
          <a:ln/>
        </p:spPr>
        <p:txBody>
          <a:bodyPr wrap="square" lIns="0" tIns="0" rIns="0" bIns="0" rtlCol="0" anchor="t"/>
          <a:lstStyle/>
          <a:p>
            <a:pPr indent="0" marL="0">
              <a:buNone/>
            </a:pPr>
            <a:r>
              <a:rPr lang="en-US" sz="1400" b="1" dirty="0">
                <a:solidFill>
                  <a:schemeClr val="tx2"/>
                </a:solidFill>
              </a:rPr>
              <a:t>Key Vault access governed by role-based access control</a:t>
            </a:r>
            <a:endParaRPr lang="en-US" sz="1400" dirty="0"/>
          </a:p>
          <a:p>
            <a:pPr indent="0" marL="0">
              <a:spcBef>
                <a:spcPts val="500"/>
              </a:spcBef>
              <a:buNone/>
            </a:pPr>
            <a:r>
              <a:rPr lang="en-US" sz="1200" dirty="0">
                <a:solidFill>
                  <a:schemeClr val="accent6"/>
                </a:solidFill>
              </a:rPr>
              <a:t>Vaults using the Azure RBAC permission model.</a:t>
            </a:r>
            <a:endParaRPr lang="en-US" sz="1400" dirty="0"/>
          </a:p>
        </p:txBody>
      </p:sp>
      <p:sp>
        <p:nvSpPr>
          <p:cNvPr id="7" name="D2 card"/>
          <p:cNvSpPr/>
          <p:nvPr/>
        </p:nvSpPr>
        <p:spPr>
          <a:xfrm>
            <a:off x="4338218" y="1600200"/>
            <a:ext cx="3515258" cy="1495044"/>
          </a:xfrm>
          <a:prstGeom prst="roundRect">
            <a:avLst>
              <a:gd name="adj" fmla="val 4893"/>
            </a:avLst>
          </a:prstGeom>
          <a:solidFill>
            <a:schemeClr val="bg2"/>
          </a:solidFill>
          <a:ln w="12700">
            <a:solidFill>
              <a:schemeClr val="bg2"/>
            </a:solidFill>
            <a:prstDash val="solid"/>
          </a:ln>
        </p:spPr>
      </p:sp>
      <p:sp>
        <p:nvSpPr>
          <p:cNvPr id="8" name="D2 tag"/>
          <p:cNvSpPr txBox="1"/>
          <p:nvPr/>
        </p:nvSpPr>
        <p:spPr>
          <a:xfrm>
            <a:off x="4521098"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D2</a:t>
            </a:r>
            <a:endParaRPr lang="en-US" sz="1300" dirty="0"/>
          </a:p>
        </p:txBody>
      </p:sp>
      <p:sp>
        <p:nvSpPr>
          <p:cNvPr id="9" name="D2 Azure Backup protecting virtual machines"/>
          <p:cNvSpPr txBox="1"/>
          <p:nvPr/>
        </p:nvSpPr>
        <p:spPr>
          <a:xfrm>
            <a:off x="5161178" y="1783080"/>
            <a:ext cx="2527706" cy="1202436"/>
          </a:xfrm>
          <a:prstGeom prst="rect">
            <a:avLst/>
          </a:prstGeom>
          <a:noFill/>
          <a:ln/>
        </p:spPr>
        <p:txBody>
          <a:bodyPr wrap="square" lIns="0" tIns="0" rIns="0" bIns="0" rtlCol="0" anchor="t"/>
          <a:lstStyle/>
          <a:p>
            <a:pPr indent="0" marL="0">
              <a:buNone/>
            </a:pPr>
            <a:r>
              <a:rPr lang="en-US" sz="1400" b="1" dirty="0">
                <a:solidFill>
                  <a:schemeClr val="tx2"/>
                </a:solidFill>
              </a:rPr>
              <a:t>Azure Backup protecting virtual machines</a:t>
            </a:r>
            <a:endParaRPr lang="en-US" sz="1400" dirty="0"/>
          </a:p>
          <a:p>
            <a:pPr indent="0" marL="0">
              <a:spcBef>
                <a:spcPts val="500"/>
              </a:spcBef>
              <a:buNone/>
            </a:pPr>
            <a:r>
              <a:rPr lang="en-US" sz="1200" dirty="0">
                <a:solidFill>
                  <a:schemeClr val="accent6"/>
                </a:solidFill>
              </a:rPr>
              <a:t>Virtual machines with a protected backup item. Pooled session hosts may be excluded by agreement.</a:t>
            </a:r>
            <a:endParaRPr lang="en-US" sz="1400" dirty="0"/>
          </a:p>
        </p:txBody>
      </p:sp>
      <p:sp>
        <p:nvSpPr>
          <p:cNvPr id="10" name="D3 card"/>
          <p:cNvSpPr/>
          <p:nvPr/>
        </p:nvSpPr>
        <p:spPr>
          <a:xfrm>
            <a:off x="8127797" y="1600200"/>
            <a:ext cx="3515258" cy="1495044"/>
          </a:xfrm>
          <a:prstGeom prst="roundRect">
            <a:avLst>
              <a:gd name="adj" fmla="val 4893"/>
            </a:avLst>
          </a:prstGeom>
          <a:solidFill>
            <a:schemeClr val="bg2"/>
          </a:solidFill>
          <a:ln w="12700">
            <a:solidFill>
              <a:schemeClr val="bg2"/>
            </a:solidFill>
            <a:prstDash val="solid"/>
          </a:ln>
        </p:spPr>
      </p:sp>
      <p:sp>
        <p:nvSpPr>
          <p:cNvPr id="11" name="D3 tag"/>
          <p:cNvSpPr txBox="1"/>
          <p:nvPr/>
        </p:nvSpPr>
        <p:spPr>
          <a:xfrm>
            <a:off x="8310677"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D3</a:t>
            </a:r>
            <a:endParaRPr lang="en-US" sz="1300" dirty="0"/>
          </a:p>
        </p:txBody>
      </p:sp>
      <p:sp>
        <p:nvSpPr>
          <p:cNvPr id="12" name="D3 Collaboration sharing boundaries defined"/>
          <p:cNvSpPr txBox="1"/>
          <p:nvPr/>
        </p:nvSpPr>
        <p:spPr>
          <a:xfrm>
            <a:off x="8950757" y="1783080"/>
            <a:ext cx="2527706" cy="1202436"/>
          </a:xfrm>
          <a:prstGeom prst="rect">
            <a:avLst/>
          </a:prstGeom>
          <a:noFill/>
          <a:ln/>
        </p:spPr>
        <p:txBody>
          <a:bodyPr wrap="square" lIns="0" tIns="0" rIns="0" bIns="0" rtlCol="0" anchor="t"/>
          <a:lstStyle/>
          <a:p>
            <a:pPr indent="0" marL="0">
              <a:buNone/>
            </a:pPr>
            <a:r>
              <a:rPr lang="en-US" sz="1400" b="1" dirty="0">
                <a:solidFill>
                  <a:schemeClr val="tx2"/>
                </a:solidFill>
              </a:rPr>
              <a:t>Collaboration sharing boundaries defined</a:t>
            </a:r>
            <a:endParaRPr lang="en-US" sz="1400" dirty="0"/>
          </a:p>
          <a:p>
            <a:pPr indent="0" marL="0">
              <a:spcBef>
                <a:spcPts val="500"/>
              </a:spcBef>
              <a:buNone/>
            </a:pPr>
            <a:r>
              <a:rPr lang="en-US" sz="1200" dirty="0">
                <a:solidFill>
                  <a:schemeClr val="accent6"/>
                </a:solidFill>
              </a:rPr>
              <a:t>Tenant sharing level below anyone links, with domain restrictions where agreed.</a:t>
            </a:r>
            <a:endParaRPr lang="en-US" sz="1400" dirty="0"/>
          </a:p>
        </p:txBody>
      </p:sp>
      <p:sp>
        <p:nvSpPr>
          <p:cNvPr id="13" name="D4 card"/>
          <p:cNvSpPr/>
          <p:nvPr/>
        </p:nvSpPr>
        <p:spPr>
          <a:xfrm>
            <a:off x="548640" y="3369564"/>
            <a:ext cx="3515258" cy="1495044"/>
          </a:xfrm>
          <a:prstGeom prst="roundRect">
            <a:avLst>
              <a:gd name="adj" fmla="val 4893"/>
            </a:avLst>
          </a:prstGeom>
          <a:solidFill>
            <a:schemeClr val="bg2"/>
          </a:solidFill>
          <a:ln w="12700">
            <a:solidFill>
              <a:schemeClr val="bg2"/>
            </a:solidFill>
            <a:prstDash val="solid"/>
          </a:ln>
        </p:spPr>
      </p:sp>
      <p:sp>
        <p:nvSpPr>
          <p:cNvPr id="14" name="D4 tag"/>
          <p:cNvSpPr txBox="1"/>
          <p:nvPr/>
        </p:nvSpPr>
        <p:spPr>
          <a:xfrm>
            <a:off x="731520" y="3570732"/>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D4</a:t>
            </a:r>
            <a:endParaRPr lang="en-US" sz="1300" dirty="0"/>
          </a:p>
        </p:txBody>
      </p:sp>
      <p:sp>
        <p:nvSpPr>
          <p:cNvPr id="15" name="D4 Endpoint disk encryption enforced on managed devices"/>
          <p:cNvSpPr txBox="1"/>
          <p:nvPr/>
        </p:nvSpPr>
        <p:spPr>
          <a:xfrm>
            <a:off x="1371600" y="3552444"/>
            <a:ext cx="2527706" cy="1202436"/>
          </a:xfrm>
          <a:prstGeom prst="rect">
            <a:avLst/>
          </a:prstGeom>
          <a:noFill/>
          <a:ln/>
        </p:spPr>
        <p:txBody>
          <a:bodyPr wrap="square" lIns="0" tIns="0" rIns="0" bIns="0" rtlCol="0" anchor="t"/>
          <a:lstStyle/>
          <a:p>
            <a:pPr indent="0" marL="0">
              <a:buNone/>
            </a:pPr>
            <a:r>
              <a:rPr lang="en-US" sz="1400" b="1" dirty="0">
                <a:solidFill>
                  <a:schemeClr val="tx2"/>
                </a:solidFill>
              </a:rPr>
              <a:t>Endpoint disk encryption enforced on managed devices</a:t>
            </a:r>
            <a:endParaRPr lang="en-US" sz="1400" dirty="0"/>
          </a:p>
          <a:p>
            <a:pPr indent="0" marL="0">
              <a:spcBef>
                <a:spcPts val="500"/>
              </a:spcBef>
              <a:buNone/>
            </a:pPr>
            <a:r>
              <a:rPr lang="en-US" sz="1200" dirty="0">
                <a:solidFill>
                  <a:schemeClr val="accent6"/>
                </a:solidFill>
              </a:rPr>
              <a:t>Managed Windows and macOS devices reported as encrypted.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Detection and response</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Foundational · 6 controls · Configured at build and held at E at every review</a:t>
            </a:r>
            <a:endParaRPr lang="en-US" sz="1600" dirty="0"/>
          </a:p>
        </p:txBody>
      </p:sp>
      <p:sp>
        <p:nvSpPr>
          <p:cNvPr id="4" name="F1 card"/>
          <p:cNvSpPr/>
          <p:nvPr/>
        </p:nvSpPr>
        <p:spPr>
          <a:xfrm>
            <a:off x="548640" y="1600200"/>
            <a:ext cx="3515258" cy="1860804"/>
          </a:xfrm>
          <a:prstGeom prst="roundRect">
            <a:avLst>
              <a:gd name="adj" fmla="val 3931"/>
            </a:avLst>
          </a:prstGeom>
          <a:solidFill>
            <a:schemeClr val="bg2"/>
          </a:solidFill>
          <a:ln w="12700">
            <a:solidFill>
              <a:schemeClr val="bg2"/>
            </a:solidFill>
            <a:prstDash val="solid"/>
          </a:ln>
        </p:spPr>
      </p:sp>
      <p:sp>
        <p:nvSpPr>
          <p:cNvPr id="5" name="F1 tag"/>
          <p:cNvSpPr txBox="1"/>
          <p:nvPr/>
        </p:nvSpPr>
        <p:spPr>
          <a:xfrm>
            <a:off x="731520"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F1</a:t>
            </a:r>
            <a:endParaRPr lang="en-US" sz="1300" dirty="0"/>
          </a:p>
        </p:txBody>
      </p:sp>
      <p:sp>
        <p:nvSpPr>
          <p:cNvPr id="6" name="F1 Endpoint sensors active on Azure virtual machines"/>
          <p:cNvSpPr txBox="1"/>
          <p:nvPr/>
        </p:nvSpPr>
        <p:spPr>
          <a:xfrm>
            <a:off x="1371600" y="1783080"/>
            <a:ext cx="2527706" cy="1568196"/>
          </a:xfrm>
          <a:prstGeom prst="rect">
            <a:avLst/>
          </a:prstGeom>
          <a:noFill/>
          <a:ln/>
        </p:spPr>
        <p:txBody>
          <a:bodyPr wrap="square" lIns="0" tIns="0" rIns="0" bIns="0" rtlCol="0" anchor="t"/>
          <a:lstStyle/>
          <a:p>
            <a:pPr indent="0" marL="0">
              <a:buNone/>
            </a:pPr>
            <a:r>
              <a:rPr lang="en-US" sz="1400" b="1" dirty="0">
                <a:solidFill>
                  <a:schemeClr val="tx2"/>
                </a:solidFill>
              </a:rPr>
              <a:t>Endpoint sensors active on Azure virtual machines</a:t>
            </a:r>
            <a:endParaRPr lang="en-US" sz="1400" dirty="0"/>
          </a:p>
          <a:p>
            <a:pPr indent="0" marL="0">
              <a:spcBef>
                <a:spcPts val="500"/>
              </a:spcBef>
              <a:buNone/>
            </a:pPr>
            <a:r>
              <a:rPr lang="en-US" sz="1200" dirty="0">
                <a:solidFill>
                  <a:schemeClr val="accent6"/>
                </a:solidFill>
              </a:rPr>
              <a:t>Active sensors among onboarded Azure virtual machines seen in the last 30 days. Workstations and network devices such as firewalls are not part of this measure.</a:t>
            </a:r>
            <a:endParaRPr lang="en-US" sz="1400" dirty="0"/>
          </a:p>
        </p:txBody>
      </p:sp>
      <p:sp>
        <p:nvSpPr>
          <p:cNvPr id="7" name="F2 card"/>
          <p:cNvSpPr/>
          <p:nvPr/>
        </p:nvSpPr>
        <p:spPr>
          <a:xfrm>
            <a:off x="4338218" y="1600200"/>
            <a:ext cx="3515258" cy="1860804"/>
          </a:xfrm>
          <a:prstGeom prst="roundRect">
            <a:avLst>
              <a:gd name="adj" fmla="val 3931"/>
            </a:avLst>
          </a:prstGeom>
          <a:solidFill>
            <a:schemeClr val="bg2"/>
          </a:solidFill>
          <a:ln w="12700">
            <a:solidFill>
              <a:schemeClr val="bg2"/>
            </a:solidFill>
            <a:prstDash val="solid"/>
          </a:ln>
        </p:spPr>
      </p:sp>
      <p:sp>
        <p:nvSpPr>
          <p:cNvPr id="8" name="F2 tag"/>
          <p:cNvSpPr txBox="1"/>
          <p:nvPr/>
        </p:nvSpPr>
        <p:spPr>
          <a:xfrm>
            <a:off x="4521098"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F2</a:t>
            </a:r>
            <a:endParaRPr lang="en-US" sz="1300" dirty="0"/>
          </a:p>
        </p:txBody>
      </p:sp>
      <p:sp>
        <p:nvSpPr>
          <p:cNvPr id="9" name="F2 Cloud workload protection across the resource estate"/>
          <p:cNvSpPr txBox="1"/>
          <p:nvPr/>
        </p:nvSpPr>
        <p:spPr>
          <a:xfrm>
            <a:off x="5161178" y="1783080"/>
            <a:ext cx="2527706" cy="1568196"/>
          </a:xfrm>
          <a:prstGeom prst="rect">
            <a:avLst/>
          </a:prstGeom>
          <a:noFill/>
          <a:ln/>
        </p:spPr>
        <p:txBody>
          <a:bodyPr wrap="square" lIns="0" tIns="0" rIns="0" bIns="0" rtlCol="0" anchor="t"/>
          <a:lstStyle/>
          <a:p>
            <a:pPr indent="0" marL="0">
              <a:buNone/>
            </a:pPr>
            <a:r>
              <a:rPr lang="en-US" sz="1400" b="1" dirty="0">
                <a:solidFill>
                  <a:schemeClr val="tx2"/>
                </a:solidFill>
              </a:rPr>
              <a:t>Cloud workload protection across the resource estate</a:t>
            </a:r>
            <a:endParaRPr lang="en-US" sz="1400" dirty="0"/>
          </a:p>
          <a:p>
            <a:pPr indent="0" marL="0">
              <a:spcBef>
                <a:spcPts val="500"/>
              </a:spcBef>
              <a:buNone/>
            </a:pPr>
            <a:r>
              <a:rPr lang="en-US" sz="1200" dirty="0">
                <a:solidFill>
                  <a:schemeClr val="accent6"/>
                </a:solidFill>
              </a:rPr>
              <a:t>Eligible resources on a Standard Defender for Cloud plan. Subscription plan configuration, estimated.</a:t>
            </a:r>
            <a:endParaRPr lang="en-US" sz="1400" dirty="0"/>
          </a:p>
        </p:txBody>
      </p:sp>
      <p:sp>
        <p:nvSpPr>
          <p:cNvPr id="10" name="F3 card"/>
          <p:cNvSpPr/>
          <p:nvPr/>
        </p:nvSpPr>
        <p:spPr>
          <a:xfrm>
            <a:off x="8127797" y="1600200"/>
            <a:ext cx="3515258" cy="1860804"/>
          </a:xfrm>
          <a:prstGeom prst="roundRect">
            <a:avLst>
              <a:gd name="adj" fmla="val 3931"/>
            </a:avLst>
          </a:prstGeom>
          <a:solidFill>
            <a:schemeClr val="bg2"/>
          </a:solidFill>
          <a:ln w="12700">
            <a:solidFill>
              <a:schemeClr val="bg2"/>
            </a:solidFill>
            <a:prstDash val="solid"/>
          </a:ln>
        </p:spPr>
      </p:sp>
      <p:sp>
        <p:nvSpPr>
          <p:cNvPr id="11" name="F3 tag"/>
          <p:cNvSpPr txBox="1"/>
          <p:nvPr/>
        </p:nvSpPr>
        <p:spPr>
          <a:xfrm>
            <a:off x="8310677" y="1801368"/>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F3</a:t>
            </a:r>
            <a:endParaRPr lang="en-US" sz="1300" dirty="0"/>
          </a:p>
        </p:txBody>
      </p:sp>
      <p:sp>
        <p:nvSpPr>
          <p:cNvPr id="12" name="F3 Domain controller telemetry collected continuously"/>
          <p:cNvSpPr txBox="1"/>
          <p:nvPr/>
        </p:nvSpPr>
        <p:spPr>
          <a:xfrm>
            <a:off x="8950757" y="1783080"/>
            <a:ext cx="2527706" cy="1568196"/>
          </a:xfrm>
          <a:prstGeom prst="rect">
            <a:avLst/>
          </a:prstGeom>
          <a:noFill/>
          <a:ln/>
        </p:spPr>
        <p:txBody>
          <a:bodyPr wrap="square" lIns="0" tIns="0" rIns="0" bIns="0" rtlCol="0" anchor="t"/>
          <a:lstStyle/>
          <a:p>
            <a:pPr indent="0" marL="0">
              <a:buNone/>
            </a:pPr>
            <a:r>
              <a:rPr lang="en-US" sz="1400" b="1" dirty="0">
                <a:solidFill>
                  <a:schemeClr val="tx2"/>
                </a:solidFill>
              </a:rPr>
              <a:t>Domain controller telemetry collected continuously</a:t>
            </a:r>
            <a:endParaRPr lang="en-US" sz="1400" dirty="0"/>
          </a:p>
          <a:p>
            <a:pPr indent="0" marL="0">
              <a:spcBef>
                <a:spcPts val="500"/>
              </a:spcBef>
              <a:buNone/>
            </a:pPr>
            <a:r>
              <a:rPr lang="en-US" sz="1200" dirty="0">
                <a:solidFill>
                  <a:schemeClr val="accent6"/>
                </a:solidFill>
              </a:rPr>
              <a:t>Domain controller security events arriving in the workspace.</a:t>
            </a:r>
            <a:endParaRPr lang="en-US" sz="1400" dirty="0"/>
          </a:p>
        </p:txBody>
      </p:sp>
      <p:sp>
        <p:nvSpPr>
          <p:cNvPr id="13" name="F4 card"/>
          <p:cNvSpPr/>
          <p:nvPr/>
        </p:nvSpPr>
        <p:spPr>
          <a:xfrm>
            <a:off x="548640" y="3735324"/>
            <a:ext cx="3515258" cy="1860804"/>
          </a:xfrm>
          <a:prstGeom prst="roundRect">
            <a:avLst>
              <a:gd name="adj" fmla="val 3931"/>
            </a:avLst>
          </a:prstGeom>
          <a:solidFill>
            <a:schemeClr val="bg2"/>
          </a:solidFill>
          <a:ln w="12700">
            <a:solidFill>
              <a:schemeClr val="bg2"/>
            </a:solidFill>
            <a:prstDash val="solid"/>
          </a:ln>
        </p:spPr>
      </p:sp>
      <p:sp>
        <p:nvSpPr>
          <p:cNvPr id="14" name="F4 tag"/>
          <p:cNvSpPr txBox="1"/>
          <p:nvPr/>
        </p:nvSpPr>
        <p:spPr>
          <a:xfrm>
            <a:off x="731520" y="393649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F4</a:t>
            </a:r>
            <a:endParaRPr lang="en-US" sz="1300" dirty="0"/>
          </a:p>
        </p:txBody>
      </p:sp>
      <p:sp>
        <p:nvSpPr>
          <p:cNvPr id="15" name="F4 Alerts closed with a documented disposition"/>
          <p:cNvSpPr txBox="1"/>
          <p:nvPr/>
        </p:nvSpPr>
        <p:spPr>
          <a:xfrm>
            <a:off x="1371600" y="3918204"/>
            <a:ext cx="2527706" cy="1568196"/>
          </a:xfrm>
          <a:prstGeom prst="rect">
            <a:avLst/>
          </a:prstGeom>
          <a:noFill/>
          <a:ln/>
        </p:spPr>
        <p:txBody>
          <a:bodyPr wrap="square" lIns="0" tIns="0" rIns="0" bIns="0" rtlCol="0" anchor="t"/>
          <a:lstStyle/>
          <a:p>
            <a:pPr indent="0" marL="0">
              <a:buNone/>
            </a:pPr>
            <a:r>
              <a:rPr lang="en-US" sz="1400" b="1" dirty="0">
                <a:solidFill>
                  <a:schemeClr val="tx2"/>
                </a:solidFill>
              </a:rPr>
              <a:t>Alerts closed with a documented disposition</a:t>
            </a:r>
            <a:endParaRPr lang="en-US" sz="1400" dirty="0"/>
          </a:p>
          <a:p>
            <a:pPr indent="0" marL="0">
              <a:spcBef>
                <a:spcPts val="500"/>
              </a:spcBef>
              <a:buNone/>
            </a:pPr>
            <a:r>
              <a:rPr lang="en-US" sz="1200" dirty="0">
                <a:solidFill>
                  <a:schemeClr val="accent6"/>
                </a:solidFill>
              </a:rPr>
              <a:t>Alerts closed in the last 30 days that carry a classification and a closing comment.</a:t>
            </a:r>
            <a:endParaRPr lang="en-US" sz="1400" dirty="0"/>
          </a:p>
        </p:txBody>
      </p:sp>
      <p:sp>
        <p:nvSpPr>
          <p:cNvPr id="16" name="F5 card"/>
          <p:cNvSpPr/>
          <p:nvPr/>
        </p:nvSpPr>
        <p:spPr>
          <a:xfrm>
            <a:off x="4338218" y="3735324"/>
            <a:ext cx="3515258" cy="1860804"/>
          </a:xfrm>
          <a:prstGeom prst="roundRect">
            <a:avLst>
              <a:gd name="adj" fmla="val 3931"/>
            </a:avLst>
          </a:prstGeom>
          <a:solidFill>
            <a:schemeClr val="bg2"/>
          </a:solidFill>
          <a:ln w="12700">
            <a:solidFill>
              <a:schemeClr val="bg2"/>
            </a:solidFill>
            <a:prstDash val="solid"/>
          </a:ln>
        </p:spPr>
      </p:sp>
      <p:sp>
        <p:nvSpPr>
          <p:cNvPr id="17" name="F5 tag"/>
          <p:cNvSpPr txBox="1"/>
          <p:nvPr/>
        </p:nvSpPr>
        <p:spPr>
          <a:xfrm>
            <a:off x="4521098" y="393649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F5</a:t>
            </a:r>
            <a:endParaRPr lang="en-US" sz="1300" dirty="0"/>
          </a:p>
        </p:txBody>
      </p:sp>
      <p:sp>
        <p:nvSpPr>
          <p:cNvPr id="18" name="F5 Defender for Identity sensors healthy on domain controllers"/>
          <p:cNvSpPr txBox="1"/>
          <p:nvPr/>
        </p:nvSpPr>
        <p:spPr>
          <a:xfrm>
            <a:off x="5161178" y="3918204"/>
            <a:ext cx="2527706" cy="1568196"/>
          </a:xfrm>
          <a:prstGeom prst="rect">
            <a:avLst/>
          </a:prstGeom>
          <a:noFill/>
          <a:ln/>
        </p:spPr>
        <p:txBody>
          <a:bodyPr wrap="square" lIns="0" tIns="0" rIns="0" bIns="0" rtlCol="0" anchor="t"/>
          <a:lstStyle/>
          <a:p>
            <a:pPr indent="0" marL="0">
              <a:buNone/>
            </a:pPr>
            <a:r>
              <a:rPr lang="en-US" sz="1400" b="1" dirty="0">
                <a:solidFill>
                  <a:schemeClr val="tx2"/>
                </a:solidFill>
              </a:rPr>
              <a:t>Defender for Identity sensors healthy on domain controllers</a:t>
            </a:r>
            <a:endParaRPr lang="en-US" sz="1400" dirty="0"/>
          </a:p>
          <a:p>
            <a:pPr indent="0" marL="0">
              <a:spcBef>
                <a:spcPts val="500"/>
              </a:spcBef>
              <a:buNone/>
            </a:pPr>
            <a:r>
              <a:rPr lang="en-US" sz="1200" dirty="0">
                <a:solidFill>
                  <a:schemeClr val="accent6"/>
                </a:solidFill>
              </a:rPr>
              <a:t>Sensors reporting healthy, of sensors registered.</a:t>
            </a:r>
            <a:endParaRPr lang="en-US" sz="1400" dirty="0"/>
          </a:p>
        </p:txBody>
      </p:sp>
      <p:sp>
        <p:nvSpPr>
          <p:cNvPr id="19" name="F6 card"/>
          <p:cNvSpPr/>
          <p:nvPr/>
        </p:nvSpPr>
        <p:spPr>
          <a:xfrm>
            <a:off x="8127797" y="3735324"/>
            <a:ext cx="3515258" cy="1860804"/>
          </a:xfrm>
          <a:prstGeom prst="roundRect">
            <a:avLst>
              <a:gd name="adj" fmla="val 3931"/>
            </a:avLst>
          </a:prstGeom>
          <a:solidFill>
            <a:schemeClr val="bg2"/>
          </a:solidFill>
          <a:ln w="12700">
            <a:solidFill>
              <a:schemeClr val="bg2"/>
            </a:solidFill>
            <a:prstDash val="solid"/>
          </a:ln>
        </p:spPr>
      </p:sp>
      <p:sp>
        <p:nvSpPr>
          <p:cNvPr id="20" name="F6 tag"/>
          <p:cNvSpPr txBox="1"/>
          <p:nvPr/>
        </p:nvSpPr>
        <p:spPr>
          <a:xfrm>
            <a:off x="8310677" y="3936492"/>
            <a:ext cx="502920" cy="329184"/>
          </a:xfrm>
          <a:prstGeom prst="roundRect">
            <a:avLst>
              <a:gd name="adj" fmla="val 16667"/>
            </a:avLst>
          </a:prstGeom>
          <a:solidFill>
            <a:schemeClr val="accent2"/>
          </a:solidFill>
          <a:ln/>
        </p:spPr>
        <p:txBody>
          <a:bodyPr wrap="square" lIns="0" tIns="0" rIns="0" bIns="0" rtlCol="0" anchor="ctr"/>
          <a:lstStyle/>
          <a:p>
            <a:pPr algn="ctr" indent="0" marL="0">
              <a:buNone/>
            </a:pPr>
            <a:r>
              <a:rPr lang="en-US" sz="1300" b="1" dirty="0">
                <a:solidFill>
                  <a:schemeClr val="bg1"/>
                </a:solidFill>
              </a:rPr>
              <a:t>F6</a:t>
            </a:r>
            <a:endParaRPr lang="en-US" sz="1300" dirty="0"/>
          </a:p>
        </p:txBody>
      </p:sp>
      <p:sp>
        <p:nvSpPr>
          <p:cNvPr id="21" name="F6 Audit logging initiative compliant across its resources"/>
          <p:cNvSpPr txBox="1"/>
          <p:nvPr/>
        </p:nvSpPr>
        <p:spPr>
          <a:xfrm>
            <a:off x="8950757" y="3918204"/>
            <a:ext cx="2527706" cy="1568196"/>
          </a:xfrm>
          <a:prstGeom prst="rect">
            <a:avLst/>
          </a:prstGeom>
          <a:noFill/>
          <a:ln/>
        </p:spPr>
        <p:txBody>
          <a:bodyPr wrap="square" lIns="0" tIns="0" rIns="0" bIns="0" rtlCol="0" anchor="t"/>
          <a:lstStyle/>
          <a:p>
            <a:pPr indent="0" marL="0">
              <a:buNone/>
            </a:pPr>
            <a:r>
              <a:rPr lang="en-US" sz="1400" b="1" dirty="0">
                <a:solidFill>
                  <a:schemeClr val="tx2"/>
                </a:solidFill>
              </a:rPr>
              <a:t>Audit logging initiative compliant across its resources</a:t>
            </a:r>
            <a:endParaRPr lang="en-US" sz="1400" dirty="0"/>
          </a:p>
          <a:p>
            <a:pPr indent="0" marL="0">
              <a:spcBef>
                <a:spcPts val="500"/>
              </a:spcBef>
              <a:buNone/>
            </a:pPr>
            <a:r>
              <a:rPr lang="en-US" sz="1200" dirty="0">
                <a:solidFill>
                  <a:schemeClr val="accent6"/>
                </a:solidFill>
              </a:rPr>
              <a:t>Resources compliant with the ATMO-MXDR diagnostic logging initiative.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182880"/>
            <a:ext cx="11094415" cy="594360"/>
          </a:xfrm>
          <a:prstGeom prst="rect">
            <a:avLst/>
          </a:prstGeom>
          <a:noFill/>
          <a:ln/>
        </p:spPr>
        <p:txBody>
          <a:bodyPr wrap="square" lIns="0" tIns="0" rIns="0" bIns="0" rtlCol="0" anchor="ctr"/>
          <a:lstStyle/>
          <a:p>
            <a:pPr algn="l" indent="0" marL="0">
              <a:buNone/>
            </a:pPr>
            <a:r>
              <a:rPr lang="en-US" sz="3200" b="1" dirty="0">
                <a:solidFill>
                  <a:schemeClr val="bg1"/>
                </a:solidFill>
              </a:rPr>
              <a:t>Detection and response</a:t>
            </a:r>
            <a:endParaRPr lang="en-US" sz="3200" dirty="0"/>
          </a:p>
        </p:txBody>
      </p:sp>
      <p:sp>
        <p:nvSpPr>
          <p:cNvPr id="3" name="Text 0"/>
          <p:cNvSpPr/>
          <p:nvPr>
            <p:ph idx="102" type="body" hasCustomPrompt="1"/>
          </p:nvPr>
        </p:nvSpPr>
        <p:spPr>
          <a:xfrm>
            <a:off x="548640" y="777240"/>
            <a:ext cx="11094415" cy="365760"/>
          </a:xfrm>
          <a:prstGeom prst="rect">
            <a:avLst/>
          </a:prstGeom>
          <a:noFill/>
          <a:ln/>
        </p:spPr>
        <p:txBody>
          <a:bodyPr wrap="square" lIns="0" tIns="0" rIns="0" bIns="0" rtlCol="0" anchor="ctr"/>
          <a:lstStyle/>
          <a:p>
            <a:pPr algn="l" indent="0" marL="0">
              <a:buNone/>
            </a:pPr>
            <a:r>
              <a:rPr lang="en-US" sz="1600" dirty="0">
                <a:solidFill>
                  <a:schemeClr val="bg2"/>
                </a:solidFill>
              </a:rPr>
              <a:t>Defense in depth · 3 controls · Layered on afterward and sequenced with each client on the roadmap</a:t>
            </a:r>
            <a:endParaRPr lang="en-US" sz="1600" dirty="0"/>
          </a:p>
        </p:txBody>
      </p:sp>
      <p:sp>
        <p:nvSpPr>
          <p:cNvPr id="4" name="D1 card"/>
          <p:cNvSpPr/>
          <p:nvPr/>
        </p:nvSpPr>
        <p:spPr>
          <a:xfrm>
            <a:off x="548640" y="1600200"/>
            <a:ext cx="3515258" cy="1677924"/>
          </a:xfrm>
          <a:prstGeom prst="roundRect">
            <a:avLst>
              <a:gd name="adj" fmla="val 4360"/>
            </a:avLst>
          </a:prstGeom>
          <a:solidFill>
            <a:schemeClr val="bg2"/>
          </a:solidFill>
          <a:ln w="12700">
            <a:solidFill>
              <a:schemeClr val="bg2"/>
            </a:solidFill>
            <a:prstDash val="solid"/>
          </a:ln>
        </p:spPr>
      </p:sp>
      <p:sp>
        <p:nvSpPr>
          <p:cNvPr id="5" name="D1 tag"/>
          <p:cNvSpPr txBox="1"/>
          <p:nvPr/>
        </p:nvSpPr>
        <p:spPr>
          <a:xfrm>
            <a:off x="731520"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D1</a:t>
            </a:r>
            <a:endParaRPr lang="en-US" sz="1300" dirty="0"/>
          </a:p>
        </p:txBody>
      </p:sp>
      <p:sp>
        <p:nvSpPr>
          <p:cNvPr id="6" name="D1 Analytics rules enabled in Sentinel"/>
          <p:cNvSpPr txBox="1"/>
          <p:nvPr/>
        </p:nvSpPr>
        <p:spPr>
          <a:xfrm>
            <a:off x="1371600" y="1783080"/>
            <a:ext cx="2527706" cy="1385316"/>
          </a:xfrm>
          <a:prstGeom prst="rect">
            <a:avLst/>
          </a:prstGeom>
          <a:noFill/>
          <a:ln/>
        </p:spPr>
        <p:txBody>
          <a:bodyPr wrap="square" lIns="0" tIns="0" rIns="0" bIns="0" rtlCol="0" anchor="t"/>
          <a:lstStyle/>
          <a:p>
            <a:pPr indent="0" marL="0">
              <a:buNone/>
            </a:pPr>
            <a:r>
              <a:rPr lang="en-US" sz="1400" b="1" dirty="0">
                <a:solidFill>
                  <a:schemeClr val="tx2"/>
                </a:solidFill>
              </a:rPr>
              <a:t>Analytics rules enabled in Sentinel</a:t>
            </a:r>
            <a:endParaRPr lang="en-US" sz="1400" dirty="0"/>
          </a:p>
          <a:p>
            <a:pPr indent="0" marL="0">
              <a:spcBef>
                <a:spcPts val="500"/>
              </a:spcBef>
              <a:buNone/>
            </a:pPr>
            <a:r>
              <a:rPr lang="en-US" sz="1200" dirty="0">
                <a:solidFill>
                  <a:schemeClr val="accent6"/>
                </a:solidFill>
              </a:rPr>
              <a:t>Enabled analytics rules across all workspaces.</a:t>
            </a:r>
            <a:endParaRPr lang="en-US" sz="1400" dirty="0"/>
          </a:p>
        </p:txBody>
      </p:sp>
      <p:sp>
        <p:nvSpPr>
          <p:cNvPr id="7" name="D2 card"/>
          <p:cNvSpPr/>
          <p:nvPr/>
        </p:nvSpPr>
        <p:spPr>
          <a:xfrm>
            <a:off x="4338218" y="1600200"/>
            <a:ext cx="3515258" cy="1677924"/>
          </a:xfrm>
          <a:prstGeom prst="roundRect">
            <a:avLst>
              <a:gd name="adj" fmla="val 4360"/>
            </a:avLst>
          </a:prstGeom>
          <a:solidFill>
            <a:schemeClr val="bg2"/>
          </a:solidFill>
          <a:ln w="12700">
            <a:solidFill>
              <a:schemeClr val="bg2"/>
            </a:solidFill>
            <a:prstDash val="solid"/>
          </a:ln>
        </p:spPr>
      </p:sp>
      <p:sp>
        <p:nvSpPr>
          <p:cNvPr id="8" name="D2 tag"/>
          <p:cNvSpPr txBox="1"/>
          <p:nvPr/>
        </p:nvSpPr>
        <p:spPr>
          <a:xfrm>
            <a:off x="4521098"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D2</a:t>
            </a:r>
            <a:endParaRPr lang="en-US" sz="1300" dirty="0"/>
          </a:p>
        </p:txBody>
      </p:sp>
      <p:sp>
        <p:nvSpPr>
          <p:cNvPr id="9" name="D2 Threat intelligence indicators ingested tenant-wide"/>
          <p:cNvSpPr txBox="1"/>
          <p:nvPr/>
        </p:nvSpPr>
        <p:spPr>
          <a:xfrm>
            <a:off x="5161178" y="1783080"/>
            <a:ext cx="2527706" cy="1385316"/>
          </a:xfrm>
          <a:prstGeom prst="rect">
            <a:avLst/>
          </a:prstGeom>
          <a:noFill/>
          <a:ln/>
        </p:spPr>
        <p:txBody>
          <a:bodyPr wrap="square" lIns="0" tIns="0" rIns="0" bIns="0" rtlCol="0" anchor="t"/>
          <a:lstStyle/>
          <a:p>
            <a:pPr indent="0" marL="0">
              <a:buNone/>
            </a:pPr>
            <a:r>
              <a:rPr lang="en-US" sz="1400" b="1" dirty="0">
                <a:solidFill>
                  <a:schemeClr val="tx2"/>
                </a:solidFill>
              </a:rPr>
              <a:t>Threat intelligence indicators ingested tenant-wide</a:t>
            </a:r>
            <a:endParaRPr lang="en-US" sz="1400" dirty="0"/>
          </a:p>
          <a:p>
            <a:pPr indent="0" marL="0">
              <a:spcBef>
                <a:spcPts val="500"/>
              </a:spcBef>
              <a:buNone/>
            </a:pPr>
            <a:r>
              <a:rPr lang="en-US" sz="1200" dirty="0">
                <a:solidFill>
                  <a:schemeClr val="accent6"/>
                </a:solidFill>
              </a:rPr>
              <a:t>Threat intelligence indicators available for matching in the workspace.</a:t>
            </a:r>
            <a:endParaRPr lang="en-US" sz="1400" dirty="0"/>
          </a:p>
        </p:txBody>
      </p:sp>
      <p:sp>
        <p:nvSpPr>
          <p:cNvPr id="10" name="D3 card"/>
          <p:cNvSpPr/>
          <p:nvPr/>
        </p:nvSpPr>
        <p:spPr>
          <a:xfrm>
            <a:off x="8127797" y="1600200"/>
            <a:ext cx="3515258" cy="1677924"/>
          </a:xfrm>
          <a:prstGeom prst="roundRect">
            <a:avLst>
              <a:gd name="adj" fmla="val 4360"/>
            </a:avLst>
          </a:prstGeom>
          <a:solidFill>
            <a:schemeClr val="bg2"/>
          </a:solidFill>
          <a:ln w="12700">
            <a:solidFill>
              <a:schemeClr val="bg2"/>
            </a:solidFill>
            <a:prstDash val="solid"/>
          </a:ln>
        </p:spPr>
      </p:sp>
      <p:sp>
        <p:nvSpPr>
          <p:cNvPr id="11" name="D3 tag"/>
          <p:cNvSpPr txBox="1"/>
          <p:nvPr/>
        </p:nvSpPr>
        <p:spPr>
          <a:xfrm>
            <a:off x="8310677" y="1801368"/>
            <a:ext cx="502920" cy="329184"/>
          </a:xfrm>
          <a:prstGeom prst="roundRect">
            <a:avLst>
              <a:gd name="adj" fmla="val 16667"/>
            </a:avLst>
          </a:prstGeom>
          <a:solidFill>
            <a:schemeClr val="tx2"/>
          </a:solidFill>
          <a:ln/>
        </p:spPr>
        <p:txBody>
          <a:bodyPr wrap="square" lIns="0" tIns="0" rIns="0" bIns="0" rtlCol="0" anchor="ctr"/>
          <a:lstStyle/>
          <a:p>
            <a:pPr algn="ctr" indent="0" marL="0">
              <a:buNone/>
            </a:pPr>
            <a:r>
              <a:rPr lang="en-US" sz="1300" b="1" dirty="0">
                <a:solidFill>
                  <a:schemeClr val="bg1"/>
                </a:solidFill>
              </a:rPr>
              <a:t>D3</a:t>
            </a:r>
            <a:endParaRPr lang="en-US" sz="1300" dirty="0"/>
          </a:p>
        </p:txBody>
      </p:sp>
      <p:sp>
        <p:nvSpPr>
          <p:cNvPr id="12" name="D3 Diagnostic logging enabled on all platform resources"/>
          <p:cNvSpPr txBox="1"/>
          <p:nvPr/>
        </p:nvSpPr>
        <p:spPr>
          <a:xfrm>
            <a:off x="8950757" y="1783080"/>
            <a:ext cx="2527706" cy="1385316"/>
          </a:xfrm>
          <a:prstGeom prst="rect">
            <a:avLst/>
          </a:prstGeom>
          <a:noFill/>
          <a:ln/>
        </p:spPr>
        <p:txBody>
          <a:bodyPr wrap="square" lIns="0" tIns="0" rIns="0" bIns="0" rtlCol="0" anchor="t"/>
          <a:lstStyle/>
          <a:p>
            <a:pPr indent="0" marL="0">
              <a:buNone/>
            </a:pPr>
            <a:r>
              <a:rPr lang="en-US" sz="1400" b="1" dirty="0">
                <a:solidFill>
                  <a:schemeClr val="tx2"/>
                </a:solidFill>
              </a:rPr>
              <a:t>Diagnostic logging enabled on all platform resources</a:t>
            </a:r>
            <a:endParaRPr lang="en-US" sz="1400" dirty="0"/>
          </a:p>
          <a:p>
            <a:pPr indent="0" marL="0">
              <a:spcBef>
                <a:spcPts val="500"/>
              </a:spcBef>
              <a:buNone/>
            </a:pPr>
            <a:r>
              <a:rPr lang="en-US" sz="1200" dirty="0">
                <a:solidFill>
                  <a:schemeClr val="accent6"/>
                </a:solidFill>
              </a:rPr>
              <a:t>Resources with every diagnostic and audit logging assessment healthy.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949440" cy="914400"/>
          </a:xfrm>
          <a:prstGeom prst="rect">
            <a:avLst/>
          </a:prstGeom>
          <a:noFill/>
          <a:ln/>
        </p:spPr>
        <p:txBody>
          <a:bodyPr wrap="square" lIns="0" tIns="0" rIns="0" bIns="0" rtlCol="0" anchor="t"/>
          <a:lstStyle/>
          <a:p>
            <a:pPr algn="l" indent="0" marL="0">
              <a:buNone/>
            </a:pPr>
            <a:r>
              <a:rPr lang="en-US" sz="4400" b="1" dirty="0">
                <a:solidFill>
                  <a:schemeClr val="bg1"/>
                </a:solidFill>
              </a:rPr>
              <a:t>Feedback welcome</a:t>
            </a:r>
            <a:endParaRPr lang="en-US" sz="4400" dirty="0"/>
          </a:p>
        </p:txBody>
      </p:sp>
      <p:sp>
        <p:nvSpPr>
          <p:cNvPr id="3" name="Text 0"/>
          <p:cNvSpPr/>
          <p:nvPr>
            <p:ph idx="101" type="body" hasCustomPrompt="1"/>
          </p:nvPr>
        </p:nvSpPr>
        <p:spPr>
          <a:xfrm>
            <a:off x="640080" y="3154680"/>
            <a:ext cx="6400800" cy="1463040"/>
          </a:xfrm>
          <a:prstGeom prst="rect">
            <a:avLst/>
          </a:prstGeom>
          <a:noFill/>
          <a:ln/>
        </p:spPr>
        <p:txBody>
          <a:bodyPr wrap="square" lIns="0" tIns="0" rIns="0" bIns="0" rtlCol="0" anchor="t"/>
          <a:lstStyle/>
          <a:p>
            <a:pPr algn="l" indent="0" marL="0">
              <a:buNone/>
            </a:pPr>
            <a:r>
              <a:rPr lang="en-US" sz="2000" dirty="0">
                <a:solidFill>
                  <a:schemeClr val="bg2"/>
                </a:solidFill>
              </a:rPr>
              <a:t>Feedback on any control, its tier or how it is measured is welcome and is weighed for the next version of this standard.</a:t>
            </a:r>
            <a:endParaRPr lang="en-US" sz="2000" dirty="0"/>
          </a:p>
        </p:txBody>
      </p:sp>
    </p:spTree>
  </p:cSld>
  <p:clrMapOvr>
    <a:masterClrMapping/>
  </p:clrMapOvr>
</p:sld>
</file>

<file path=ppt/theme/theme1.xml><?xml version="1.0" encoding="utf-8"?>
<a:theme xmlns:a="http://schemas.openxmlformats.org/drawingml/2006/main" name="Atmosera MXDR">
  <a:themeElements>
    <a:clrScheme name="Atmosera MXDR">
      <a:dk1>
        <a:srgbClr val="21374C"/>
      </a:dk1>
      <a:lt1>
        <a:srgbClr val="FFFFFF"/>
      </a:lt1>
      <a:dk2>
        <a:srgbClr val="15365F"/>
      </a:dk2>
      <a:lt2>
        <a:srgbClr val="F3F6FA"/>
      </a:lt2>
      <a:accent1>
        <a:srgbClr val="01ACD9"/>
      </a:accent1>
      <a:accent2>
        <a:srgbClr val="007CB3"/>
      </a:accent2>
      <a:accent3>
        <a:srgbClr val="1F9D74"/>
      </a:accent3>
      <a:accent4>
        <a:srgbClr val="F37321"/>
      </a:accent4>
      <a:accent5>
        <a:srgbClr val="2E5B8C"/>
      </a:accent5>
      <a:accent6>
        <a:srgbClr val="5A6B7F"/>
      </a:accent6>
      <a:hlink>
        <a:srgbClr val="007CB3"/>
      </a:hlink>
      <a:folHlink>
        <a:srgbClr val="2E5B8C"/>
      </a:folHlink>
    </a:clrScheme>
    <a:fontScheme name="Atmosera MXD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Atmosera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controls that matter</dc:title>
  <dc:subject>PptxGenJS Presentation</dc:subject>
  <dc:creator>Atmosera</dc:creator>
  <cp:lastModifiedBy>Atmosera</cp:lastModifiedBy>
  <cp:revision>1</cp:revision>
  <dcterms:created xsi:type="dcterms:W3CDTF">2026-10-14T12:38:43Z</dcterms:created>
  <dcterms:modified xsi:type="dcterms:W3CDTF">2026-10-14T12:38:43Z</dcterms:modified>
</cp:coreProperties>
</file>