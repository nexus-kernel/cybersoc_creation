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f6b6b2b6-acd0-56dd-a06b-c85865f17d88}">
          <p14:sldIdLst>
            <p14:sldId id="256"/>
            <p14:sldId id="257"/>
            <p14:sldId id="258"/>
            <p14:sldId id="259"/>
          </p14:sldIdLst>
        </p14:section>
        <p14:section name="Identity and access" id="{93c79d61-57ef-e15f-8e44-29a4e05a537f}">
          <p14:sldIdLst>
            <p14:sldId id="260"/>
            <p14:sldId id="261"/>
          </p14:sldIdLst>
        </p14:section>
        <p14:section name="Endpoint and workload" id="{6c5be07a-13ac-76c2-8e7b-d6f5d436e7cc}">
          <p14:sldIdLst>
            <p14:sldId id="262"/>
            <p14:sldId id="263"/>
          </p14:sldIdLst>
        </p14:section>
        <p14:section name="Network and boundary" id="{1dfa328d-b8b8-7115-e6c9-39381a56a772}">
          <p14:sldIdLst>
            <p14:sldId id="264"/>
            <p14:sldId id="265"/>
          </p14:sldIdLst>
        </p14:section>
        <p14:section name="Data protection" id="{d11244b8-a45a-ecca-e027-ebb96017c4f6}">
          <p14:sldIdLst>
            <p14:sldId id="266"/>
            <p14:sldId id="267"/>
          </p14:sldIdLst>
        </p14:section>
        <p14:section name="Detection and response" id="{b2d7f890-8dbd-7d85-ffd5-2fbcbfc8e0d0}">
          <p14:sldIdLst>
            <p14:sldId id="268"/>
            <p14:sldId id="269"/>
          </p14:sldIdLst>
        </p14:section>
        <p14:section name="Feedback" id="{52972e77-1143-b1d3-47a5-487c258f6192}">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Foundational</c:v>
                </c:pt>
              </c:strCache>
            </c:strRef>
          </c:tx>
          <c:spPr>
            <a:solidFill>
              <a:srgbClr val="007CB3"/>
            </a:solidFill>
            <a:effectLst/>
          </c:spPr>
          <c:invertIfNegative val="0"/>
          <c:dLbls>
            <c:numFmt formatCode="#,##0"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Identity and access</c:v>
                  </c:pt>
                  <c:pt idx="1">
                    <c:v>Endpoint and workload</c:v>
                  </c:pt>
                  <c:pt idx="2">
                    <c:v>Network and boundary</c:v>
                  </c:pt>
                  <c:pt idx="3">
                    <c:v>Data protection</c:v>
                  </c:pt>
                  <c:pt idx="4">
                    <c:v>Detection and response</c:v>
                  </c:pt>
                </c:lvl>
              </c:multiLvlStrCache>
            </c:multiLvlStrRef>
          </c:cat>
          <c:val>
            <c:numRef>
              <c:f>Sheet1!$B$2:$B$6</c:f>
              <c:numCache>
                <c:formatCode>General</c:formatCode>
                <c:ptCount val="5"/>
                <c:pt idx="0">
                  <c:v>6</c:v>
                </c:pt>
                <c:pt idx="1">
                  <c:v>5</c:v>
                </c:pt>
                <c:pt idx="2">
                  <c:v>5</c:v>
                </c:pt>
                <c:pt idx="3">
                  <c:v>9</c:v>
                </c:pt>
                <c:pt idx="4">
                  <c:v>6</c:v>
                </c:pt>
              </c:numCache>
            </c:numRef>
          </c:val>
        </c:ser>
        <c:ser>
          <c:idx val="1"/>
          <c:order val="1"/>
          <c:tx>
            <c:strRef>
              <c:f>Sheet1!$C$1</c:f>
              <c:strCache>
                <c:ptCount val="1"/>
                <c:pt idx="0">
                  <c:v>Defense in depth</c:v>
                </c:pt>
              </c:strCache>
            </c:strRef>
          </c:tx>
          <c:spPr>
            <a:solidFill>
              <a:srgbClr val="15365F"/>
            </a:solidFill>
            <a:effectLst/>
          </c:spPr>
          <c:invertIfNegative val="0"/>
          <c:dLbls>
            <c:numFmt formatCode="#,##0"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Identity and access</c:v>
                  </c:pt>
                  <c:pt idx="1">
                    <c:v>Endpoint and workload</c:v>
                  </c:pt>
                  <c:pt idx="2">
                    <c:v>Network and boundary</c:v>
                  </c:pt>
                  <c:pt idx="3">
                    <c:v>Data protection</c:v>
                  </c:pt>
                  <c:pt idx="4">
                    <c:v>Detection and response</c:v>
                  </c:pt>
                </c:lvl>
              </c:multiLvlStrCache>
            </c:multiLvlStrRef>
          </c:cat>
          <c:val>
            <c:numRef>
              <c:f>Sheet1!$C$2:$C$6</c:f>
              <c:numCache>
                <c:formatCode>General</c:formatCode>
                <c:ptCount val="5"/>
                <c:pt idx="0">
                  <c:v>4</c:v>
                </c:pt>
                <c:pt idx="1">
                  <c:v>6</c:v>
                </c:pt>
                <c:pt idx="2">
                  <c:v>5</c:v>
                </c:pt>
                <c:pt idx="3">
                  <c:v>4</c:v>
                </c:pt>
                <c:pt idx="4">
                  <c:v>3</c:v>
                </c:pt>
              </c:numCache>
            </c:numRef>
          </c:val>
        </c:ser>
        <c:dLbls>
          <c:numFmt formatCode="#,##0"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21374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1374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outlines the controls Atmosera holds every managed environment to. It is informational. The controls are being put in place, and feedback on any control, its tier or how it is measured is welcome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control sits in one of two tiers. Foundational controls go in during the build and should read E at every review. Defense in depth controls each need something from the client, such as testing, a maintenance window or licensing, so they are sequenced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controls are a share of in-scope resources, graded E at 90 percent or more, P from 50 to 89 and N below 50. Controls read from a policy or setting read In force or Not in force. N/A means there was nothing to judge, and it never moves a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pillar holds a mix of foundational and defense in depth controls. The pages that follow list every control in each pillar, one tier per page, with how it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Identity and access, foundational controls. These are configured when the environment is built and are expected at E at every review. Multifactor authentication required at sign-in: Members with at least one successful sign-in in the last 30 days that satisfied multifactor authentication. Location-based sign-in access controls enforced through Conditional Access: An enabled Conditional Access policy blocks sign-ins or requires multifactor authentication by country or named network, for all users and all resources. Legacy authentication blocked: An enabled Conditional Access policy or security defaults block legacy authentication for all users, with approved exceptions only. Anti-phishing policy applied to every mailbox: The Microsoft default anti-phishing policy is enabled, so every mailbox carries baseline spoof protection. Multifactor authentication at admin portal sign-in: Members who signed in to a Microsoft admin portal in the last 30 days and satisfied multifactor authentication. Device code flow sign-ins blocked: Device code flow sign-ins blocked by Conditional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Identity and access, defense in depth controls. Each of these waits on something the client approves, schedules or licenses, and is sequenced on the roadmap. Advanced anti-phishing policy applied: An enabled anti-phishing policy with impersonation, mailbox intelligence and spoof protection. Privileged roles held through eligibility rather than standing assignment: Privileged Entra role assignments that are eligible through Privileged Identity Management, against eligible plus standing assignments. Identity Protection sign-in and user risk policies enforced: An enabled Conditional Access policy with a sign-in risk condition and one with a user risk condition both include all users. Application consent governed by administrative approval: Users cannot consent, or only to low-risk permissions from verified publishers, and the admin consent request workflow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Endpoint and workload, foundational controls. These are configured when the environment is built and are expected at E at every review. Azure virtual machines reporting to endpoint detection: Azure virtual machines seen in the last 7 days that are onboarded to Defender for Endpoint or covered by another endpoint detection product, against the machines eligible for endpoint detection. Workstations, laptops and other endpoints that are not Azure resources are not part of this measure. Real-time anti-malware protection enabled: Azure virtual machines compliant with the real-time protection configuration checks, all platforms. Tamper protection enforced on Azure virtual machines: Onboarded Azure virtual machines seen in the last 30 days with tamper protection on. Host firewall enforced through endpoint policy: Onboarded Azure virtual machines with Microsoft Defender Firewall on for every profile. Operating system findings remediated within the patch cadence: Machines assessed by Update Manager with no critical or security patch older than the agreed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Endpoint and workload, defense in depth controls. Each of these waits on something the client approves, schedules or licenses, and is sequenced on the roadmap. Vulnerability assessment running on onboarded Azure virtual machines: Onboarded Azure virtual machines with a vulnerability assessment result. Platform integrity through Trusted Launch: Azure virtual machines deployed with Trusted Launch or confidential computing. Encryption at host on virtual machines: Virtual machine and scale set resources with the encryption at host setting. Disk encryption alternatives are reviewed separately. Credential protection enforced: Onboarded Windows virtual machines with LSA protection on and WDigest credential caching off. Remote Desktop hardened with TLS and Network Level Authentication: Onboarded Windows virtual machines requiring TLS and Network Level Authentication for Remote Desktop. Application allow-listing policy assigned: An App Control for Business policy assigned in Intune.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and boundary, foundational controls. These are configured when the environment is built and are expected at E at every review. Encryption in transit enforced on published web apps: Web and function apps with the HTTPS-only setting. Transport encryption enforced on Azure SQL: Azure SQL servers requiring TLS 1.2 or newer. App Service minimum TLS 1.2: App Service configurations requiring TLS 1.2 or newer. Anonymous blob access disabled: Storage accounts with account-level anonymous access disabled. Network protection in block mode on Azure virtual machines: Onboarded Windows virtual machines in Azure with network protection in block mode, which covers egress and DNS monitoring. The Sentinel tunneling and beaconing rules are confirmed in the review worksheet.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and boundary, defense in depth controls. Each of these waits on something the client approves, schedules or licenses, and is sequenced on the roadmap. Workload subnets with a network security group or firewall route: Workload subnets with a network security group or a route through the firewall configured. The rules and the traffic they permit are not evaluated. Storage accounts closed to public networks: Storage accounts with public network access disabled. Blob containers closed to anonymous access: Blob containers set to private at the container level, read in every storage account, so they stay closed even if the account-level setting is relaxed. Directory traffic signed and channel-bound: Domain controllers in Azure requiring LDAP server signing and channel binding. NTLMv2 enforced with LM and NTLM refused: Onboarded Windows virtual machines in Azure sending NTLMv2 responses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protection, foundational controls. These are configured when the environment is built and are expected at E at every review. Secure transfer required on storage accounts: Storage accounts configured to require secure transfer. Storage minimum TLS 1.2: Storage accounts requiring TLS 1.2 or newer. Key Vault soft delete: Vaults able to recover deleted secrets, keys and certificates. Key Vault purge protection: Vaults protected against permanent deletion during the retention period. Managed disks encrypted at rest: Platform keys, the Azure default, or customer managed keys. Encryption at host is graded separately. Safe Links policy set for mail, Teams and Office: One policy with all three on is enough. Recipients, exceptions and rule state are not read. Safe Attachments policy set to block or replace malicious files: One enabled policy is enough. Scope and exceptions are not read. Malicious mail removed after delivery: Post-delivery removals of malicious mail in the last 30 days. Zero-hour auto purge enabled for malware, spam and phishing: Every malware and content filter policy keeps zero-hour auto purge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protection, defense in depth controls. Each of these waits on something the client approves, schedules or licenses, and is sequenced on the roadmap. Key Vault access governed by role-based access control: Vaults using the Azure RBAC permission model. Azure Backup protecting virtual machines: Virtual machines with a protected backup item. Pooled session hosts may be excluded by agreement. Collaboration sharing boundaries defined: Tenant sharing level below anyone links, with domain restrictions where agreed. Endpoint disk encryption enforced on managed devices: Managed Windows and macOS devices reported as encrypted.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and response, foundational controls. These are configured when the environment is built and are expected at E at every review. Endpoint sensors active on onboarded Azure virtual machines: Active sensors among the Azure virtual machines onboarded to Defender for Endpoint, seen in the last 7 days. Workstations and network devices such as firewalls are not part of this measure. Cloud workload protection plan coverage, a plan-level estimate: Eligible resources on a Standard Defender for Cloud plan, a plan-level estimate read from the subscription plan configuration. Analytics rules enabled in every Sentinel workspace: Sentinel workspaces with at least one enabled analytics rule, of the workspaces in scope. It does not identify which rules are Atmosera's standard set. Threat intelligence indicators ingested tenant-wide: Threat intelligence indicators available for matching in the workspace. Alerts closed with a documented disposition: Alerts closed in the last 30 days that carry a classification and a closing comment. Audit logging initiative compliant across its resources: Resources compliant with the ATMO-MXDR diagnostic logging initiative.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and response, defense in depth controls. Each of these waits on something the client approves, schedules or licenses, and is sequenced on the roadmap. Domain controller telemetry collected continuously: Domain controller security events arriving in the workspace. Defender for Identity sensors healthy on domain controllers: Sensors reporting healthy, of sensors registered. Diagnostic logging enabled on all platform resources: Resources with every diagnostic and audit logging assessment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inviting feedback on the controls, their tiers and their measures. Feedback is considered for the next version of the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Atmosera-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Atmosera-Closing-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Atmosera-Decisions-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tmosera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7863840" cy="365760"/>
          </a:xfrm>
          <a:prstGeom prst="rect">
            <a:avLst/>
          </a:prstGeom>
          <a:noFill/>
          <a:ln/>
        </p:spPr>
        <p:txBody>
          <a:bodyPr wrap="square" rtlCol="0"/>
          <a:lstStyle>
            <a:lvl1pPr algn="l" indent="0" marL="0">
              <a:buNone/>
              <a:defRPr lang="en-US" sz="1300" b="1" spc="200" kern="0" dirty="0">
                <a:solidFill>
                  <a:schemeClr val="accent1"/>
                </a:solidFill>
              </a:defRPr>
            </a:lvl1pPr>
          </a:lstStyle>
          <a:p>
            <a:pPr algn="l" indent="0" marL="0">
              <a:buNone/>
            </a:pPr>
            <a:endParaRPr lang="en-US" sz="1300" dirty="0"/>
          </a:p>
        </p:txBody>
      </p:sp>
      <p:sp>
        <p:nvSpPr>
          <p:cNvPr id="3" name="Text 0"/>
          <p:cNvSpPr/>
          <p:nvPr>
            <p:ph idx="101" type="title" hasCustomPrompt="1"/>
          </p:nvPr>
        </p:nvSpPr>
        <p:spPr>
          <a:xfrm>
            <a:off x="640080" y="1325880"/>
            <a:ext cx="7315200" cy="17373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640080" y="3246120"/>
            <a:ext cx="7863840" cy="502920"/>
          </a:xfrm>
          <a:prstGeom prst="rect">
            <a:avLst/>
          </a:prstGeom>
          <a:noFill/>
          <a:ln/>
        </p:spPr>
        <p:txBody>
          <a:bodyPr wrap="square" rtlCol="0"/>
          <a:lstStyle>
            <a:lvl1pPr algn="l" indent="0" marL="0">
              <a:buNone/>
              <a:defRPr lang="en-US" sz="2600" b="1" dirty="0">
                <a:solidFill>
                  <a:schemeClr val="bg1"/>
                </a:solidFill>
              </a:defRPr>
            </a:lvl1pPr>
          </a:lstStyle>
          <a:p>
            <a:pPr algn="l" indent="0" marL="0">
              <a:buNone/>
            </a:pPr>
            <a:endParaRPr lang="en-US" sz="2600" dirty="0"/>
          </a:p>
        </p:txBody>
      </p:sp>
      <p:sp>
        <p:nvSpPr>
          <p:cNvPr id="5" name="Text 0"/>
          <p:cNvSpPr/>
          <p:nvPr>
            <p:ph idx="103" type="body" hasCustomPrompt="1"/>
          </p:nvPr>
        </p:nvSpPr>
        <p:spPr>
          <a:xfrm>
            <a:off x="640080" y="3840480"/>
            <a:ext cx="6766560" cy="7772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
        <p:nvSpPr>
          <p:cNvPr id="6" name="Text 0"/>
          <p:cNvSpPr/>
          <p:nvPr>
            <p:ph idx="104" type="body" hasCustomPrompt="1"/>
          </p:nvPr>
        </p:nvSpPr>
        <p:spPr>
          <a:xfrm>
            <a:off x="640080" y="4800600"/>
            <a:ext cx="7863840" cy="594360"/>
          </a:xfrm>
          <a:prstGeom prst="rect">
            <a:avLst/>
          </a:prstGeom>
          <a:noFill/>
          <a:ln/>
        </p:spPr>
        <p:txBody>
          <a:bodyPr wrap="square" rtlCol="0"/>
          <a:lstStyle>
            <a:lvl1pPr algn="l" indent="0" marL="0">
              <a:buNone/>
              <a:defRPr lang="en-US" sz="1400" dirty="0">
                <a:solidFill>
                  <a:schemeClr val="accent1"/>
                </a:solidFill>
              </a:defRPr>
            </a:lvl1pPr>
          </a:lstStyle>
          <a:p>
            <a:pPr algn="l" indent="0" marL="0">
              <a:buNone/>
            </a:pPr>
            <a:endParaRPr lang="en-US" sz="1400" dirty="0"/>
          </a:p>
        </p:txBody>
      </p:sp>
      <p:sp>
        <p:nvSpPr>
          <p:cNvPr id="7" name="Text 0"/>
          <p:cNvSpPr/>
          <p:nvPr/>
        </p:nvSpPr>
        <p:spPr>
          <a:xfrm>
            <a:off x="640080" y="5989320"/>
            <a:ext cx="2743200" cy="457200"/>
          </a:xfrm>
          <a:prstGeom prst="rect">
            <a:avLst/>
          </a:prstGeom>
          <a:noFill/>
          <a:ln/>
        </p:spPr>
        <p:txBody>
          <a:bodyPr wrap="square" lIns="0" tIns="0" rIns="0" bIns="0" rtlCol="0" anchor="ctr"/>
          <a:lstStyle/>
          <a:p>
            <a:pPr indent="0" marL="0">
              <a:buNone/>
            </a:pPr>
            <a:r>
              <a:rPr lang="en-US" sz="2800" b="1" dirty="0">
                <a:solidFill>
                  <a:schemeClr val="accent1"/>
                </a:solidFill>
              </a:rPr>
              <a:t>atmosera.</a:t>
            </a:r>
            <a:endParaRPr lang="en-US" sz="2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tmosera Content">
    <p:bg>
      <p:bgPr>
        <a:solidFill>
          <a:schemeClr val="bg1"/>
        </a:solidFill>
      </p:bgPr>
    </p:bg>
    <p:spTree>
      <p:nvGrpSpPr>
        <p:cNvPr id="1" name=""/>
        <p:cNvGrpSpPr/>
        <p:nvPr/>
      </p:nvGrpSpPr>
      <p:grpSpPr>
        <a:xfrm>
          <a:off x="0" y="0"/>
          <a:ext cx="0" cy="0"/>
          <a:chOff x="0" y="0"/>
          <a:chExt cx="0" cy="0"/>
        </a:xfrm>
      </p:grpSpPr>
      <p:pic>
        <p:nvPicPr>
          <p:cNvPr id="2" name="Image 0" descr="/home/user/EBR_Creation/report/assets/deck-band.jpg">    </p:cNvPr>
          <p:cNvPicPr>
            <a:picLocks noChangeAspect="1"/>
          </p:cNvPicPr>
          <p:nvPr/>
        </p:nvPicPr>
        <p:blipFill>
          <a:blip r:embed="rId1"/>
          <a:stretch>
            <a:fillRect/>
          </a:stretch>
        </p:blipFill>
        <p:spPr>
          <a:xfrm>
            <a:off x="0" y="0"/>
            <a:ext cx="12191695" cy="1280160"/>
          </a:xfrm>
          <a:prstGeom prst="rect">
            <a:avLst/>
          </a:prstGeom>
        </p:spPr>
      </p:pic>
      <p:sp>
        <p:nvSpPr>
          <p:cNvPr id="3" name="Text 0"/>
          <p:cNvSpPr/>
          <p:nvPr>
            <p:ph idx="101" type="title" hasCustomPrompt="1"/>
          </p:nvPr>
        </p:nvSpPr>
        <p:spPr>
          <a:xfrm>
            <a:off x="548640" y="182880"/>
            <a:ext cx="11094415" cy="5943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548640" y="777240"/>
            <a:ext cx="11094415" cy="36576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tmosera 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6949440" cy="9144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3154680"/>
            <a:ext cx="640080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
        <p:nvSpPr>
          <p:cNvPr id="4" name="Text 0"/>
          <p:cNvSpPr/>
          <p:nvPr/>
        </p:nvSpPr>
        <p:spPr>
          <a:xfrm>
            <a:off x="640080" y="5989320"/>
            <a:ext cx="2743200" cy="457200"/>
          </a:xfrm>
          <a:prstGeom prst="rect">
            <a:avLst/>
          </a:prstGeom>
          <a:noFill/>
          <a:ln/>
        </p:spPr>
        <p:txBody>
          <a:bodyPr wrap="square" lIns="0" tIns="0" rIns="0" bIns="0" rtlCol="0" anchor="ctr"/>
          <a:lstStyle/>
          <a:p>
            <a:pPr indent="0" marL="0">
              <a:buNone/>
            </a:pPr>
            <a:r>
              <a:rPr lang="en-US" sz="2800" b="1" dirty="0">
                <a:solidFill>
                  <a:schemeClr val="accent1"/>
                </a:solidFill>
              </a:rPr>
              <a:t>atmosera.</a:t>
            </a:r>
            <a:endParaRPr lang="en-US" sz="2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tmosera Decisions">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548640"/>
            <a:ext cx="8778240" cy="320040"/>
          </a:xfrm>
          <a:prstGeom prst="rect">
            <a:avLst/>
          </a:prstGeom>
          <a:noFill/>
          <a:ln/>
        </p:spPr>
        <p:txBody>
          <a:bodyPr wrap="square" rtlCol="0"/>
          <a:lstStyle>
            <a:lvl1pPr algn="l" indent="0" marL="0">
              <a:buNone/>
              <a:defRPr lang="en-US" sz="1300" b="1" spc="200" kern="0" dirty="0">
                <a:solidFill>
                  <a:schemeClr val="accent1"/>
                </a:solidFill>
              </a:defRPr>
            </a:lvl1pPr>
          </a:lstStyle>
          <a:p>
            <a:pPr algn="l" indent="0" marL="0">
              <a:buNone/>
            </a:pPr>
            <a:endParaRPr lang="en-US" sz="1300" dirty="0"/>
          </a:p>
        </p:txBody>
      </p:sp>
      <p:sp>
        <p:nvSpPr>
          <p:cNvPr id="3" name="Text 0"/>
          <p:cNvSpPr/>
          <p:nvPr>
            <p:ph idx="101" type="title" hasCustomPrompt="1"/>
          </p:nvPr>
        </p:nvSpPr>
        <p:spPr>
          <a:xfrm>
            <a:off x="640080" y="868680"/>
            <a:ext cx="8778240" cy="7772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40080" y="1645920"/>
            <a:ext cx="8778240" cy="41148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7863840" cy="365760"/>
          </a:xfrm>
          <a:prstGeom prst="rect">
            <a:avLst/>
          </a:prstGeom>
          <a:noFill/>
          <a:ln/>
        </p:spPr>
        <p:txBody>
          <a:bodyPr wrap="square" lIns="0" tIns="0" rIns="0" bIns="0" rtlCol="0"/>
          <a:lstStyle/>
          <a:p>
            <a:pPr algn="l" indent="0" marL="0">
              <a:buNone/>
            </a:pPr>
            <a:r>
              <a:rPr lang="en-US" sz="1300" b="1" spc="200" kern="0" dirty="0">
                <a:solidFill>
                  <a:schemeClr val="accent1"/>
                </a:solidFill>
              </a:rPr>
              <a:t>MANAGED SECURITY SERVICES · SECURITY CONTROLS STANDARD</a:t>
            </a:r>
            <a:endParaRPr lang="en-US" sz="1300" dirty="0"/>
          </a:p>
        </p:txBody>
      </p:sp>
      <p:sp>
        <p:nvSpPr>
          <p:cNvPr id="3" name="Text 0"/>
          <p:cNvSpPr/>
          <p:nvPr>
            <p:ph idx="101" type="title" hasCustomPrompt="1"/>
          </p:nvPr>
        </p:nvSpPr>
        <p:spPr>
          <a:xfrm>
            <a:off x="640080" y="1325880"/>
            <a:ext cx="7315200" cy="1737360"/>
          </a:xfrm>
          <a:prstGeom prst="rect">
            <a:avLst/>
          </a:prstGeom>
          <a:noFill/>
          <a:ln/>
        </p:spPr>
        <p:txBody>
          <a:bodyPr wrap="square" lIns="0" tIns="0" rIns="0" bIns="0" rtlCol="0" anchor="t"/>
          <a:lstStyle/>
          <a:p>
            <a:pPr algn="l" indent="0" marL="0">
              <a:buNone/>
            </a:pPr>
            <a:r>
              <a:rPr lang="en-US" sz="5400" b="1" dirty="0">
                <a:solidFill>
                  <a:schemeClr val="bg1"/>
                </a:solidFill>
              </a:rPr>
              <a:t>The controls that matter</a:t>
            </a:r>
            <a:endParaRPr lang="en-US" sz="5400" dirty="0"/>
          </a:p>
        </p:txBody>
      </p:sp>
      <p:sp>
        <p:nvSpPr>
          <p:cNvPr id="4" name="Text 0"/>
          <p:cNvSpPr/>
          <p:nvPr>
            <p:ph idx="102" type="body" hasCustomPrompt="1"/>
          </p:nvPr>
        </p:nvSpPr>
        <p:spPr>
          <a:xfrm>
            <a:off x="640080" y="3246120"/>
            <a:ext cx="7863840" cy="502920"/>
          </a:xfrm>
          <a:prstGeom prst="rect">
            <a:avLst/>
          </a:prstGeom>
          <a:noFill/>
          <a:ln/>
        </p:spPr>
        <p:txBody>
          <a:bodyPr wrap="square" lIns="0" tIns="0" rIns="0" bIns="0" rtlCol="0"/>
          <a:lstStyle/>
          <a:p>
            <a:pPr algn="l" indent="0" marL="0">
              <a:buNone/>
            </a:pPr>
            <a:r>
              <a:rPr lang="en-US" sz="2600" b="1" dirty="0">
                <a:solidFill>
                  <a:schemeClr val="bg1"/>
                </a:solidFill>
              </a:rPr>
              <a:t>MXDR security controls standard</a:t>
            </a:r>
            <a:endParaRPr lang="en-US" sz="2600" dirty="0"/>
          </a:p>
        </p:txBody>
      </p:sp>
      <p:sp>
        <p:nvSpPr>
          <p:cNvPr id="5" name="Text 0"/>
          <p:cNvSpPr/>
          <p:nvPr>
            <p:ph idx="103" type="body" hasCustomPrompt="1"/>
          </p:nvPr>
        </p:nvSpPr>
        <p:spPr>
          <a:xfrm>
            <a:off x="640080" y="3840480"/>
            <a:ext cx="6766560" cy="777240"/>
          </a:xfrm>
          <a:prstGeom prst="rect">
            <a:avLst/>
          </a:prstGeom>
          <a:noFill/>
          <a:ln/>
        </p:spPr>
        <p:txBody>
          <a:bodyPr wrap="square" lIns="0" tIns="0" rIns="0" bIns="0" rtlCol="0" anchor="t"/>
          <a:lstStyle/>
          <a:p>
            <a:pPr algn="l" indent="0" marL="0">
              <a:buNone/>
            </a:pPr>
            <a:r>
              <a:rPr lang="en-US" sz="1800" dirty="0">
                <a:solidFill>
                  <a:schemeClr val="bg2"/>
                </a:solidFill>
              </a:rPr>
              <a:t>The controls every managed environment is held to, and how each one is measured.</a:t>
            </a:r>
            <a:endParaRPr lang="en-US" sz="1800" dirty="0"/>
          </a:p>
        </p:txBody>
      </p:sp>
      <p:sp>
        <p:nvSpPr>
          <p:cNvPr id="6" name="Text 0"/>
          <p:cNvSpPr/>
          <p:nvPr>
            <p:ph idx="104" type="body" hasCustomPrompt="1"/>
          </p:nvPr>
        </p:nvSpPr>
        <p:spPr>
          <a:xfrm>
            <a:off x="640080" y="4800600"/>
            <a:ext cx="7863840" cy="594360"/>
          </a:xfrm>
          <a:prstGeom prst="rect">
            <a:avLst/>
          </a:prstGeom>
          <a:noFill/>
          <a:ln/>
        </p:spPr>
        <p:txBody>
          <a:bodyPr wrap="square" lIns="0" tIns="0" rIns="0" bIns="0" rtlCol="0" anchor="t"/>
          <a:lstStyle/>
          <a:p>
            <a:pPr algn="l" indent="0" marL="0">
              <a:buNone/>
            </a:pPr>
            <a:r>
              <a:rPr lang="en-US" sz="1400" dirty="0">
                <a:solidFill>
                  <a:schemeClr val="accent1"/>
                </a:solidFill>
              </a:rPr>
              <a:t>Version Oct 16, 2026 · 31 foundational and 22 defense in depth controls across five pillars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Two tiers of controls</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controls are built in. Defense in depth is layered on with each client.</a:t>
            </a:r>
            <a:endParaRPr lang="en-US" sz="1600" dirty="0"/>
          </a:p>
        </p:txBody>
      </p:sp>
      <p:sp>
        <p:nvSpPr>
          <p:cNvPr id="4" name="Foundational card"/>
          <p:cNvSpPr/>
          <p:nvPr/>
        </p:nvSpPr>
        <p:spPr>
          <a:xfrm>
            <a:off x="548640" y="1600200"/>
            <a:ext cx="5364328" cy="4846320"/>
          </a:xfrm>
          <a:prstGeom prst="roundRect">
            <a:avLst>
              <a:gd name="adj" fmla="val 1509"/>
            </a:avLst>
          </a:prstGeom>
          <a:solidFill>
            <a:schemeClr val="bg2"/>
          </a:solidFill>
          <a:ln w="12700">
            <a:solidFill>
              <a:schemeClr val="bg2"/>
            </a:solidFill>
            <a:prstDash val="solid"/>
          </a:ln>
        </p:spPr>
      </p:sp>
      <p:sp>
        <p:nvSpPr>
          <p:cNvPr id="5" name="Foundational chip"/>
          <p:cNvSpPr txBox="1"/>
          <p:nvPr/>
        </p:nvSpPr>
        <p:spPr>
          <a:xfrm>
            <a:off x="822960" y="1874520"/>
            <a:ext cx="502920" cy="457200"/>
          </a:xfrm>
          <a:prstGeom prst="roundRect">
            <a:avLst>
              <a:gd name="adj" fmla="val 12000"/>
            </a:avLst>
          </a:prstGeom>
          <a:solidFill>
            <a:schemeClr val="accent2"/>
          </a:solidFill>
          <a:ln/>
        </p:spPr>
        <p:txBody>
          <a:bodyPr wrap="square" lIns="0" tIns="0" rIns="0" bIns="0" rtlCol="0" anchor="ctr"/>
          <a:lstStyle/>
          <a:p>
            <a:pPr algn="ctr" indent="0" marL="0">
              <a:buNone/>
            </a:pPr>
            <a:r>
              <a:rPr lang="en-US" sz="2000" b="1" dirty="0">
                <a:solidFill>
                  <a:schemeClr val="bg1"/>
                </a:solidFill>
              </a:rPr>
              <a:t>F</a:t>
            </a:r>
            <a:endParaRPr lang="en-US" sz="2000" dirty="0"/>
          </a:p>
        </p:txBody>
      </p:sp>
      <p:sp>
        <p:nvSpPr>
          <p:cNvPr id="6" name="Foundational heading"/>
          <p:cNvSpPr txBox="1"/>
          <p:nvPr/>
        </p:nvSpPr>
        <p:spPr>
          <a:xfrm>
            <a:off x="1508760" y="1874520"/>
            <a:ext cx="4129888" cy="457200"/>
          </a:xfrm>
          <a:prstGeom prst="rect">
            <a:avLst/>
          </a:prstGeom>
          <a:noFill/>
          <a:ln/>
        </p:spPr>
        <p:txBody>
          <a:bodyPr wrap="square" lIns="0" tIns="0" rIns="0" bIns="0" rtlCol="0" anchor="ctr"/>
          <a:lstStyle/>
          <a:p>
            <a:pPr indent="0" marL="0">
              <a:buNone/>
            </a:pPr>
            <a:r>
              <a:rPr lang="en-US" sz="2400" b="1" dirty="0">
                <a:solidFill>
                  <a:schemeClr val="tx2"/>
                </a:solidFill>
              </a:rPr>
              <a:t>Foundational</a:t>
            </a:r>
            <a:endParaRPr lang="en-US" sz="2400" dirty="0"/>
          </a:p>
        </p:txBody>
      </p:sp>
      <p:sp>
        <p:nvSpPr>
          <p:cNvPr id="7" name="Foundational definition"/>
          <p:cNvSpPr txBox="1"/>
          <p:nvPr/>
        </p:nvSpPr>
        <p:spPr>
          <a:xfrm>
            <a:off x="822960" y="2514600"/>
            <a:ext cx="4815688" cy="960120"/>
          </a:xfrm>
          <a:prstGeom prst="rect">
            <a:avLst/>
          </a:prstGeom>
          <a:noFill/>
          <a:ln/>
        </p:spPr>
        <p:txBody>
          <a:bodyPr wrap="square" lIns="0" tIns="0" rIns="0" bIns="0" rtlCol="0" anchor="t"/>
          <a:lstStyle/>
          <a:p>
            <a:pPr indent="0" marL="0">
              <a:buNone/>
            </a:pPr>
            <a:r>
              <a:rPr lang="en-US" sz="1500" dirty="0">
                <a:solidFill>
                  <a:schemeClr val="tx1"/>
                </a:solidFill>
              </a:rPr>
              <a:t>Configured when the environment is built and expected to stay enforced at every review. One that reads below E is treated as drift and carries a fix date.</a:t>
            </a:r>
            <a:endParaRPr lang="en-US" sz="1500" dirty="0"/>
          </a:p>
        </p:txBody>
      </p:sp>
      <p:sp>
        <p:nvSpPr>
          <p:cNvPr id="8" name="Foundational criteria heading"/>
          <p:cNvSpPr txBox="1"/>
          <p:nvPr/>
        </p:nvSpPr>
        <p:spPr>
          <a:xfrm>
            <a:off x="822960" y="3566160"/>
            <a:ext cx="4815688" cy="365760"/>
          </a:xfrm>
          <a:prstGeom prst="rect">
            <a:avLst/>
          </a:prstGeom>
          <a:noFill/>
          <a:ln/>
        </p:spPr>
        <p:txBody>
          <a:bodyPr wrap="square" lIns="0" tIns="0" rIns="0" bIns="0" rtlCol="0" anchor="t"/>
          <a:lstStyle/>
          <a:p>
            <a:pPr indent="0" marL="0">
              <a:buNone/>
            </a:pPr>
            <a:r>
              <a:rPr lang="en-US" sz="1500" b="1" dirty="0">
                <a:solidFill>
                  <a:schemeClr val="accent2"/>
                </a:solidFill>
              </a:rPr>
              <a:t>Foundational when all three hold</a:t>
            </a:r>
            <a:endParaRPr lang="en-US" sz="1500" dirty="0"/>
          </a:p>
        </p:txBody>
      </p:sp>
      <p:sp>
        <p:nvSpPr>
          <p:cNvPr id="9" name="Foundational criteria"/>
          <p:cNvSpPr txBox="1"/>
          <p:nvPr/>
        </p:nvSpPr>
        <p:spPr>
          <a:xfrm>
            <a:off x="822960" y="3977640"/>
            <a:ext cx="4815688" cy="22402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Other controls in the pillar depend on it.</a:t>
            </a:r>
            <a:endParaRPr lang="en-US" sz="1400" dirty="0"/>
          </a:p>
          <a:p>
            <a:pPr marL="342900" indent="-342900">
              <a:spcAft>
                <a:spcPts val="600"/>
              </a:spcAft>
              <a:buSzPct val="100000"/>
              <a:buChar char="•"/>
            </a:pPr>
            <a:r>
              <a:rPr lang="en-US" sz="1400" dirty="0">
                <a:solidFill>
                  <a:schemeClr val="tx1"/>
                </a:solidFill>
              </a:rPr>
              <a:t>It applies to every client in scope of the service.</a:t>
            </a:r>
            <a:endParaRPr lang="en-US" sz="1400" dirty="0"/>
          </a:p>
          <a:p>
            <a:pPr marL="342900" indent="-342900">
              <a:spcAft>
                <a:spcPts val="600"/>
              </a:spcAft>
              <a:buSzPct val="100000"/>
              <a:buChar char="•"/>
            </a:pPr>
            <a:r>
              <a:rPr lang="en-US" sz="1400" dirty="0">
                <a:solidFill>
                  <a:schemeClr val="tx1"/>
                </a:solidFill>
              </a:rPr>
              <a:t>Atmosera can deliver it inside the build window.</a:t>
            </a:r>
            <a:endParaRPr lang="en-US" sz="1400" dirty="0"/>
          </a:p>
        </p:txBody>
      </p:sp>
      <p:sp>
        <p:nvSpPr>
          <p:cNvPr id="10" name="Defense in depth card"/>
          <p:cNvSpPr/>
          <p:nvPr/>
        </p:nvSpPr>
        <p:spPr>
          <a:xfrm>
            <a:off x="6278728" y="1600200"/>
            <a:ext cx="5364328" cy="4846320"/>
          </a:xfrm>
          <a:prstGeom prst="roundRect">
            <a:avLst>
              <a:gd name="adj" fmla="val 1509"/>
            </a:avLst>
          </a:prstGeom>
          <a:solidFill>
            <a:schemeClr val="bg2"/>
          </a:solidFill>
          <a:ln w="12700">
            <a:solidFill>
              <a:schemeClr val="bg2"/>
            </a:solidFill>
            <a:prstDash val="solid"/>
          </a:ln>
        </p:spPr>
      </p:sp>
      <p:sp>
        <p:nvSpPr>
          <p:cNvPr id="11" name="Defense in depth chip"/>
          <p:cNvSpPr txBox="1"/>
          <p:nvPr/>
        </p:nvSpPr>
        <p:spPr>
          <a:xfrm>
            <a:off x="6553048" y="1874520"/>
            <a:ext cx="502920" cy="457200"/>
          </a:xfrm>
          <a:prstGeom prst="roundRect">
            <a:avLst>
              <a:gd name="adj" fmla="val 12000"/>
            </a:avLst>
          </a:prstGeom>
          <a:solidFill>
            <a:schemeClr val="tx2"/>
          </a:solidFill>
          <a:ln/>
        </p:spPr>
        <p:txBody>
          <a:bodyPr wrap="square" lIns="0" tIns="0" rIns="0" bIns="0" rtlCol="0" anchor="ctr"/>
          <a:lstStyle/>
          <a:p>
            <a:pPr algn="ctr" indent="0" marL="0">
              <a:buNone/>
            </a:pPr>
            <a:r>
              <a:rPr lang="en-US" sz="2000" b="1" dirty="0">
                <a:solidFill>
                  <a:schemeClr val="bg1"/>
                </a:solidFill>
              </a:rPr>
              <a:t>D</a:t>
            </a:r>
            <a:endParaRPr lang="en-US" sz="2000" dirty="0"/>
          </a:p>
        </p:txBody>
      </p:sp>
      <p:sp>
        <p:nvSpPr>
          <p:cNvPr id="12" name="Defense in depth heading"/>
          <p:cNvSpPr txBox="1"/>
          <p:nvPr/>
        </p:nvSpPr>
        <p:spPr>
          <a:xfrm>
            <a:off x="7238848" y="1874520"/>
            <a:ext cx="4129888" cy="457200"/>
          </a:xfrm>
          <a:prstGeom prst="rect">
            <a:avLst/>
          </a:prstGeom>
          <a:noFill/>
          <a:ln/>
        </p:spPr>
        <p:txBody>
          <a:bodyPr wrap="square" lIns="0" tIns="0" rIns="0" bIns="0" rtlCol="0" anchor="ctr"/>
          <a:lstStyle/>
          <a:p>
            <a:pPr indent="0" marL="0">
              <a:buNone/>
            </a:pPr>
            <a:r>
              <a:rPr lang="en-US" sz="2400" b="1" dirty="0">
                <a:solidFill>
                  <a:schemeClr val="tx2"/>
                </a:solidFill>
              </a:rPr>
              <a:t>Defense in depth</a:t>
            </a:r>
            <a:endParaRPr lang="en-US" sz="2400" dirty="0"/>
          </a:p>
        </p:txBody>
      </p:sp>
      <p:sp>
        <p:nvSpPr>
          <p:cNvPr id="13" name="Defense in depth definition"/>
          <p:cNvSpPr txBox="1"/>
          <p:nvPr/>
        </p:nvSpPr>
        <p:spPr>
          <a:xfrm>
            <a:off x="6553048" y="2514600"/>
            <a:ext cx="4815688" cy="960120"/>
          </a:xfrm>
          <a:prstGeom prst="rect">
            <a:avLst/>
          </a:prstGeom>
          <a:noFill/>
          <a:ln/>
        </p:spPr>
        <p:txBody>
          <a:bodyPr wrap="square" lIns="0" tIns="0" rIns="0" bIns="0" rtlCol="0" anchor="t"/>
          <a:lstStyle/>
          <a:p>
            <a:pPr indent="0" marL="0">
              <a:buNone/>
            </a:pPr>
            <a:r>
              <a:rPr lang="en-US" sz="1500" dirty="0">
                <a:solidFill>
                  <a:schemeClr val="tx1"/>
                </a:solidFill>
              </a:rPr>
              <a:t>The additional safeguards layered on afterward. Each waits on something the client approves, schedules or licenses, and they are sequenced on the roadmap.</a:t>
            </a:r>
            <a:endParaRPr lang="en-US" sz="1500" dirty="0"/>
          </a:p>
        </p:txBody>
      </p:sp>
      <p:sp>
        <p:nvSpPr>
          <p:cNvPr id="14" name="Defense in depth criteria heading"/>
          <p:cNvSpPr txBox="1"/>
          <p:nvPr/>
        </p:nvSpPr>
        <p:spPr>
          <a:xfrm>
            <a:off x="6553048" y="3566160"/>
            <a:ext cx="4815688" cy="365760"/>
          </a:xfrm>
          <a:prstGeom prst="rect">
            <a:avLst/>
          </a:prstGeom>
          <a:noFill/>
          <a:ln/>
        </p:spPr>
        <p:txBody>
          <a:bodyPr wrap="square" lIns="0" tIns="0" rIns="0" bIns="0" rtlCol="0" anchor="t"/>
          <a:lstStyle/>
          <a:p>
            <a:pPr indent="0" marL="0">
              <a:buNone/>
            </a:pPr>
            <a:r>
              <a:rPr lang="en-US" sz="1500" b="1" dirty="0">
                <a:solidFill>
                  <a:schemeClr val="tx2"/>
                </a:solidFill>
              </a:rPr>
              <a:t>Defense in depth when any one is true</a:t>
            </a:r>
            <a:endParaRPr lang="en-US" sz="1500" dirty="0"/>
          </a:p>
        </p:txBody>
      </p:sp>
      <p:sp>
        <p:nvSpPr>
          <p:cNvPr id="15" name="Defense in depth criteria"/>
          <p:cNvSpPr txBox="1"/>
          <p:nvPr/>
        </p:nvSpPr>
        <p:spPr>
          <a:xfrm>
            <a:off x="6553048" y="3977640"/>
            <a:ext cx="4815688" cy="22402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It needs application or dependency testing only the client can perform.</a:t>
            </a:r>
            <a:endParaRPr lang="en-US" sz="1400" dirty="0"/>
          </a:p>
          <a:p>
            <a:pPr marL="342900" indent="-342900">
              <a:spcAft>
                <a:spcPts val="600"/>
              </a:spcAft>
              <a:buSzPct val="100000"/>
              <a:buChar char="•"/>
            </a:pPr>
            <a:r>
              <a:rPr lang="en-US" sz="1400" dirty="0">
                <a:solidFill>
                  <a:schemeClr val="tx1"/>
                </a:solidFill>
              </a:rPr>
              <a:t>It needs a maintenance window, a reboot or a redeployment.</a:t>
            </a:r>
            <a:endParaRPr lang="en-US" sz="1400" dirty="0"/>
          </a:p>
          <a:p>
            <a:pPr marL="342900" indent="-342900">
              <a:spcAft>
                <a:spcPts val="600"/>
              </a:spcAft>
              <a:buSzPct val="100000"/>
              <a:buChar char="•"/>
            </a:pPr>
            <a:r>
              <a:rPr lang="en-US" sz="1400" dirty="0">
                <a:solidFill>
                  <a:schemeClr val="tx1"/>
                </a:solidFill>
              </a:rPr>
              <a:t>It changes network or directory architecture.</a:t>
            </a:r>
            <a:endParaRPr lang="en-US" sz="1400" dirty="0"/>
          </a:p>
          <a:p>
            <a:pPr marL="342900" indent="-342900">
              <a:spcAft>
                <a:spcPts val="600"/>
              </a:spcAft>
              <a:buSzPct val="100000"/>
              <a:buChar char="•"/>
            </a:pPr>
            <a:r>
              <a:rPr lang="en-US" sz="1400" dirty="0">
                <a:solidFill>
                  <a:schemeClr val="tx1"/>
                </a:solidFill>
              </a:rPr>
              <a:t>It needs licensing or recurring cost beyond the service agreement.</a:t>
            </a:r>
            <a:endParaRPr lang="en-US" sz="1400" dirty="0"/>
          </a:p>
          <a:p>
            <a:pPr marL="342900" indent="-342900">
              <a:spcAft>
                <a:spcPts val="600"/>
              </a:spcAft>
              <a:buSzPct val="100000"/>
              <a:buChar char="•"/>
            </a:pPr>
            <a:r>
              <a:rPr lang="en-US" sz="1400" dirty="0">
                <a:solidFill>
                  <a:schemeClr val="tx1"/>
                </a:solidFill>
              </a:rPr>
              <a:t>It depends on tuning against the environment's own operating history.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How each control is graded</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Every control carries one status at each review</a:t>
            </a:r>
            <a:endParaRPr lang="en-US" sz="1600" dirty="0"/>
          </a:p>
        </p:txBody>
      </p:sp>
      <p:sp>
        <p:nvSpPr>
          <p:cNvPr id="4" name="E card"/>
          <p:cNvSpPr/>
          <p:nvPr/>
        </p:nvSpPr>
        <p:spPr>
          <a:xfrm>
            <a:off x="548640" y="1600200"/>
            <a:ext cx="3515258" cy="2468880"/>
          </a:xfrm>
          <a:prstGeom prst="roundRect">
            <a:avLst>
              <a:gd name="adj" fmla="val 2963"/>
            </a:avLst>
          </a:prstGeom>
          <a:solidFill>
            <a:schemeClr val="bg2"/>
          </a:solidFill>
          <a:ln w="12700">
            <a:solidFill>
              <a:schemeClr val="bg2"/>
            </a:solidFill>
            <a:prstDash val="solid"/>
          </a:ln>
        </p:spPr>
      </p:sp>
      <p:sp>
        <p:nvSpPr>
          <p:cNvPr id="5" name="E mark"/>
          <p:cNvSpPr txBox="1"/>
          <p:nvPr/>
        </p:nvSpPr>
        <p:spPr>
          <a:xfrm>
            <a:off x="868680" y="1920240"/>
            <a:ext cx="777240" cy="777240"/>
          </a:xfrm>
          <a:prstGeom prst="roundRect">
            <a:avLst>
              <a:gd name="adj" fmla="val 7059"/>
            </a:avLst>
          </a:prstGeom>
          <a:solidFill>
            <a:schemeClr val="accent3"/>
          </a:solidFill>
          <a:ln/>
        </p:spPr>
        <p:txBody>
          <a:bodyPr wrap="square" lIns="0" tIns="0" rIns="0" bIns="0" rtlCol="0" anchor="ctr"/>
          <a:lstStyle/>
          <a:p>
            <a:pPr algn="ctr" indent="0" marL="0">
              <a:buNone/>
            </a:pPr>
            <a:r>
              <a:rPr lang="en-US" sz="3600" b="1" dirty="0">
                <a:solidFill>
                  <a:schemeClr val="bg1"/>
                </a:solidFill>
              </a:rPr>
              <a:t>E</a:t>
            </a:r>
            <a:endParaRPr lang="en-US" sz="3600" dirty="0"/>
          </a:p>
        </p:txBody>
      </p:sp>
      <p:sp>
        <p:nvSpPr>
          <p:cNvPr id="6" name="E threshold"/>
          <p:cNvSpPr txBox="1"/>
          <p:nvPr/>
        </p:nvSpPr>
        <p:spPr>
          <a:xfrm>
            <a:off x="868680" y="2834640"/>
            <a:ext cx="2875178" cy="548640"/>
          </a:xfrm>
          <a:prstGeom prst="rect">
            <a:avLst/>
          </a:prstGeom>
          <a:noFill/>
          <a:ln/>
        </p:spPr>
        <p:txBody>
          <a:bodyPr wrap="square" lIns="0" tIns="0" rIns="0" bIns="0" rtlCol="0" anchor="t"/>
          <a:lstStyle/>
          <a:p>
            <a:pPr indent="0" marL="0">
              <a:buNone/>
            </a:pPr>
            <a:r>
              <a:rPr lang="en-US" sz="3000" b="1" dirty="0">
                <a:solidFill>
                  <a:schemeClr val="tx2"/>
                </a:solidFill>
              </a:rPr>
              <a:t>90% or more</a:t>
            </a:r>
            <a:endParaRPr lang="en-US" sz="3000" dirty="0"/>
          </a:p>
        </p:txBody>
      </p:sp>
      <p:sp>
        <p:nvSpPr>
          <p:cNvPr id="7" name="E label"/>
          <p:cNvSpPr txBox="1"/>
          <p:nvPr/>
        </p:nvSpPr>
        <p:spPr>
          <a:xfrm>
            <a:off x="868680" y="3383280"/>
            <a:ext cx="2875178" cy="365760"/>
          </a:xfrm>
          <a:prstGeom prst="rect">
            <a:avLst/>
          </a:prstGeom>
          <a:noFill/>
          <a:ln/>
        </p:spPr>
        <p:txBody>
          <a:bodyPr wrap="square" lIns="0" tIns="0" rIns="0" bIns="0" rtlCol="0" anchor="t"/>
          <a:lstStyle/>
          <a:p>
            <a:pPr indent="0" marL="0">
              <a:buNone/>
            </a:pPr>
            <a:r>
              <a:rPr lang="en-US" sz="1500" dirty="0">
                <a:solidFill>
                  <a:schemeClr val="accent6"/>
                </a:solidFill>
              </a:rPr>
              <a:t>Enforced on in-scope resources</a:t>
            </a:r>
            <a:endParaRPr lang="en-US" sz="1500" dirty="0"/>
          </a:p>
        </p:txBody>
      </p:sp>
      <p:sp>
        <p:nvSpPr>
          <p:cNvPr id="8" name="P card"/>
          <p:cNvSpPr/>
          <p:nvPr/>
        </p:nvSpPr>
        <p:spPr>
          <a:xfrm>
            <a:off x="4338218" y="1600200"/>
            <a:ext cx="3515258" cy="2468880"/>
          </a:xfrm>
          <a:prstGeom prst="roundRect">
            <a:avLst>
              <a:gd name="adj" fmla="val 2963"/>
            </a:avLst>
          </a:prstGeom>
          <a:solidFill>
            <a:schemeClr val="bg2"/>
          </a:solidFill>
          <a:ln w="12700">
            <a:solidFill>
              <a:schemeClr val="bg2"/>
            </a:solidFill>
            <a:prstDash val="solid"/>
          </a:ln>
        </p:spPr>
      </p:sp>
      <p:sp>
        <p:nvSpPr>
          <p:cNvPr id="9" name="P mark"/>
          <p:cNvSpPr txBox="1"/>
          <p:nvPr/>
        </p:nvSpPr>
        <p:spPr>
          <a:xfrm>
            <a:off x="4658258" y="1920240"/>
            <a:ext cx="777240" cy="777240"/>
          </a:xfrm>
          <a:prstGeom prst="roundRect">
            <a:avLst>
              <a:gd name="adj" fmla="val 7059"/>
            </a:avLst>
          </a:prstGeom>
          <a:solidFill>
            <a:schemeClr val="accent2"/>
          </a:solidFill>
          <a:ln/>
        </p:spPr>
        <p:txBody>
          <a:bodyPr wrap="square" lIns="0" tIns="0" rIns="0" bIns="0" rtlCol="0" anchor="ctr"/>
          <a:lstStyle/>
          <a:p>
            <a:pPr algn="ctr" indent="0" marL="0">
              <a:buNone/>
            </a:pPr>
            <a:r>
              <a:rPr lang="en-US" sz="3600" b="1" dirty="0">
                <a:solidFill>
                  <a:schemeClr val="bg1"/>
                </a:solidFill>
              </a:rPr>
              <a:t>P</a:t>
            </a:r>
            <a:endParaRPr lang="en-US" sz="3600" dirty="0"/>
          </a:p>
        </p:txBody>
      </p:sp>
      <p:sp>
        <p:nvSpPr>
          <p:cNvPr id="10" name="P threshold"/>
          <p:cNvSpPr txBox="1"/>
          <p:nvPr/>
        </p:nvSpPr>
        <p:spPr>
          <a:xfrm>
            <a:off x="4658258" y="2834640"/>
            <a:ext cx="2875178" cy="548640"/>
          </a:xfrm>
          <a:prstGeom prst="rect">
            <a:avLst/>
          </a:prstGeom>
          <a:noFill/>
          <a:ln/>
        </p:spPr>
        <p:txBody>
          <a:bodyPr wrap="square" lIns="0" tIns="0" rIns="0" bIns="0" rtlCol="0" anchor="t"/>
          <a:lstStyle/>
          <a:p>
            <a:pPr indent="0" marL="0">
              <a:buNone/>
            </a:pPr>
            <a:r>
              <a:rPr lang="en-US" sz="3000" b="1" dirty="0">
                <a:solidFill>
                  <a:schemeClr val="tx2"/>
                </a:solidFill>
              </a:rPr>
              <a:t>50 to 89%</a:t>
            </a:r>
            <a:endParaRPr lang="en-US" sz="3000" dirty="0"/>
          </a:p>
        </p:txBody>
      </p:sp>
      <p:sp>
        <p:nvSpPr>
          <p:cNvPr id="11" name="P label"/>
          <p:cNvSpPr txBox="1"/>
          <p:nvPr/>
        </p:nvSpPr>
        <p:spPr>
          <a:xfrm>
            <a:off x="4658258" y="3383280"/>
            <a:ext cx="2875178" cy="365760"/>
          </a:xfrm>
          <a:prstGeom prst="rect">
            <a:avLst/>
          </a:prstGeom>
          <a:noFill/>
          <a:ln/>
        </p:spPr>
        <p:txBody>
          <a:bodyPr wrap="square" lIns="0" tIns="0" rIns="0" bIns="0" rtlCol="0" anchor="t"/>
          <a:lstStyle/>
          <a:p>
            <a:pPr indent="0" marL="0">
              <a:buNone/>
            </a:pPr>
            <a:r>
              <a:rPr lang="en-US" sz="1500" dirty="0">
                <a:solidFill>
                  <a:schemeClr val="accent6"/>
                </a:solidFill>
              </a:rPr>
              <a:t>Partial, enforced on some resources</a:t>
            </a:r>
            <a:endParaRPr lang="en-US" sz="1500" dirty="0"/>
          </a:p>
        </p:txBody>
      </p:sp>
      <p:sp>
        <p:nvSpPr>
          <p:cNvPr id="12" name="N card"/>
          <p:cNvSpPr/>
          <p:nvPr/>
        </p:nvSpPr>
        <p:spPr>
          <a:xfrm>
            <a:off x="8127797" y="1600200"/>
            <a:ext cx="3515258" cy="2468880"/>
          </a:xfrm>
          <a:prstGeom prst="roundRect">
            <a:avLst>
              <a:gd name="adj" fmla="val 2963"/>
            </a:avLst>
          </a:prstGeom>
          <a:solidFill>
            <a:schemeClr val="bg2"/>
          </a:solidFill>
          <a:ln w="12700">
            <a:solidFill>
              <a:schemeClr val="bg2"/>
            </a:solidFill>
            <a:prstDash val="solid"/>
          </a:ln>
        </p:spPr>
      </p:sp>
      <p:sp>
        <p:nvSpPr>
          <p:cNvPr id="13" name="N mark"/>
          <p:cNvSpPr txBox="1"/>
          <p:nvPr/>
        </p:nvSpPr>
        <p:spPr>
          <a:xfrm>
            <a:off x="8447837" y="1920240"/>
            <a:ext cx="777240" cy="777240"/>
          </a:xfrm>
          <a:prstGeom prst="roundRect">
            <a:avLst>
              <a:gd name="adj" fmla="val 7059"/>
            </a:avLst>
          </a:prstGeom>
          <a:solidFill>
            <a:schemeClr val="accent4"/>
          </a:solidFill>
          <a:ln/>
        </p:spPr>
        <p:txBody>
          <a:bodyPr wrap="square" lIns="0" tIns="0" rIns="0" bIns="0" rtlCol="0" anchor="ctr"/>
          <a:lstStyle/>
          <a:p>
            <a:pPr algn="ctr" indent="0" marL="0">
              <a:buNone/>
            </a:pPr>
            <a:r>
              <a:rPr lang="en-US" sz="3600" b="1" dirty="0">
                <a:solidFill>
                  <a:schemeClr val="bg1"/>
                </a:solidFill>
              </a:rPr>
              <a:t>N</a:t>
            </a:r>
            <a:endParaRPr lang="en-US" sz="3600" dirty="0"/>
          </a:p>
        </p:txBody>
      </p:sp>
      <p:sp>
        <p:nvSpPr>
          <p:cNvPr id="14" name="N threshold"/>
          <p:cNvSpPr txBox="1"/>
          <p:nvPr/>
        </p:nvSpPr>
        <p:spPr>
          <a:xfrm>
            <a:off x="8447837" y="2834640"/>
            <a:ext cx="2875178" cy="548640"/>
          </a:xfrm>
          <a:prstGeom prst="rect">
            <a:avLst/>
          </a:prstGeom>
          <a:noFill/>
          <a:ln/>
        </p:spPr>
        <p:txBody>
          <a:bodyPr wrap="square" lIns="0" tIns="0" rIns="0" bIns="0" rtlCol="0" anchor="t"/>
          <a:lstStyle/>
          <a:p>
            <a:pPr indent="0" marL="0">
              <a:buNone/>
            </a:pPr>
            <a:r>
              <a:rPr lang="en-US" sz="3000" b="1" dirty="0">
                <a:solidFill>
                  <a:schemeClr val="tx2"/>
                </a:solidFill>
              </a:rPr>
              <a:t>Under 50%</a:t>
            </a:r>
            <a:endParaRPr lang="en-US" sz="3000" dirty="0"/>
          </a:p>
        </p:txBody>
      </p:sp>
      <p:sp>
        <p:nvSpPr>
          <p:cNvPr id="15" name="N label"/>
          <p:cNvSpPr txBox="1"/>
          <p:nvPr/>
        </p:nvSpPr>
        <p:spPr>
          <a:xfrm>
            <a:off x="8447837" y="3383280"/>
            <a:ext cx="2875178" cy="365760"/>
          </a:xfrm>
          <a:prstGeom prst="rect">
            <a:avLst/>
          </a:prstGeom>
          <a:noFill/>
          <a:ln/>
        </p:spPr>
        <p:txBody>
          <a:bodyPr wrap="square" lIns="0" tIns="0" rIns="0" bIns="0" rtlCol="0" anchor="t"/>
          <a:lstStyle/>
          <a:p>
            <a:pPr indent="0" marL="0">
              <a:buNone/>
            </a:pPr>
            <a:r>
              <a:rPr lang="en-US" sz="1500" dirty="0">
                <a:solidFill>
                  <a:schemeClr val="accent6"/>
                </a:solidFill>
              </a:rPr>
              <a:t>Not yet enforced</a:t>
            </a:r>
            <a:endParaRPr lang="en-US" sz="1500" dirty="0"/>
          </a:p>
        </p:txBody>
      </p:sp>
      <p:sp>
        <p:nvSpPr>
          <p:cNvPr id="16" name="In force note card"/>
          <p:cNvSpPr/>
          <p:nvPr/>
        </p:nvSpPr>
        <p:spPr>
          <a:xfrm>
            <a:off x="548640" y="4343400"/>
            <a:ext cx="5410048" cy="1783080"/>
          </a:xfrm>
          <a:prstGeom prst="roundRect">
            <a:avLst>
              <a:gd name="adj" fmla="val 4103"/>
            </a:avLst>
          </a:prstGeom>
          <a:solidFill>
            <a:schemeClr val="bg2"/>
          </a:solidFill>
          <a:ln w="12700">
            <a:solidFill>
              <a:schemeClr val="bg2"/>
            </a:solidFill>
            <a:prstDash val="solid"/>
          </a:ln>
        </p:spPr>
      </p:sp>
      <p:sp>
        <p:nvSpPr>
          <p:cNvPr id="17" name="In force note"/>
          <p:cNvSpPr txBox="1"/>
          <p:nvPr/>
        </p:nvSpPr>
        <p:spPr>
          <a:xfrm>
            <a:off x="868680" y="4617720"/>
            <a:ext cx="4769968" cy="1280160"/>
          </a:xfrm>
          <a:prstGeom prst="rect">
            <a:avLst/>
          </a:prstGeom>
          <a:noFill/>
          <a:ln/>
        </p:spPr>
        <p:txBody>
          <a:bodyPr wrap="square" lIns="0" tIns="0" rIns="0" bIns="0" rtlCol="0" anchor="t"/>
          <a:lstStyle/>
          <a:p>
            <a:pPr indent="0" marL="0">
              <a:buNone/>
            </a:pPr>
            <a:r>
              <a:rPr lang="en-US" sz="2000" b="1" dirty="0">
                <a:solidFill>
                  <a:schemeClr val="tx2"/>
                </a:solidFill>
              </a:rPr>
              <a:t>In force or Not in force</a:t>
            </a:r>
            <a:endParaRPr lang="en-US" sz="2000" dirty="0"/>
          </a:p>
          <a:p>
            <a:pPr indent="0" marL="0">
              <a:spcBef>
                <a:spcPts val="800"/>
              </a:spcBef>
              <a:buNone/>
            </a:pPr>
            <a:r>
              <a:rPr lang="en-US" sz="1500" dirty="0">
                <a:solidFill>
                  <a:schemeClr val="tx1"/>
                </a:solidFill>
              </a:rPr>
              <a:t>A control read from a policy or tenant setting rather than a count, such as a Conditional Access policy, reads In force or Not in force.</a:t>
            </a:r>
            <a:endParaRPr lang="en-US" sz="2000" dirty="0"/>
          </a:p>
        </p:txBody>
      </p:sp>
      <p:sp>
        <p:nvSpPr>
          <p:cNvPr id="18" name="N/A note card"/>
          <p:cNvSpPr/>
          <p:nvPr/>
        </p:nvSpPr>
        <p:spPr>
          <a:xfrm>
            <a:off x="6233008" y="4343400"/>
            <a:ext cx="5410048" cy="1783080"/>
          </a:xfrm>
          <a:prstGeom prst="roundRect">
            <a:avLst>
              <a:gd name="adj" fmla="val 4103"/>
            </a:avLst>
          </a:prstGeom>
          <a:solidFill>
            <a:schemeClr val="bg2"/>
          </a:solidFill>
          <a:ln w="12700">
            <a:solidFill>
              <a:schemeClr val="bg2"/>
            </a:solidFill>
            <a:prstDash val="solid"/>
          </a:ln>
        </p:spPr>
      </p:sp>
      <p:sp>
        <p:nvSpPr>
          <p:cNvPr id="19" name="N/A note"/>
          <p:cNvSpPr txBox="1"/>
          <p:nvPr/>
        </p:nvSpPr>
        <p:spPr>
          <a:xfrm>
            <a:off x="6553048" y="4617720"/>
            <a:ext cx="4769968" cy="1280160"/>
          </a:xfrm>
          <a:prstGeom prst="rect">
            <a:avLst/>
          </a:prstGeom>
          <a:noFill/>
          <a:ln/>
        </p:spPr>
        <p:txBody>
          <a:bodyPr wrap="square" lIns="0" tIns="0" rIns="0" bIns="0" rtlCol="0" anchor="t"/>
          <a:lstStyle/>
          <a:p>
            <a:pPr indent="0" marL="0">
              <a:buNone/>
            </a:pPr>
            <a:r>
              <a:rPr lang="en-US" sz="2000" b="1" dirty="0">
                <a:solidFill>
                  <a:schemeClr val="tx2"/>
                </a:solidFill>
              </a:rPr>
              <a:t>N/A</a:t>
            </a:r>
            <a:endParaRPr lang="en-US" sz="2000" dirty="0"/>
          </a:p>
          <a:p>
            <a:pPr indent="0" marL="0">
              <a:spcBef>
                <a:spcPts val="800"/>
              </a:spcBef>
              <a:buNone/>
            </a:pPr>
            <a:r>
              <a:rPr lang="en-US" sz="1500" dirty="0">
                <a:solidFill>
                  <a:schemeClr val="tx1"/>
                </a:solidFill>
              </a:rPr>
              <a:t>A control with no activity or configuration to judge it by reads N/A and is left out of every count.</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Controls by pillar</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53 controls across five pillars</a:t>
            </a:r>
            <a:endParaRPr lang="en-US" sz="1600" dirty="0"/>
          </a:p>
        </p:txBody>
      </p:sp>
      <p:graphicFrame>
        <p:nvGraphicFramePr>
          <p:cNvPr id="4" name="Controls by pillar chart" descr=""/>
          <p:cNvGraphicFramePr/>
          <p:nvPr/>
        </p:nvGraphicFramePr>
        <p:xfrm>
          <a:off x="548640" y="1554480"/>
          <a:ext cx="7680960" cy="4937760"/>
        </p:xfrm>
        <a:graphic xmlns:a="http://schemas.openxmlformats.org/drawingml/2006/main">
          <a:graphicData uri="http://schemas.openxmlformats.org/drawingml/2006/chart">
            <c:chart xmlns:c="http://schemas.openxmlformats.org/drawingml/2006/chart" r:id="rId1"/>
          </a:graphicData>
        </a:graphic>
      </p:graphicFrame>
      <p:sp>
        <p:nvSpPr>
          <p:cNvPr id="5" name="controls in the standard card"/>
          <p:cNvSpPr/>
          <p:nvPr/>
        </p:nvSpPr>
        <p:spPr>
          <a:xfrm>
            <a:off x="8595360" y="1691640"/>
            <a:ext cx="3047695" cy="1371600"/>
          </a:xfrm>
          <a:prstGeom prst="roundRect">
            <a:avLst>
              <a:gd name="adj" fmla="val 5333"/>
            </a:avLst>
          </a:prstGeom>
          <a:solidFill>
            <a:schemeClr val="bg2"/>
          </a:solidFill>
          <a:ln w="12700">
            <a:solidFill>
              <a:schemeClr val="bg2"/>
            </a:solidFill>
            <a:prstDash val="solid"/>
          </a:ln>
        </p:spPr>
      </p:sp>
      <p:sp>
        <p:nvSpPr>
          <p:cNvPr id="6" name="controls in the standard stat"/>
          <p:cNvSpPr txBox="1"/>
          <p:nvPr/>
        </p:nvSpPr>
        <p:spPr>
          <a:xfrm>
            <a:off x="8915400" y="1828800"/>
            <a:ext cx="2407615" cy="1143000"/>
          </a:xfrm>
          <a:prstGeom prst="rect">
            <a:avLst/>
          </a:prstGeom>
          <a:noFill/>
          <a:ln/>
        </p:spPr>
        <p:txBody>
          <a:bodyPr wrap="square" lIns="0" tIns="0" rIns="0" bIns="0" rtlCol="0" anchor="t"/>
          <a:lstStyle/>
          <a:p>
            <a:pPr indent="0" marL="0">
              <a:buNone/>
            </a:pPr>
            <a:r>
              <a:rPr lang="en-US" sz="4800" b="1" dirty="0">
                <a:solidFill>
                  <a:schemeClr val="tx2"/>
                </a:solidFill>
              </a:rPr>
              <a:t>53</a:t>
            </a:r>
            <a:endParaRPr lang="en-US" sz="4800" dirty="0"/>
          </a:p>
          <a:p>
            <a:pPr indent="0" marL="0">
              <a:buNone/>
            </a:pPr>
            <a:r>
              <a:rPr lang="en-US" sz="1500" dirty="0">
                <a:solidFill>
                  <a:schemeClr val="accent6"/>
                </a:solidFill>
              </a:rPr>
              <a:t>controls in the standard</a:t>
            </a:r>
            <a:endParaRPr lang="en-US" sz="4800" dirty="0"/>
          </a:p>
        </p:txBody>
      </p:sp>
      <p:sp>
        <p:nvSpPr>
          <p:cNvPr id="7" name="foundational card"/>
          <p:cNvSpPr/>
          <p:nvPr/>
        </p:nvSpPr>
        <p:spPr>
          <a:xfrm>
            <a:off x="8595360" y="3291840"/>
            <a:ext cx="3047695" cy="1371600"/>
          </a:xfrm>
          <a:prstGeom prst="roundRect">
            <a:avLst>
              <a:gd name="adj" fmla="val 5333"/>
            </a:avLst>
          </a:prstGeom>
          <a:solidFill>
            <a:schemeClr val="bg2"/>
          </a:solidFill>
          <a:ln w="12700">
            <a:solidFill>
              <a:schemeClr val="bg2"/>
            </a:solidFill>
            <a:prstDash val="solid"/>
          </a:ln>
        </p:spPr>
      </p:sp>
      <p:sp>
        <p:nvSpPr>
          <p:cNvPr id="8" name="foundational stat"/>
          <p:cNvSpPr txBox="1"/>
          <p:nvPr/>
        </p:nvSpPr>
        <p:spPr>
          <a:xfrm>
            <a:off x="8915400" y="3429000"/>
            <a:ext cx="2407615" cy="1143000"/>
          </a:xfrm>
          <a:prstGeom prst="rect">
            <a:avLst/>
          </a:prstGeom>
          <a:noFill/>
          <a:ln/>
        </p:spPr>
        <p:txBody>
          <a:bodyPr wrap="square" lIns="0" tIns="0" rIns="0" bIns="0" rtlCol="0" anchor="t"/>
          <a:lstStyle/>
          <a:p>
            <a:pPr indent="0" marL="0">
              <a:buNone/>
            </a:pPr>
            <a:r>
              <a:rPr lang="en-US" sz="4800" b="1" dirty="0">
                <a:solidFill>
                  <a:schemeClr val="accent2"/>
                </a:solidFill>
              </a:rPr>
              <a:t>31</a:t>
            </a:r>
            <a:endParaRPr lang="en-US" sz="4800" dirty="0"/>
          </a:p>
          <a:p>
            <a:pPr indent="0" marL="0">
              <a:buNone/>
            </a:pPr>
            <a:r>
              <a:rPr lang="en-US" sz="1500" dirty="0">
                <a:solidFill>
                  <a:schemeClr val="accent6"/>
                </a:solidFill>
              </a:rPr>
              <a:t>foundational</a:t>
            </a:r>
            <a:endParaRPr lang="en-US" sz="4800" dirty="0"/>
          </a:p>
        </p:txBody>
      </p:sp>
      <p:sp>
        <p:nvSpPr>
          <p:cNvPr id="9" name="defense in depth card"/>
          <p:cNvSpPr/>
          <p:nvPr/>
        </p:nvSpPr>
        <p:spPr>
          <a:xfrm>
            <a:off x="8595360" y="4892040"/>
            <a:ext cx="3047695" cy="1371600"/>
          </a:xfrm>
          <a:prstGeom prst="roundRect">
            <a:avLst>
              <a:gd name="adj" fmla="val 5333"/>
            </a:avLst>
          </a:prstGeom>
          <a:solidFill>
            <a:schemeClr val="bg2"/>
          </a:solidFill>
          <a:ln w="12700">
            <a:solidFill>
              <a:schemeClr val="bg2"/>
            </a:solidFill>
            <a:prstDash val="solid"/>
          </a:ln>
        </p:spPr>
      </p:sp>
      <p:sp>
        <p:nvSpPr>
          <p:cNvPr id="10" name="defense in depth stat"/>
          <p:cNvSpPr txBox="1"/>
          <p:nvPr/>
        </p:nvSpPr>
        <p:spPr>
          <a:xfrm>
            <a:off x="8915400" y="5029200"/>
            <a:ext cx="2407615" cy="1143000"/>
          </a:xfrm>
          <a:prstGeom prst="rect">
            <a:avLst/>
          </a:prstGeom>
          <a:noFill/>
          <a:ln/>
        </p:spPr>
        <p:txBody>
          <a:bodyPr wrap="square" lIns="0" tIns="0" rIns="0" bIns="0" rtlCol="0" anchor="t"/>
          <a:lstStyle/>
          <a:p>
            <a:pPr indent="0" marL="0">
              <a:buNone/>
            </a:pPr>
            <a:r>
              <a:rPr lang="en-US" sz="4800" b="1" dirty="0">
                <a:solidFill>
                  <a:schemeClr val="tx2"/>
                </a:solidFill>
              </a:rPr>
              <a:t>22</a:t>
            </a:r>
            <a:endParaRPr lang="en-US" sz="4800" dirty="0"/>
          </a:p>
          <a:p>
            <a:pPr indent="0" marL="0">
              <a:buNone/>
            </a:pPr>
            <a:r>
              <a:rPr lang="en-US" sz="1500" dirty="0">
                <a:solidFill>
                  <a:schemeClr val="accent6"/>
                </a:solidFill>
              </a:rPr>
              <a:t>defense in depth</a:t>
            </a:r>
            <a:endParaRPr lang="en-US" sz="4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Identity and access</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6 controls · Configured at build and held at E at every review</a:t>
            </a:r>
            <a:endParaRPr lang="en-US" sz="1600" dirty="0"/>
          </a:p>
        </p:txBody>
      </p:sp>
      <p:sp>
        <p:nvSpPr>
          <p:cNvPr id="4" name="F1 card"/>
          <p:cNvSpPr/>
          <p:nvPr/>
        </p:nvSpPr>
        <p:spPr>
          <a:xfrm>
            <a:off x="548640" y="1600200"/>
            <a:ext cx="3515258" cy="2267712"/>
          </a:xfrm>
          <a:prstGeom prst="roundRect">
            <a:avLst>
              <a:gd name="adj" fmla="val 3226"/>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Multifactor authentication required at sign-in"/>
          <p:cNvSpPr txBox="1"/>
          <p:nvPr/>
        </p:nvSpPr>
        <p:spPr>
          <a:xfrm>
            <a:off x="1371600" y="1783080"/>
            <a:ext cx="2527706" cy="1975104"/>
          </a:xfrm>
          <a:prstGeom prst="rect">
            <a:avLst/>
          </a:prstGeom>
          <a:noFill/>
          <a:ln/>
        </p:spPr>
        <p:txBody>
          <a:bodyPr wrap="square" lIns="0" tIns="0" rIns="0" bIns="0" rtlCol="0" anchor="t"/>
          <a:lstStyle/>
          <a:p>
            <a:pPr indent="0" marL="0">
              <a:buNone/>
            </a:pPr>
            <a:r>
              <a:rPr lang="en-US" sz="1400" b="1" dirty="0">
                <a:solidFill>
                  <a:schemeClr val="tx2"/>
                </a:solidFill>
              </a:rPr>
              <a:t>Multifactor authentication required at sign-in</a:t>
            </a:r>
            <a:endParaRPr lang="en-US" sz="1400" dirty="0"/>
          </a:p>
          <a:p>
            <a:pPr indent="0" marL="0">
              <a:spcBef>
                <a:spcPts val="500"/>
              </a:spcBef>
              <a:buNone/>
            </a:pPr>
            <a:r>
              <a:rPr lang="en-US" sz="1200" dirty="0">
                <a:solidFill>
                  <a:schemeClr val="accent6"/>
                </a:solidFill>
              </a:rPr>
              <a:t>Members with at least one successful sign-in in the last 30 days that satisfied multifactor authentication.</a:t>
            </a:r>
            <a:endParaRPr lang="en-US" sz="1400" dirty="0"/>
          </a:p>
        </p:txBody>
      </p:sp>
      <p:sp>
        <p:nvSpPr>
          <p:cNvPr id="7" name="F2 card"/>
          <p:cNvSpPr/>
          <p:nvPr/>
        </p:nvSpPr>
        <p:spPr>
          <a:xfrm>
            <a:off x="4338218" y="1600200"/>
            <a:ext cx="3515258" cy="2267712"/>
          </a:xfrm>
          <a:prstGeom prst="roundRect">
            <a:avLst>
              <a:gd name="adj" fmla="val 3226"/>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Location-based sign-in access controls enforced through Conditional Access"/>
          <p:cNvSpPr txBox="1"/>
          <p:nvPr/>
        </p:nvSpPr>
        <p:spPr>
          <a:xfrm>
            <a:off x="5161178" y="1783080"/>
            <a:ext cx="2527706" cy="1975104"/>
          </a:xfrm>
          <a:prstGeom prst="rect">
            <a:avLst/>
          </a:prstGeom>
          <a:noFill/>
          <a:ln/>
        </p:spPr>
        <p:txBody>
          <a:bodyPr wrap="square" lIns="0" tIns="0" rIns="0" bIns="0" rtlCol="0" anchor="t"/>
          <a:lstStyle/>
          <a:p>
            <a:pPr indent="0" marL="0">
              <a:buNone/>
            </a:pPr>
            <a:r>
              <a:rPr lang="en-US" sz="1400" b="1" dirty="0">
                <a:solidFill>
                  <a:schemeClr val="tx2"/>
                </a:solidFill>
              </a:rPr>
              <a:t>Location-based sign-in access controls enforced through Conditional Access</a:t>
            </a:r>
            <a:endParaRPr lang="en-US" sz="1400" dirty="0"/>
          </a:p>
          <a:p>
            <a:pPr indent="0" marL="0">
              <a:spcBef>
                <a:spcPts val="500"/>
              </a:spcBef>
              <a:buNone/>
            </a:pPr>
            <a:r>
              <a:rPr lang="en-US" sz="1200" dirty="0">
                <a:solidFill>
                  <a:schemeClr val="accent6"/>
                </a:solidFill>
              </a:rPr>
              <a:t>An enabled Conditional Access policy blocks sign-ins or requires multifactor authentication by country or named network, for all users and all resources.</a:t>
            </a:r>
            <a:endParaRPr lang="en-US" sz="1400" dirty="0"/>
          </a:p>
        </p:txBody>
      </p:sp>
      <p:sp>
        <p:nvSpPr>
          <p:cNvPr id="10" name="F3 card"/>
          <p:cNvSpPr/>
          <p:nvPr/>
        </p:nvSpPr>
        <p:spPr>
          <a:xfrm>
            <a:off x="8127797" y="1600200"/>
            <a:ext cx="3515258" cy="2267712"/>
          </a:xfrm>
          <a:prstGeom prst="roundRect">
            <a:avLst>
              <a:gd name="adj" fmla="val 3226"/>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Legacy authentication blocked"/>
          <p:cNvSpPr txBox="1"/>
          <p:nvPr/>
        </p:nvSpPr>
        <p:spPr>
          <a:xfrm>
            <a:off x="8950757" y="1783080"/>
            <a:ext cx="2527706" cy="1975104"/>
          </a:xfrm>
          <a:prstGeom prst="rect">
            <a:avLst/>
          </a:prstGeom>
          <a:noFill/>
          <a:ln/>
        </p:spPr>
        <p:txBody>
          <a:bodyPr wrap="square" lIns="0" tIns="0" rIns="0" bIns="0" rtlCol="0" anchor="t"/>
          <a:lstStyle/>
          <a:p>
            <a:pPr indent="0" marL="0">
              <a:buNone/>
            </a:pPr>
            <a:r>
              <a:rPr lang="en-US" sz="1400" b="1" dirty="0">
                <a:solidFill>
                  <a:schemeClr val="tx2"/>
                </a:solidFill>
              </a:rPr>
              <a:t>Legacy authentication blocked</a:t>
            </a:r>
            <a:endParaRPr lang="en-US" sz="1400" dirty="0"/>
          </a:p>
          <a:p>
            <a:pPr indent="0" marL="0">
              <a:spcBef>
                <a:spcPts val="500"/>
              </a:spcBef>
              <a:buNone/>
            </a:pPr>
            <a:r>
              <a:rPr lang="en-US" sz="1200" dirty="0">
                <a:solidFill>
                  <a:schemeClr val="accent6"/>
                </a:solidFill>
              </a:rPr>
              <a:t>An enabled Conditional Access policy or security defaults block legacy authentication for all users, with approved exceptions only.</a:t>
            </a:r>
            <a:endParaRPr lang="en-US" sz="1400" dirty="0"/>
          </a:p>
        </p:txBody>
      </p:sp>
      <p:sp>
        <p:nvSpPr>
          <p:cNvPr id="13" name="F4 card"/>
          <p:cNvSpPr/>
          <p:nvPr/>
        </p:nvSpPr>
        <p:spPr>
          <a:xfrm>
            <a:off x="548640" y="4142232"/>
            <a:ext cx="3515258" cy="2267712"/>
          </a:xfrm>
          <a:prstGeom prst="roundRect">
            <a:avLst>
              <a:gd name="adj" fmla="val 3226"/>
            </a:avLst>
          </a:prstGeom>
          <a:solidFill>
            <a:schemeClr val="bg2"/>
          </a:solidFill>
          <a:ln w="12700">
            <a:solidFill>
              <a:schemeClr val="bg2"/>
            </a:solidFill>
            <a:prstDash val="solid"/>
          </a:ln>
        </p:spPr>
      </p:sp>
      <p:sp>
        <p:nvSpPr>
          <p:cNvPr id="14" name="F4 tag"/>
          <p:cNvSpPr txBox="1"/>
          <p:nvPr/>
        </p:nvSpPr>
        <p:spPr>
          <a:xfrm>
            <a:off x="731520" y="434340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Anti-phishing policy applied to every mailbox"/>
          <p:cNvSpPr txBox="1"/>
          <p:nvPr/>
        </p:nvSpPr>
        <p:spPr>
          <a:xfrm>
            <a:off x="1371600" y="4325112"/>
            <a:ext cx="2527706" cy="1975104"/>
          </a:xfrm>
          <a:prstGeom prst="rect">
            <a:avLst/>
          </a:prstGeom>
          <a:noFill/>
          <a:ln/>
        </p:spPr>
        <p:txBody>
          <a:bodyPr wrap="square" lIns="0" tIns="0" rIns="0" bIns="0" rtlCol="0" anchor="t"/>
          <a:lstStyle/>
          <a:p>
            <a:pPr indent="0" marL="0">
              <a:buNone/>
            </a:pPr>
            <a:r>
              <a:rPr lang="en-US" sz="1400" b="1" dirty="0">
                <a:solidFill>
                  <a:schemeClr val="tx2"/>
                </a:solidFill>
              </a:rPr>
              <a:t>Anti-phishing policy applied to every mailbox</a:t>
            </a:r>
            <a:endParaRPr lang="en-US" sz="1400" dirty="0"/>
          </a:p>
          <a:p>
            <a:pPr indent="0" marL="0">
              <a:spcBef>
                <a:spcPts val="500"/>
              </a:spcBef>
              <a:buNone/>
            </a:pPr>
            <a:r>
              <a:rPr lang="en-US" sz="1200" dirty="0">
                <a:solidFill>
                  <a:schemeClr val="accent6"/>
                </a:solidFill>
              </a:rPr>
              <a:t>The Microsoft default anti-phishing policy is enabled, so every mailbox carries baseline spoof protection.</a:t>
            </a:r>
            <a:endParaRPr lang="en-US" sz="1400" dirty="0"/>
          </a:p>
        </p:txBody>
      </p:sp>
      <p:sp>
        <p:nvSpPr>
          <p:cNvPr id="16" name="F5 card"/>
          <p:cNvSpPr/>
          <p:nvPr/>
        </p:nvSpPr>
        <p:spPr>
          <a:xfrm>
            <a:off x="4338218" y="4142232"/>
            <a:ext cx="3515258" cy="2267712"/>
          </a:xfrm>
          <a:prstGeom prst="roundRect">
            <a:avLst>
              <a:gd name="adj" fmla="val 3226"/>
            </a:avLst>
          </a:prstGeom>
          <a:solidFill>
            <a:schemeClr val="bg2"/>
          </a:solidFill>
          <a:ln w="12700">
            <a:solidFill>
              <a:schemeClr val="bg2"/>
            </a:solidFill>
            <a:prstDash val="solid"/>
          </a:ln>
        </p:spPr>
      </p:sp>
      <p:sp>
        <p:nvSpPr>
          <p:cNvPr id="17" name="F5 tag"/>
          <p:cNvSpPr txBox="1"/>
          <p:nvPr/>
        </p:nvSpPr>
        <p:spPr>
          <a:xfrm>
            <a:off x="4521098" y="434340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Multifactor authentication at admin portal sign-in"/>
          <p:cNvSpPr txBox="1"/>
          <p:nvPr/>
        </p:nvSpPr>
        <p:spPr>
          <a:xfrm>
            <a:off x="5161178" y="4325112"/>
            <a:ext cx="2527706" cy="1975104"/>
          </a:xfrm>
          <a:prstGeom prst="rect">
            <a:avLst/>
          </a:prstGeom>
          <a:noFill/>
          <a:ln/>
        </p:spPr>
        <p:txBody>
          <a:bodyPr wrap="square" lIns="0" tIns="0" rIns="0" bIns="0" rtlCol="0" anchor="t"/>
          <a:lstStyle/>
          <a:p>
            <a:pPr indent="0" marL="0">
              <a:buNone/>
            </a:pPr>
            <a:r>
              <a:rPr lang="en-US" sz="1400" b="1" dirty="0">
                <a:solidFill>
                  <a:schemeClr val="tx2"/>
                </a:solidFill>
              </a:rPr>
              <a:t>Multifactor authentication at admin portal sign-in</a:t>
            </a:r>
            <a:endParaRPr lang="en-US" sz="1400" dirty="0"/>
          </a:p>
          <a:p>
            <a:pPr indent="0" marL="0">
              <a:spcBef>
                <a:spcPts val="500"/>
              </a:spcBef>
              <a:buNone/>
            </a:pPr>
            <a:r>
              <a:rPr lang="en-US" sz="1200" dirty="0">
                <a:solidFill>
                  <a:schemeClr val="accent6"/>
                </a:solidFill>
              </a:rPr>
              <a:t>Members who signed in to a Microsoft admin portal in the last 30 days and satisfied multifactor authentication.</a:t>
            </a:r>
            <a:endParaRPr lang="en-US" sz="1400" dirty="0"/>
          </a:p>
        </p:txBody>
      </p:sp>
      <p:sp>
        <p:nvSpPr>
          <p:cNvPr id="19" name="F6 card"/>
          <p:cNvSpPr/>
          <p:nvPr/>
        </p:nvSpPr>
        <p:spPr>
          <a:xfrm>
            <a:off x="8127797" y="4142232"/>
            <a:ext cx="3515258" cy="2267712"/>
          </a:xfrm>
          <a:prstGeom prst="roundRect">
            <a:avLst>
              <a:gd name="adj" fmla="val 3226"/>
            </a:avLst>
          </a:prstGeom>
          <a:solidFill>
            <a:schemeClr val="bg2"/>
          </a:solidFill>
          <a:ln w="12700">
            <a:solidFill>
              <a:schemeClr val="bg2"/>
            </a:solidFill>
            <a:prstDash val="solid"/>
          </a:ln>
        </p:spPr>
      </p:sp>
      <p:sp>
        <p:nvSpPr>
          <p:cNvPr id="20" name="F6 tag"/>
          <p:cNvSpPr txBox="1"/>
          <p:nvPr/>
        </p:nvSpPr>
        <p:spPr>
          <a:xfrm>
            <a:off x="8310677" y="434340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F6</a:t>
            </a:r>
            <a:endParaRPr lang="en-US" sz="1300" dirty="0"/>
          </a:p>
        </p:txBody>
      </p:sp>
      <p:sp>
        <p:nvSpPr>
          <p:cNvPr id="21" name="F6 Device code flow sign-ins blocked"/>
          <p:cNvSpPr txBox="1"/>
          <p:nvPr/>
        </p:nvSpPr>
        <p:spPr>
          <a:xfrm>
            <a:off x="8950757" y="4325112"/>
            <a:ext cx="2527706" cy="1975104"/>
          </a:xfrm>
          <a:prstGeom prst="rect">
            <a:avLst/>
          </a:prstGeom>
          <a:noFill/>
          <a:ln/>
        </p:spPr>
        <p:txBody>
          <a:bodyPr wrap="square" lIns="0" tIns="0" rIns="0" bIns="0" rtlCol="0" anchor="t"/>
          <a:lstStyle/>
          <a:p>
            <a:pPr indent="0" marL="0">
              <a:buNone/>
            </a:pPr>
            <a:r>
              <a:rPr lang="en-US" sz="1400" b="1" dirty="0">
                <a:solidFill>
                  <a:schemeClr val="tx2"/>
                </a:solidFill>
              </a:rPr>
              <a:t>Device code flow sign-ins blocked</a:t>
            </a:r>
            <a:endParaRPr lang="en-US" sz="1400" dirty="0"/>
          </a:p>
          <a:p>
            <a:pPr indent="0" marL="0">
              <a:spcBef>
                <a:spcPts val="500"/>
              </a:spcBef>
              <a:buNone/>
            </a:pPr>
            <a:r>
              <a:rPr lang="en-US" sz="1200" dirty="0">
                <a:solidFill>
                  <a:schemeClr val="accent6"/>
                </a:solidFill>
              </a:rPr>
              <a:t>Device code flow sign-ins blocked by Conditional Access.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Identity and access</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4 controls · Layered on afterward and sequenced with each client on the roadmap</a:t>
            </a:r>
            <a:endParaRPr lang="en-US" sz="1600" dirty="0"/>
          </a:p>
        </p:txBody>
      </p:sp>
      <p:sp>
        <p:nvSpPr>
          <p:cNvPr id="4" name="D1 card"/>
          <p:cNvSpPr/>
          <p:nvPr/>
        </p:nvSpPr>
        <p:spPr>
          <a:xfrm>
            <a:off x="548640" y="1600200"/>
            <a:ext cx="3515258" cy="2084832"/>
          </a:xfrm>
          <a:prstGeom prst="roundRect">
            <a:avLst>
              <a:gd name="adj" fmla="val 3509"/>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Advanced anti-phishing policy applied"/>
          <p:cNvSpPr txBox="1"/>
          <p:nvPr/>
        </p:nvSpPr>
        <p:spPr>
          <a:xfrm>
            <a:off x="1371600" y="1783080"/>
            <a:ext cx="2527706" cy="1792224"/>
          </a:xfrm>
          <a:prstGeom prst="rect">
            <a:avLst/>
          </a:prstGeom>
          <a:noFill/>
          <a:ln/>
        </p:spPr>
        <p:txBody>
          <a:bodyPr wrap="square" lIns="0" tIns="0" rIns="0" bIns="0" rtlCol="0" anchor="t"/>
          <a:lstStyle/>
          <a:p>
            <a:pPr indent="0" marL="0">
              <a:buNone/>
            </a:pPr>
            <a:r>
              <a:rPr lang="en-US" sz="1400" b="1" dirty="0">
                <a:solidFill>
                  <a:schemeClr val="tx2"/>
                </a:solidFill>
              </a:rPr>
              <a:t>Advanced anti-phishing policy applied</a:t>
            </a:r>
            <a:endParaRPr lang="en-US" sz="1400" dirty="0"/>
          </a:p>
          <a:p>
            <a:pPr indent="0" marL="0">
              <a:spcBef>
                <a:spcPts val="500"/>
              </a:spcBef>
              <a:buNone/>
            </a:pPr>
            <a:r>
              <a:rPr lang="en-US" sz="1200" dirty="0">
                <a:solidFill>
                  <a:schemeClr val="accent6"/>
                </a:solidFill>
              </a:rPr>
              <a:t>An enabled anti-phishing policy with impersonation, mailbox intelligence and spoof protection.</a:t>
            </a:r>
            <a:endParaRPr lang="en-US" sz="1400" dirty="0"/>
          </a:p>
        </p:txBody>
      </p:sp>
      <p:sp>
        <p:nvSpPr>
          <p:cNvPr id="7" name="D2 card"/>
          <p:cNvSpPr/>
          <p:nvPr/>
        </p:nvSpPr>
        <p:spPr>
          <a:xfrm>
            <a:off x="4338218" y="1600200"/>
            <a:ext cx="3515258" cy="2084832"/>
          </a:xfrm>
          <a:prstGeom prst="roundRect">
            <a:avLst>
              <a:gd name="adj" fmla="val 3509"/>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Privileged roles held through eligibility rather than standing assignment"/>
          <p:cNvSpPr txBox="1"/>
          <p:nvPr/>
        </p:nvSpPr>
        <p:spPr>
          <a:xfrm>
            <a:off x="5161178" y="1783080"/>
            <a:ext cx="2527706" cy="1792224"/>
          </a:xfrm>
          <a:prstGeom prst="rect">
            <a:avLst/>
          </a:prstGeom>
          <a:noFill/>
          <a:ln/>
        </p:spPr>
        <p:txBody>
          <a:bodyPr wrap="square" lIns="0" tIns="0" rIns="0" bIns="0" rtlCol="0" anchor="t"/>
          <a:lstStyle/>
          <a:p>
            <a:pPr indent="0" marL="0">
              <a:buNone/>
            </a:pPr>
            <a:r>
              <a:rPr lang="en-US" sz="1400" b="1" dirty="0">
                <a:solidFill>
                  <a:schemeClr val="tx2"/>
                </a:solidFill>
              </a:rPr>
              <a:t>Privileged roles held through eligibility rather than standing assignment</a:t>
            </a:r>
            <a:endParaRPr lang="en-US" sz="1400" dirty="0"/>
          </a:p>
          <a:p>
            <a:pPr indent="0" marL="0">
              <a:spcBef>
                <a:spcPts val="500"/>
              </a:spcBef>
              <a:buNone/>
            </a:pPr>
            <a:r>
              <a:rPr lang="en-US" sz="1200" dirty="0">
                <a:solidFill>
                  <a:schemeClr val="accent6"/>
                </a:solidFill>
              </a:rPr>
              <a:t>Privileged Entra role assignments that are eligible through Privileged Identity Management, against eligible plus standing assignments.</a:t>
            </a:r>
            <a:endParaRPr lang="en-US" sz="1400" dirty="0"/>
          </a:p>
        </p:txBody>
      </p:sp>
      <p:sp>
        <p:nvSpPr>
          <p:cNvPr id="10" name="D3 card"/>
          <p:cNvSpPr/>
          <p:nvPr/>
        </p:nvSpPr>
        <p:spPr>
          <a:xfrm>
            <a:off x="8127797" y="1600200"/>
            <a:ext cx="3515258" cy="2084832"/>
          </a:xfrm>
          <a:prstGeom prst="roundRect">
            <a:avLst>
              <a:gd name="adj" fmla="val 3509"/>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Identity Protection sign-in and user risk policies enforced"/>
          <p:cNvSpPr txBox="1"/>
          <p:nvPr/>
        </p:nvSpPr>
        <p:spPr>
          <a:xfrm>
            <a:off x="8950757" y="1783080"/>
            <a:ext cx="2527706" cy="1792224"/>
          </a:xfrm>
          <a:prstGeom prst="rect">
            <a:avLst/>
          </a:prstGeom>
          <a:noFill/>
          <a:ln/>
        </p:spPr>
        <p:txBody>
          <a:bodyPr wrap="square" lIns="0" tIns="0" rIns="0" bIns="0" rtlCol="0" anchor="t"/>
          <a:lstStyle/>
          <a:p>
            <a:pPr indent="0" marL="0">
              <a:buNone/>
            </a:pPr>
            <a:r>
              <a:rPr lang="en-US" sz="1400" b="1" dirty="0">
                <a:solidFill>
                  <a:schemeClr val="tx2"/>
                </a:solidFill>
              </a:rPr>
              <a:t>Identity Protection sign-in and user risk policies enforced</a:t>
            </a:r>
            <a:endParaRPr lang="en-US" sz="1400" dirty="0"/>
          </a:p>
          <a:p>
            <a:pPr indent="0" marL="0">
              <a:spcBef>
                <a:spcPts val="500"/>
              </a:spcBef>
              <a:buNone/>
            </a:pPr>
            <a:r>
              <a:rPr lang="en-US" sz="1200" dirty="0">
                <a:solidFill>
                  <a:schemeClr val="accent6"/>
                </a:solidFill>
              </a:rPr>
              <a:t>An enabled Conditional Access policy with a sign-in risk condition and one with a user risk condition both include all users.</a:t>
            </a:r>
            <a:endParaRPr lang="en-US" sz="1400" dirty="0"/>
          </a:p>
        </p:txBody>
      </p:sp>
      <p:sp>
        <p:nvSpPr>
          <p:cNvPr id="13" name="D4 card"/>
          <p:cNvSpPr/>
          <p:nvPr/>
        </p:nvSpPr>
        <p:spPr>
          <a:xfrm>
            <a:off x="548640" y="3959352"/>
            <a:ext cx="3515258" cy="2084832"/>
          </a:xfrm>
          <a:prstGeom prst="roundRect">
            <a:avLst>
              <a:gd name="adj" fmla="val 3509"/>
            </a:avLst>
          </a:prstGeom>
          <a:solidFill>
            <a:schemeClr val="bg2"/>
          </a:solidFill>
          <a:ln w="12700">
            <a:solidFill>
              <a:schemeClr val="bg2"/>
            </a:solidFill>
            <a:prstDash val="solid"/>
          </a:ln>
        </p:spPr>
      </p:sp>
      <p:sp>
        <p:nvSpPr>
          <p:cNvPr id="14" name="D4 tag"/>
          <p:cNvSpPr txBox="1"/>
          <p:nvPr/>
        </p:nvSpPr>
        <p:spPr>
          <a:xfrm>
            <a:off x="731520" y="4160520"/>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Application consent governed by administrative approval"/>
          <p:cNvSpPr txBox="1"/>
          <p:nvPr/>
        </p:nvSpPr>
        <p:spPr>
          <a:xfrm>
            <a:off x="1371600" y="4142232"/>
            <a:ext cx="2527706" cy="1792224"/>
          </a:xfrm>
          <a:prstGeom prst="rect">
            <a:avLst/>
          </a:prstGeom>
          <a:noFill/>
          <a:ln/>
        </p:spPr>
        <p:txBody>
          <a:bodyPr wrap="square" lIns="0" tIns="0" rIns="0" bIns="0" rtlCol="0" anchor="t"/>
          <a:lstStyle/>
          <a:p>
            <a:pPr indent="0" marL="0">
              <a:buNone/>
            </a:pPr>
            <a:r>
              <a:rPr lang="en-US" sz="1400" b="1" dirty="0">
                <a:solidFill>
                  <a:schemeClr val="tx2"/>
                </a:solidFill>
              </a:rPr>
              <a:t>Application consent governed by administrative approval</a:t>
            </a:r>
            <a:endParaRPr lang="en-US" sz="1400" dirty="0"/>
          </a:p>
          <a:p>
            <a:pPr indent="0" marL="0">
              <a:spcBef>
                <a:spcPts val="500"/>
              </a:spcBef>
              <a:buNone/>
            </a:pPr>
            <a:r>
              <a:rPr lang="en-US" sz="1200" dirty="0">
                <a:solidFill>
                  <a:schemeClr val="accent6"/>
                </a:solidFill>
              </a:rPr>
              <a:t>Users cannot consent, or only to low-risk permissions from verified publishers, and the admin consent request workflow is on.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Endpoint and workload</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5 controls · Configured at build and held at E at every review</a:t>
            </a:r>
            <a:endParaRPr lang="en-US" sz="1600" dirty="0"/>
          </a:p>
        </p:txBody>
      </p:sp>
      <p:sp>
        <p:nvSpPr>
          <p:cNvPr id="4" name="F1 card"/>
          <p:cNvSpPr/>
          <p:nvPr/>
        </p:nvSpPr>
        <p:spPr>
          <a:xfrm>
            <a:off x="548640" y="1600200"/>
            <a:ext cx="3515258" cy="2331720"/>
          </a:xfrm>
          <a:prstGeom prst="roundRect">
            <a:avLst>
              <a:gd name="adj" fmla="val 3137"/>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Azure virtual machines reporting to endpoint detection"/>
          <p:cNvSpPr txBox="1"/>
          <p:nvPr/>
        </p:nvSpPr>
        <p:spPr>
          <a:xfrm>
            <a:off x="1371600" y="178308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Azure virtual machines reporting to endpoint detection</a:t>
            </a:r>
            <a:endParaRPr lang="en-US" sz="1400" dirty="0"/>
          </a:p>
          <a:p>
            <a:pPr indent="0" marL="0">
              <a:spcBef>
                <a:spcPts val="500"/>
              </a:spcBef>
              <a:buNone/>
            </a:pPr>
            <a:r>
              <a:rPr lang="en-US" sz="1200" dirty="0">
                <a:solidFill>
                  <a:schemeClr val="accent6"/>
                </a:solidFill>
              </a:rPr>
              <a:t>Azure virtual machines seen in the last 7 days that are onboarded to Defender for Endpoint or covered by another endpoint detection product, against the machines eligible for endpoint detection. Workstations, laptops and other endpoints that are not Azure resources are not part of this measure.</a:t>
            </a:r>
            <a:endParaRPr lang="en-US" sz="1400" dirty="0"/>
          </a:p>
        </p:txBody>
      </p:sp>
      <p:sp>
        <p:nvSpPr>
          <p:cNvPr id="7" name="F2 card"/>
          <p:cNvSpPr/>
          <p:nvPr/>
        </p:nvSpPr>
        <p:spPr>
          <a:xfrm>
            <a:off x="4338218" y="1600200"/>
            <a:ext cx="3515258" cy="2331720"/>
          </a:xfrm>
          <a:prstGeom prst="roundRect">
            <a:avLst>
              <a:gd name="adj" fmla="val 3137"/>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Real-time anti-malware protection enabled"/>
          <p:cNvSpPr txBox="1"/>
          <p:nvPr/>
        </p:nvSpPr>
        <p:spPr>
          <a:xfrm>
            <a:off x="5161178" y="178308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Real-time anti-malware protection enabled</a:t>
            </a:r>
            <a:endParaRPr lang="en-US" sz="1400" dirty="0"/>
          </a:p>
          <a:p>
            <a:pPr indent="0" marL="0">
              <a:spcBef>
                <a:spcPts val="500"/>
              </a:spcBef>
              <a:buNone/>
            </a:pPr>
            <a:r>
              <a:rPr lang="en-US" sz="1200" dirty="0">
                <a:solidFill>
                  <a:schemeClr val="accent6"/>
                </a:solidFill>
              </a:rPr>
              <a:t>Azure virtual machines compliant with the real-time protection configuration checks, all platforms.</a:t>
            </a:r>
            <a:endParaRPr lang="en-US" sz="1400" dirty="0"/>
          </a:p>
        </p:txBody>
      </p:sp>
      <p:sp>
        <p:nvSpPr>
          <p:cNvPr id="10" name="F3 card"/>
          <p:cNvSpPr/>
          <p:nvPr/>
        </p:nvSpPr>
        <p:spPr>
          <a:xfrm>
            <a:off x="8127797" y="1600200"/>
            <a:ext cx="3515258" cy="2331720"/>
          </a:xfrm>
          <a:prstGeom prst="roundRect">
            <a:avLst>
              <a:gd name="adj" fmla="val 3137"/>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Tamper protection enforced on Azure virtual machines"/>
          <p:cNvSpPr txBox="1"/>
          <p:nvPr/>
        </p:nvSpPr>
        <p:spPr>
          <a:xfrm>
            <a:off x="8950757" y="178308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Tamper protection enforced on Azure virtual machines</a:t>
            </a:r>
            <a:endParaRPr lang="en-US" sz="1400" dirty="0"/>
          </a:p>
          <a:p>
            <a:pPr indent="0" marL="0">
              <a:spcBef>
                <a:spcPts val="500"/>
              </a:spcBef>
              <a:buNone/>
            </a:pPr>
            <a:r>
              <a:rPr lang="en-US" sz="1200" dirty="0">
                <a:solidFill>
                  <a:schemeClr val="accent6"/>
                </a:solidFill>
              </a:rPr>
              <a:t>Onboarded Azure virtual machines seen in the last 30 days with tamper protection on.</a:t>
            </a:r>
            <a:endParaRPr lang="en-US" sz="1400" dirty="0"/>
          </a:p>
        </p:txBody>
      </p:sp>
      <p:sp>
        <p:nvSpPr>
          <p:cNvPr id="13" name="F4 card"/>
          <p:cNvSpPr/>
          <p:nvPr/>
        </p:nvSpPr>
        <p:spPr>
          <a:xfrm>
            <a:off x="548640" y="4206240"/>
            <a:ext cx="3515258" cy="2331720"/>
          </a:xfrm>
          <a:prstGeom prst="roundRect">
            <a:avLst>
              <a:gd name="adj" fmla="val 3137"/>
            </a:avLst>
          </a:prstGeom>
          <a:solidFill>
            <a:schemeClr val="bg2"/>
          </a:solidFill>
          <a:ln w="12700">
            <a:solidFill>
              <a:schemeClr val="bg2"/>
            </a:solidFill>
            <a:prstDash val="solid"/>
          </a:ln>
        </p:spPr>
      </p:sp>
      <p:sp>
        <p:nvSpPr>
          <p:cNvPr id="14" name="F4 tag"/>
          <p:cNvSpPr txBox="1"/>
          <p:nvPr/>
        </p:nvSpPr>
        <p:spPr>
          <a:xfrm>
            <a:off x="731520" y="440740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Host firewall enforced through endpoint policy"/>
          <p:cNvSpPr txBox="1"/>
          <p:nvPr/>
        </p:nvSpPr>
        <p:spPr>
          <a:xfrm>
            <a:off x="1371600" y="438912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Host firewall enforced through endpoint policy</a:t>
            </a:r>
            <a:endParaRPr lang="en-US" sz="1400" dirty="0"/>
          </a:p>
          <a:p>
            <a:pPr indent="0" marL="0">
              <a:spcBef>
                <a:spcPts val="500"/>
              </a:spcBef>
              <a:buNone/>
            </a:pPr>
            <a:r>
              <a:rPr lang="en-US" sz="1200" dirty="0">
                <a:solidFill>
                  <a:schemeClr val="accent6"/>
                </a:solidFill>
              </a:rPr>
              <a:t>Onboarded Azure virtual machines with Microsoft Defender Firewall on for every profile.</a:t>
            </a:r>
            <a:endParaRPr lang="en-US" sz="1400" dirty="0"/>
          </a:p>
        </p:txBody>
      </p:sp>
      <p:sp>
        <p:nvSpPr>
          <p:cNvPr id="16" name="F5 card"/>
          <p:cNvSpPr/>
          <p:nvPr/>
        </p:nvSpPr>
        <p:spPr>
          <a:xfrm>
            <a:off x="4338218" y="4206240"/>
            <a:ext cx="3515258" cy="2331720"/>
          </a:xfrm>
          <a:prstGeom prst="roundRect">
            <a:avLst>
              <a:gd name="adj" fmla="val 3137"/>
            </a:avLst>
          </a:prstGeom>
          <a:solidFill>
            <a:schemeClr val="bg2"/>
          </a:solidFill>
          <a:ln w="12700">
            <a:solidFill>
              <a:schemeClr val="bg2"/>
            </a:solidFill>
            <a:prstDash val="solid"/>
          </a:ln>
        </p:spPr>
      </p:sp>
      <p:sp>
        <p:nvSpPr>
          <p:cNvPr id="17" name="F5 tag"/>
          <p:cNvSpPr txBox="1"/>
          <p:nvPr/>
        </p:nvSpPr>
        <p:spPr>
          <a:xfrm>
            <a:off x="4521098" y="440740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Operating system findings remediated within the patch cadence"/>
          <p:cNvSpPr txBox="1"/>
          <p:nvPr/>
        </p:nvSpPr>
        <p:spPr>
          <a:xfrm>
            <a:off x="5161178" y="438912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Operating system findings remediated within the patch cadence</a:t>
            </a:r>
            <a:endParaRPr lang="en-US" sz="1400" dirty="0"/>
          </a:p>
          <a:p>
            <a:pPr indent="0" marL="0">
              <a:spcBef>
                <a:spcPts val="500"/>
              </a:spcBef>
              <a:buNone/>
            </a:pPr>
            <a:r>
              <a:rPr lang="en-US" sz="1200" dirty="0">
                <a:solidFill>
                  <a:schemeClr val="accent6"/>
                </a:solidFill>
              </a:rPr>
              <a:t>Machines assessed by Update Manager with no critical or security patch older than the agreed cadence.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Endpoint and workload</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6 controls · Layered on afterward and sequenced with each client on the roadmap</a:t>
            </a:r>
            <a:endParaRPr lang="en-US" sz="1600" dirty="0"/>
          </a:p>
        </p:txBody>
      </p:sp>
      <p:sp>
        <p:nvSpPr>
          <p:cNvPr id="4" name="D1 card"/>
          <p:cNvSpPr/>
          <p:nvPr/>
        </p:nvSpPr>
        <p:spPr>
          <a:xfrm>
            <a:off x="548640" y="1600200"/>
            <a:ext cx="3515258" cy="1819656"/>
          </a:xfrm>
          <a:prstGeom prst="roundRect">
            <a:avLst>
              <a:gd name="adj" fmla="val 4020"/>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Vulnerability assessment running on onboarded Azure virtual machines"/>
          <p:cNvSpPr txBox="1"/>
          <p:nvPr/>
        </p:nvSpPr>
        <p:spPr>
          <a:xfrm>
            <a:off x="1371600"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Vulnerability assessment running on onboarded Azure virtual machines</a:t>
            </a:r>
            <a:endParaRPr lang="en-US" sz="1400" dirty="0"/>
          </a:p>
          <a:p>
            <a:pPr indent="0" marL="0">
              <a:spcBef>
                <a:spcPts val="500"/>
              </a:spcBef>
              <a:buNone/>
            </a:pPr>
            <a:r>
              <a:rPr lang="en-US" sz="1200" dirty="0">
                <a:solidFill>
                  <a:schemeClr val="accent6"/>
                </a:solidFill>
              </a:rPr>
              <a:t>Onboarded Azure virtual machines with a vulnerability assessment result.</a:t>
            </a:r>
            <a:endParaRPr lang="en-US" sz="1400" dirty="0"/>
          </a:p>
        </p:txBody>
      </p:sp>
      <p:sp>
        <p:nvSpPr>
          <p:cNvPr id="7" name="D2 card"/>
          <p:cNvSpPr/>
          <p:nvPr/>
        </p:nvSpPr>
        <p:spPr>
          <a:xfrm>
            <a:off x="4338218" y="1600200"/>
            <a:ext cx="3515258" cy="1819656"/>
          </a:xfrm>
          <a:prstGeom prst="roundRect">
            <a:avLst>
              <a:gd name="adj" fmla="val 4020"/>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Platform integrity through Trusted Launch"/>
          <p:cNvSpPr txBox="1"/>
          <p:nvPr/>
        </p:nvSpPr>
        <p:spPr>
          <a:xfrm>
            <a:off x="5161178"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Platform integrity through Trusted Launch</a:t>
            </a:r>
            <a:endParaRPr lang="en-US" sz="1400" dirty="0"/>
          </a:p>
          <a:p>
            <a:pPr indent="0" marL="0">
              <a:spcBef>
                <a:spcPts val="500"/>
              </a:spcBef>
              <a:buNone/>
            </a:pPr>
            <a:r>
              <a:rPr lang="en-US" sz="1200" dirty="0">
                <a:solidFill>
                  <a:schemeClr val="accent6"/>
                </a:solidFill>
              </a:rPr>
              <a:t>Azure virtual machines deployed with Trusted Launch or confidential computing.</a:t>
            </a:r>
            <a:endParaRPr lang="en-US" sz="1400" dirty="0"/>
          </a:p>
        </p:txBody>
      </p:sp>
      <p:sp>
        <p:nvSpPr>
          <p:cNvPr id="10" name="D3 card"/>
          <p:cNvSpPr/>
          <p:nvPr/>
        </p:nvSpPr>
        <p:spPr>
          <a:xfrm>
            <a:off x="8127797" y="1600200"/>
            <a:ext cx="3515258" cy="1819656"/>
          </a:xfrm>
          <a:prstGeom prst="roundRect">
            <a:avLst>
              <a:gd name="adj" fmla="val 4020"/>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Encryption at host on virtual machines"/>
          <p:cNvSpPr txBox="1"/>
          <p:nvPr/>
        </p:nvSpPr>
        <p:spPr>
          <a:xfrm>
            <a:off x="8950757"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Encryption at host on virtual machines</a:t>
            </a:r>
            <a:endParaRPr lang="en-US" sz="1400" dirty="0"/>
          </a:p>
          <a:p>
            <a:pPr indent="0" marL="0">
              <a:spcBef>
                <a:spcPts val="500"/>
              </a:spcBef>
              <a:buNone/>
            </a:pPr>
            <a:r>
              <a:rPr lang="en-US" sz="1200" dirty="0">
                <a:solidFill>
                  <a:schemeClr val="accent6"/>
                </a:solidFill>
              </a:rPr>
              <a:t>Virtual machine and scale set resources with the encryption at host setting. Disk encryption alternatives are reviewed separately.</a:t>
            </a:r>
            <a:endParaRPr lang="en-US" sz="1400" dirty="0"/>
          </a:p>
        </p:txBody>
      </p:sp>
      <p:sp>
        <p:nvSpPr>
          <p:cNvPr id="13" name="D4 card"/>
          <p:cNvSpPr/>
          <p:nvPr/>
        </p:nvSpPr>
        <p:spPr>
          <a:xfrm>
            <a:off x="548640" y="3694176"/>
            <a:ext cx="3515258" cy="1819656"/>
          </a:xfrm>
          <a:prstGeom prst="roundRect">
            <a:avLst>
              <a:gd name="adj" fmla="val 4020"/>
            </a:avLst>
          </a:prstGeom>
          <a:solidFill>
            <a:schemeClr val="bg2"/>
          </a:solidFill>
          <a:ln w="12700">
            <a:solidFill>
              <a:schemeClr val="bg2"/>
            </a:solidFill>
            <a:prstDash val="solid"/>
          </a:ln>
        </p:spPr>
      </p:sp>
      <p:sp>
        <p:nvSpPr>
          <p:cNvPr id="14" name="D4 tag"/>
          <p:cNvSpPr txBox="1"/>
          <p:nvPr/>
        </p:nvSpPr>
        <p:spPr>
          <a:xfrm>
            <a:off x="731520"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Credential protection enforced"/>
          <p:cNvSpPr txBox="1"/>
          <p:nvPr/>
        </p:nvSpPr>
        <p:spPr>
          <a:xfrm>
            <a:off x="1371600"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Credential protection enforced</a:t>
            </a:r>
            <a:endParaRPr lang="en-US" sz="1400" dirty="0"/>
          </a:p>
          <a:p>
            <a:pPr indent="0" marL="0">
              <a:spcBef>
                <a:spcPts val="500"/>
              </a:spcBef>
              <a:buNone/>
            </a:pPr>
            <a:r>
              <a:rPr lang="en-US" sz="1200" dirty="0">
                <a:solidFill>
                  <a:schemeClr val="accent6"/>
                </a:solidFill>
              </a:rPr>
              <a:t>Onboarded Windows virtual machines with LSA protection on and WDigest credential caching off.</a:t>
            </a:r>
            <a:endParaRPr lang="en-US" sz="1400" dirty="0"/>
          </a:p>
        </p:txBody>
      </p:sp>
      <p:sp>
        <p:nvSpPr>
          <p:cNvPr id="16" name="D5 card"/>
          <p:cNvSpPr/>
          <p:nvPr/>
        </p:nvSpPr>
        <p:spPr>
          <a:xfrm>
            <a:off x="4338218" y="3694176"/>
            <a:ext cx="3515258" cy="1819656"/>
          </a:xfrm>
          <a:prstGeom prst="roundRect">
            <a:avLst>
              <a:gd name="adj" fmla="val 4020"/>
            </a:avLst>
          </a:prstGeom>
          <a:solidFill>
            <a:schemeClr val="bg2"/>
          </a:solidFill>
          <a:ln w="12700">
            <a:solidFill>
              <a:schemeClr val="bg2"/>
            </a:solidFill>
            <a:prstDash val="solid"/>
          </a:ln>
        </p:spPr>
      </p:sp>
      <p:sp>
        <p:nvSpPr>
          <p:cNvPr id="17" name="D5 tag"/>
          <p:cNvSpPr txBox="1"/>
          <p:nvPr/>
        </p:nvSpPr>
        <p:spPr>
          <a:xfrm>
            <a:off x="4521098"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D5</a:t>
            </a:r>
            <a:endParaRPr lang="en-US" sz="1300" dirty="0"/>
          </a:p>
        </p:txBody>
      </p:sp>
      <p:sp>
        <p:nvSpPr>
          <p:cNvPr id="18" name="D5 Remote Desktop hardened with TLS and Network Level Authentication"/>
          <p:cNvSpPr txBox="1"/>
          <p:nvPr/>
        </p:nvSpPr>
        <p:spPr>
          <a:xfrm>
            <a:off x="5161178"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Remote Desktop hardened with TLS and Network Level Authentication</a:t>
            </a:r>
            <a:endParaRPr lang="en-US" sz="1400" dirty="0"/>
          </a:p>
          <a:p>
            <a:pPr indent="0" marL="0">
              <a:spcBef>
                <a:spcPts val="500"/>
              </a:spcBef>
              <a:buNone/>
            </a:pPr>
            <a:r>
              <a:rPr lang="en-US" sz="1200" dirty="0">
                <a:solidFill>
                  <a:schemeClr val="accent6"/>
                </a:solidFill>
              </a:rPr>
              <a:t>Onboarded Windows virtual machines requiring TLS and Network Level Authentication for Remote Desktop.</a:t>
            </a:r>
            <a:endParaRPr lang="en-US" sz="1400" dirty="0"/>
          </a:p>
        </p:txBody>
      </p:sp>
      <p:sp>
        <p:nvSpPr>
          <p:cNvPr id="19" name="D6 card"/>
          <p:cNvSpPr/>
          <p:nvPr/>
        </p:nvSpPr>
        <p:spPr>
          <a:xfrm>
            <a:off x="8127797" y="3694176"/>
            <a:ext cx="3515258" cy="1819656"/>
          </a:xfrm>
          <a:prstGeom prst="roundRect">
            <a:avLst>
              <a:gd name="adj" fmla="val 4020"/>
            </a:avLst>
          </a:prstGeom>
          <a:solidFill>
            <a:schemeClr val="bg2"/>
          </a:solidFill>
          <a:ln w="12700">
            <a:solidFill>
              <a:schemeClr val="bg2"/>
            </a:solidFill>
            <a:prstDash val="solid"/>
          </a:ln>
        </p:spPr>
      </p:sp>
      <p:sp>
        <p:nvSpPr>
          <p:cNvPr id="20" name="D6 tag"/>
          <p:cNvSpPr txBox="1"/>
          <p:nvPr/>
        </p:nvSpPr>
        <p:spPr>
          <a:xfrm>
            <a:off x="8310677"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D6</a:t>
            </a:r>
            <a:endParaRPr lang="en-US" sz="1300" dirty="0"/>
          </a:p>
        </p:txBody>
      </p:sp>
      <p:sp>
        <p:nvSpPr>
          <p:cNvPr id="21" name="D6 Application allow-listing policy assigned"/>
          <p:cNvSpPr txBox="1"/>
          <p:nvPr/>
        </p:nvSpPr>
        <p:spPr>
          <a:xfrm>
            <a:off x="8950757"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Application allow-listing policy assigned</a:t>
            </a:r>
            <a:endParaRPr lang="en-US" sz="1400" dirty="0"/>
          </a:p>
          <a:p>
            <a:pPr indent="0" marL="0">
              <a:spcBef>
                <a:spcPts val="500"/>
              </a:spcBef>
              <a:buNone/>
            </a:pPr>
            <a:r>
              <a:rPr lang="en-US" sz="1200" dirty="0">
                <a:solidFill>
                  <a:schemeClr val="accent6"/>
                </a:solidFill>
              </a:rPr>
              <a:t>An App Control for Business policy assigned in Intune.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Network and boundary</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5 controls · Configured at build and held at E at every review</a:t>
            </a:r>
            <a:endParaRPr lang="en-US" sz="1600" dirty="0"/>
          </a:p>
        </p:txBody>
      </p:sp>
      <p:sp>
        <p:nvSpPr>
          <p:cNvPr id="4" name="F1 card"/>
          <p:cNvSpPr/>
          <p:nvPr/>
        </p:nvSpPr>
        <p:spPr>
          <a:xfrm>
            <a:off x="548640" y="1600200"/>
            <a:ext cx="3515258" cy="2226564"/>
          </a:xfrm>
          <a:prstGeom prst="roundRect">
            <a:avLst>
              <a:gd name="adj" fmla="val 3285"/>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Encryption in transit enforced on published web apps"/>
          <p:cNvSpPr txBox="1"/>
          <p:nvPr/>
        </p:nvSpPr>
        <p:spPr>
          <a:xfrm>
            <a:off x="1371600"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Encryption in transit enforced on published web apps</a:t>
            </a:r>
            <a:endParaRPr lang="en-US" sz="1400" dirty="0"/>
          </a:p>
          <a:p>
            <a:pPr indent="0" marL="0">
              <a:spcBef>
                <a:spcPts val="500"/>
              </a:spcBef>
              <a:buNone/>
            </a:pPr>
            <a:r>
              <a:rPr lang="en-US" sz="1200" dirty="0">
                <a:solidFill>
                  <a:schemeClr val="accent6"/>
                </a:solidFill>
              </a:rPr>
              <a:t>Web and function apps with the HTTPS-only setting.</a:t>
            </a:r>
            <a:endParaRPr lang="en-US" sz="1400" dirty="0"/>
          </a:p>
        </p:txBody>
      </p:sp>
      <p:sp>
        <p:nvSpPr>
          <p:cNvPr id="7" name="F2 card"/>
          <p:cNvSpPr/>
          <p:nvPr/>
        </p:nvSpPr>
        <p:spPr>
          <a:xfrm>
            <a:off x="4338218" y="1600200"/>
            <a:ext cx="3515258" cy="2226564"/>
          </a:xfrm>
          <a:prstGeom prst="roundRect">
            <a:avLst>
              <a:gd name="adj" fmla="val 3285"/>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Transport encryption enforced on Azure SQL"/>
          <p:cNvSpPr txBox="1"/>
          <p:nvPr/>
        </p:nvSpPr>
        <p:spPr>
          <a:xfrm>
            <a:off x="5161178"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Transport encryption enforced on Azure SQL</a:t>
            </a:r>
            <a:endParaRPr lang="en-US" sz="1400" dirty="0"/>
          </a:p>
          <a:p>
            <a:pPr indent="0" marL="0">
              <a:spcBef>
                <a:spcPts val="500"/>
              </a:spcBef>
              <a:buNone/>
            </a:pPr>
            <a:r>
              <a:rPr lang="en-US" sz="1200" dirty="0">
                <a:solidFill>
                  <a:schemeClr val="accent6"/>
                </a:solidFill>
              </a:rPr>
              <a:t>Azure SQL servers requiring TLS 1.2 or newer.</a:t>
            </a:r>
            <a:endParaRPr lang="en-US" sz="1400" dirty="0"/>
          </a:p>
        </p:txBody>
      </p:sp>
      <p:sp>
        <p:nvSpPr>
          <p:cNvPr id="10" name="F3 card"/>
          <p:cNvSpPr/>
          <p:nvPr/>
        </p:nvSpPr>
        <p:spPr>
          <a:xfrm>
            <a:off x="8127797" y="1600200"/>
            <a:ext cx="3515258" cy="2226564"/>
          </a:xfrm>
          <a:prstGeom prst="roundRect">
            <a:avLst>
              <a:gd name="adj" fmla="val 3285"/>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App Service minimum TLS 1.2"/>
          <p:cNvSpPr txBox="1"/>
          <p:nvPr/>
        </p:nvSpPr>
        <p:spPr>
          <a:xfrm>
            <a:off x="8950757"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App Service minimum TLS 1.2</a:t>
            </a:r>
            <a:endParaRPr lang="en-US" sz="1400" dirty="0"/>
          </a:p>
          <a:p>
            <a:pPr indent="0" marL="0">
              <a:spcBef>
                <a:spcPts val="500"/>
              </a:spcBef>
              <a:buNone/>
            </a:pPr>
            <a:r>
              <a:rPr lang="en-US" sz="1200" dirty="0">
                <a:solidFill>
                  <a:schemeClr val="accent6"/>
                </a:solidFill>
              </a:rPr>
              <a:t>App Service configurations requiring TLS 1.2 or newer.</a:t>
            </a:r>
            <a:endParaRPr lang="en-US" sz="1400" dirty="0"/>
          </a:p>
        </p:txBody>
      </p:sp>
      <p:sp>
        <p:nvSpPr>
          <p:cNvPr id="13" name="F4 card"/>
          <p:cNvSpPr/>
          <p:nvPr/>
        </p:nvSpPr>
        <p:spPr>
          <a:xfrm>
            <a:off x="548640" y="4101084"/>
            <a:ext cx="3515258" cy="2226564"/>
          </a:xfrm>
          <a:prstGeom prst="roundRect">
            <a:avLst>
              <a:gd name="adj" fmla="val 3285"/>
            </a:avLst>
          </a:prstGeom>
          <a:solidFill>
            <a:schemeClr val="bg2"/>
          </a:solidFill>
          <a:ln w="12700">
            <a:solidFill>
              <a:schemeClr val="bg2"/>
            </a:solidFill>
            <a:prstDash val="solid"/>
          </a:ln>
        </p:spPr>
      </p:sp>
      <p:sp>
        <p:nvSpPr>
          <p:cNvPr id="14" name="F4 tag"/>
          <p:cNvSpPr txBox="1"/>
          <p:nvPr/>
        </p:nvSpPr>
        <p:spPr>
          <a:xfrm>
            <a:off x="731520"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Anonymous blob access disabled"/>
          <p:cNvSpPr txBox="1"/>
          <p:nvPr/>
        </p:nvSpPr>
        <p:spPr>
          <a:xfrm>
            <a:off x="1371600"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Anonymous blob access disabled</a:t>
            </a:r>
            <a:endParaRPr lang="en-US" sz="1400" dirty="0"/>
          </a:p>
          <a:p>
            <a:pPr indent="0" marL="0">
              <a:spcBef>
                <a:spcPts val="500"/>
              </a:spcBef>
              <a:buNone/>
            </a:pPr>
            <a:r>
              <a:rPr lang="en-US" sz="1200" dirty="0">
                <a:solidFill>
                  <a:schemeClr val="accent6"/>
                </a:solidFill>
              </a:rPr>
              <a:t>Storage accounts with account-level anonymous access disabled.</a:t>
            </a:r>
            <a:endParaRPr lang="en-US" sz="1400" dirty="0"/>
          </a:p>
        </p:txBody>
      </p:sp>
      <p:sp>
        <p:nvSpPr>
          <p:cNvPr id="16" name="F5 card"/>
          <p:cNvSpPr/>
          <p:nvPr/>
        </p:nvSpPr>
        <p:spPr>
          <a:xfrm>
            <a:off x="4338218" y="4101084"/>
            <a:ext cx="3515258" cy="2226564"/>
          </a:xfrm>
          <a:prstGeom prst="roundRect">
            <a:avLst>
              <a:gd name="adj" fmla="val 3285"/>
            </a:avLst>
          </a:prstGeom>
          <a:solidFill>
            <a:schemeClr val="bg2"/>
          </a:solidFill>
          <a:ln w="12700">
            <a:solidFill>
              <a:schemeClr val="bg2"/>
            </a:solidFill>
            <a:prstDash val="solid"/>
          </a:ln>
        </p:spPr>
      </p:sp>
      <p:sp>
        <p:nvSpPr>
          <p:cNvPr id="17" name="F5 tag"/>
          <p:cNvSpPr txBox="1"/>
          <p:nvPr/>
        </p:nvSpPr>
        <p:spPr>
          <a:xfrm>
            <a:off x="4521098"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Network protection in block mode on Azure virtual machines"/>
          <p:cNvSpPr txBox="1"/>
          <p:nvPr/>
        </p:nvSpPr>
        <p:spPr>
          <a:xfrm>
            <a:off x="5161178"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Network protection in block mode on Azure virtual machines</a:t>
            </a:r>
            <a:endParaRPr lang="en-US" sz="1400" dirty="0"/>
          </a:p>
          <a:p>
            <a:pPr indent="0" marL="0">
              <a:spcBef>
                <a:spcPts val="500"/>
              </a:spcBef>
              <a:buNone/>
            </a:pPr>
            <a:r>
              <a:rPr lang="en-US" sz="1200" dirty="0">
                <a:solidFill>
                  <a:schemeClr val="accent6"/>
                </a:solidFill>
              </a:rPr>
              <a:t>Onboarded Windows virtual machines in Azure with network protection in block mode, which covers egress and DNS monitoring. The Sentinel tunneling and beaconing rules are confirmed in the review worksheet.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Network and boundary</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5 controls · Layered on afterward and sequenced with each client on the roadmap</a:t>
            </a:r>
            <a:endParaRPr lang="en-US" sz="1600" dirty="0"/>
          </a:p>
        </p:txBody>
      </p:sp>
      <p:sp>
        <p:nvSpPr>
          <p:cNvPr id="4" name="D1 card"/>
          <p:cNvSpPr/>
          <p:nvPr/>
        </p:nvSpPr>
        <p:spPr>
          <a:xfrm>
            <a:off x="548640" y="1600200"/>
            <a:ext cx="3515258" cy="2043684"/>
          </a:xfrm>
          <a:prstGeom prst="roundRect">
            <a:avLst>
              <a:gd name="adj" fmla="val 3579"/>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Workload subnets with a network security group or firewall route"/>
          <p:cNvSpPr txBox="1"/>
          <p:nvPr/>
        </p:nvSpPr>
        <p:spPr>
          <a:xfrm>
            <a:off x="1371600" y="1783080"/>
            <a:ext cx="2527706" cy="1751076"/>
          </a:xfrm>
          <a:prstGeom prst="rect">
            <a:avLst/>
          </a:prstGeom>
          <a:noFill/>
          <a:ln/>
        </p:spPr>
        <p:txBody>
          <a:bodyPr wrap="square" lIns="0" tIns="0" rIns="0" bIns="0" rtlCol="0" anchor="t"/>
          <a:lstStyle/>
          <a:p>
            <a:pPr indent="0" marL="0">
              <a:buNone/>
            </a:pPr>
            <a:r>
              <a:rPr lang="en-US" sz="1400" b="1" dirty="0">
                <a:solidFill>
                  <a:schemeClr val="tx2"/>
                </a:solidFill>
              </a:rPr>
              <a:t>Workload subnets with a network security group or firewall route</a:t>
            </a:r>
            <a:endParaRPr lang="en-US" sz="1400" dirty="0"/>
          </a:p>
          <a:p>
            <a:pPr indent="0" marL="0">
              <a:spcBef>
                <a:spcPts val="500"/>
              </a:spcBef>
              <a:buNone/>
            </a:pPr>
            <a:r>
              <a:rPr lang="en-US" sz="1200" dirty="0">
                <a:solidFill>
                  <a:schemeClr val="accent6"/>
                </a:solidFill>
              </a:rPr>
              <a:t>Workload subnets with a network security group or a route through the firewall configured. The rules and the traffic they permit are not evaluated.</a:t>
            </a:r>
            <a:endParaRPr lang="en-US" sz="1400" dirty="0"/>
          </a:p>
        </p:txBody>
      </p:sp>
      <p:sp>
        <p:nvSpPr>
          <p:cNvPr id="7" name="D2 card"/>
          <p:cNvSpPr/>
          <p:nvPr/>
        </p:nvSpPr>
        <p:spPr>
          <a:xfrm>
            <a:off x="4338218" y="1600200"/>
            <a:ext cx="3515258" cy="2043684"/>
          </a:xfrm>
          <a:prstGeom prst="roundRect">
            <a:avLst>
              <a:gd name="adj" fmla="val 3579"/>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Storage accounts closed to public networks"/>
          <p:cNvSpPr txBox="1"/>
          <p:nvPr/>
        </p:nvSpPr>
        <p:spPr>
          <a:xfrm>
            <a:off x="5161178" y="1783080"/>
            <a:ext cx="2527706" cy="1751076"/>
          </a:xfrm>
          <a:prstGeom prst="rect">
            <a:avLst/>
          </a:prstGeom>
          <a:noFill/>
          <a:ln/>
        </p:spPr>
        <p:txBody>
          <a:bodyPr wrap="square" lIns="0" tIns="0" rIns="0" bIns="0" rtlCol="0" anchor="t"/>
          <a:lstStyle/>
          <a:p>
            <a:pPr indent="0" marL="0">
              <a:buNone/>
            </a:pPr>
            <a:r>
              <a:rPr lang="en-US" sz="1400" b="1" dirty="0">
                <a:solidFill>
                  <a:schemeClr val="tx2"/>
                </a:solidFill>
              </a:rPr>
              <a:t>Storage accounts closed to public networks</a:t>
            </a:r>
            <a:endParaRPr lang="en-US" sz="1400" dirty="0"/>
          </a:p>
          <a:p>
            <a:pPr indent="0" marL="0">
              <a:spcBef>
                <a:spcPts val="500"/>
              </a:spcBef>
              <a:buNone/>
            </a:pPr>
            <a:r>
              <a:rPr lang="en-US" sz="1200" dirty="0">
                <a:solidFill>
                  <a:schemeClr val="accent6"/>
                </a:solidFill>
              </a:rPr>
              <a:t>Storage accounts with public network access disabled.</a:t>
            </a:r>
            <a:endParaRPr lang="en-US" sz="1400" dirty="0"/>
          </a:p>
        </p:txBody>
      </p:sp>
      <p:sp>
        <p:nvSpPr>
          <p:cNvPr id="10" name="D3 card"/>
          <p:cNvSpPr/>
          <p:nvPr/>
        </p:nvSpPr>
        <p:spPr>
          <a:xfrm>
            <a:off x="8127797" y="1600200"/>
            <a:ext cx="3515258" cy="2043684"/>
          </a:xfrm>
          <a:prstGeom prst="roundRect">
            <a:avLst>
              <a:gd name="adj" fmla="val 3579"/>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Blob containers closed to anonymous access"/>
          <p:cNvSpPr txBox="1"/>
          <p:nvPr/>
        </p:nvSpPr>
        <p:spPr>
          <a:xfrm>
            <a:off x="8950757" y="1783080"/>
            <a:ext cx="2527706" cy="1751076"/>
          </a:xfrm>
          <a:prstGeom prst="rect">
            <a:avLst/>
          </a:prstGeom>
          <a:noFill/>
          <a:ln/>
        </p:spPr>
        <p:txBody>
          <a:bodyPr wrap="square" lIns="0" tIns="0" rIns="0" bIns="0" rtlCol="0" anchor="t"/>
          <a:lstStyle/>
          <a:p>
            <a:pPr indent="0" marL="0">
              <a:buNone/>
            </a:pPr>
            <a:r>
              <a:rPr lang="en-US" sz="1400" b="1" dirty="0">
                <a:solidFill>
                  <a:schemeClr val="tx2"/>
                </a:solidFill>
              </a:rPr>
              <a:t>Blob containers closed to anonymous access</a:t>
            </a:r>
            <a:endParaRPr lang="en-US" sz="1400" dirty="0"/>
          </a:p>
          <a:p>
            <a:pPr indent="0" marL="0">
              <a:spcBef>
                <a:spcPts val="500"/>
              </a:spcBef>
              <a:buNone/>
            </a:pPr>
            <a:r>
              <a:rPr lang="en-US" sz="1200" dirty="0">
                <a:solidFill>
                  <a:schemeClr val="accent6"/>
                </a:solidFill>
              </a:rPr>
              <a:t>Blob containers set to private at the container level, read in every storage account, so they stay closed even if the account-level setting is relaxed.</a:t>
            </a:r>
            <a:endParaRPr lang="en-US" sz="1400" dirty="0"/>
          </a:p>
        </p:txBody>
      </p:sp>
      <p:sp>
        <p:nvSpPr>
          <p:cNvPr id="13" name="D4 card"/>
          <p:cNvSpPr/>
          <p:nvPr/>
        </p:nvSpPr>
        <p:spPr>
          <a:xfrm>
            <a:off x="548640" y="3918204"/>
            <a:ext cx="3515258" cy="2043684"/>
          </a:xfrm>
          <a:prstGeom prst="roundRect">
            <a:avLst>
              <a:gd name="adj" fmla="val 3579"/>
            </a:avLst>
          </a:prstGeom>
          <a:solidFill>
            <a:schemeClr val="bg2"/>
          </a:solidFill>
          <a:ln w="12700">
            <a:solidFill>
              <a:schemeClr val="bg2"/>
            </a:solidFill>
            <a:prstDash val="solid"/>
          </a:ln>
        </p:spPr>
      </p:sp>
      <p:sp>
        <p:nvSpPr>
          <p:cNvPr id="14" name="D4 tag"/>
          <p:cNvSpPr txBox="1"/>
          <p:nvPr/>
        </p:nvSpPr>
        <p:spPr>
          <a:xfrm>
            <a:off x="731520" y="4119372"/>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Directory traffic signed and channel-bound"/>
          <p:cNvSpPr txBox="1"/>
          <p:nvPr/>
        </p:nvSpPr>
        <p:spPr>
          <a:xfrm>
            <a:off x="1371600" y="4101084"/>
            <a:ext cx="2527706" cy="1751076"/>
          </a:xfrm>
          <a:prstGeom prst="rect">
            <a:avLst/>
          </a:prstGeom>
          <a:noFill/>
          <a:ln/>
        </p:spPr>
        <p:txBody>
          <a:bodyPr wrap="square" lIns="0" tIns="0" rIns="0" bIns="0" rtlCol="0" anchor="t"/>
          <a:lstStyle/>
          <a:p>
            <a:pPr indent="0" marL="0">
              <a:buNone/>
            </a:pPr>
            <a:r>
              <a:rPr lang="en-US" sz="1400" b="1" dirty="0">
                <a:solidFill>
                  <a:schemeClr val="tx2"/>
                </a:solidFill>
              </a:rPr>
              <a:t>Directory traffic signed and channel-bound</a:t>
            </a:r>
            <a:endParaRPr lang="en-US" sz="1400" dirty="0"/>
          </a:p>
          <a:p>
            <a:pPr indent="0" marL="0">
              <a:spcBef>
                <a:spcPts val="500"/>
              </a:spcBef>
              <a:buNone/>
            </a:pPr>
            <a:r>
              <a:rPr lang="en-US" sz="1200" dirty="0">
                <a:solidFill>
                  <a:schemeClr val="accent6"/>
                </a:solidFill>
              </a:rPr>
              <a:t>Domain controllers in Azure requiring LDAP server signing and channel binding.</a:t>
            </a:r>
            <a:endParaRPr lang="en-US" sz="1400" dirty="0"/>
          </a:p>
        </p:txBody>
      </p:sp>
      <p:sp>
        <p:nvSpPr>
          <p:cNvPr id="16" name="D5 card"/>
          <p:cNvSpPr/>
          <p:nvPr/>
        </p:nvSpPr>
        <p:spPr>
          <a:xfrm>
            <a:off x="4338218" y="3918204"/>
            <a:ext cx="3515258" cy="2043684"/>
          </a:xfrm>
          <a:prstGeom prst="roundRect">
            <a:avLst>
              <a:gd name="adj" fmla="val 3579"/>
            </a:avLst>
          </a:prstGeom>
          <a:solidFill>
            <a:schemeClr val="bg2"/>
          </a:solidFill>
          <a:ln w="12700">
            <a:solidFill>
              <a:schemeClr val="bg2"/>
            </a:solidFill>
            <a:prstDash val="solid"/>
          </a:ln>
        </p:spPr>
      </p:sp>
      <p:sp>
        <p:nvSpPr>
          <p:cNvPr id="17" name="D5 tag"/>
          <p:cNvSpPr txBox="1"/>
          <p:nvPr/>
        </p:nvSpPr>
        <p:spPr>
          <a:xfrm>
            <a:off x="4521098" y="4119372"/>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D5</a:t>
            </a:r>
            <a:endParaRPr lang="en-US" sz="1300" dirty="0"/>
          </a:p>
        </p:txBody>
      </p:sp>
      <p:sp>
        <p:nvSpPr>
          <p:cNvPr id="18" name="D5 NTLMv2 enforced with LM and NTLM refused"/>
          <p:cNvSpPr txBox="1"/>
          <p:nvPr/>
        </p:nvSpPr>
        <p:spPr>
          <a:xfrm>
            <a:off x="5161178" y="4101084"/>
            <a:ext cx="2527706" cy="1751076"/>
          </a:xfrm>
          <a:prstGeom prst="rect">
            <a:avLst/>
          </a:prstGeom>
          <a:noFill/>
          <a:ln/>
        </p:spPr>
        <p:txBody>
          <a:bodyPr wrap="square" lIns="0" tIns="0" rIns="0" bIns="0" rtlCol="0" anchor="t"/>
          <a:lstStyle/>
          <a:p>
            <a:pPr indent="0" marL="0">
              <a:buNone/>
            </a:pPr>
            <a:r>
              <a:rPr lang="en-US" sz="1400" b="1" dirty="0">
                <a:solidFill>
                  <a:schemeClr val="tx2"/>
                </a:solidFill>
              </a:rPr>
              <a:t>NTLMv2 enforced with LM and NTLM refused</a:t>
            </a:r>
            <a:endParaRPr lang="en-US" sz="1400" dirty="0"/>
          </a:p>
          <a:p>
            <a:pPr indent="0" marL="0">
              <a:spcBef>
                <a:spcPts val="500"/>
              </a:spcBef>
              <a:buNone/>
            </a:pPr>
            <a:r>
              <a:rPr lang="en-US" sz="1200" dirty="0">
                <a:solidFill>
                  <a:schemeClr val="accent6"/>
                </a:solidFill>
              </a:rPr>
              <a:t>Onboarded Windows virtual machines in Azure sending NTLMv2 responses only.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Data protection</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9 controls · Configured at build and held at E at every review</a:t>
            </a:r>
            <a:endParaRPr lang="en-US" sz="1600" dirty="0"/>
          </a:p>
        </p:txBody>
      </p:sp>
      <p:sp>
        <p:nvSpPr>
          <p:cNvPr id="4" name="F1 card"/>
          <p:cNvSpPr/>
          <p:nvPr/>
        </p:nvSpPr>
        <p:spPr>
          <a:xfrm>
            <a:off x="548640" y="1508760"/>
            <a:ext cx="3515258" cy="1542288"/>
          </a:xfrm>
          <a:prstGeom prst="roundRect">
            <a:avLst>
              <a:gd name="adj" fmla="val 4743"/>
            </a:avLst>
          </a:prstGeom>
          <a:solidFill>
            <a:schemeClr val="bg2"/>
          </a:solidFill>
          <a:ln w="12700">
            <a:solidFill>
              <a:schemeClr val="bg2"/>
            </a:solidFill>
            <a:prstDash val="solid"/>
          </a:ln>
        </p:spPr>
      </p:sp>
      <p:sp>
        <p:nvSpPr>
          <p:cNvPr id="5" name="F1 tag"/>
          <p:cNvSpPr txBox="1"/>
          <p:nvPr/>
        </p:nvSpPr>
        <p:spPr>
          <a:xfrm>
            <a:off x="731520" y="170992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Secure transfer required on storage accounts"/>
          <p:cNvSpPr txBox="1"/>
          <p:nvPr/>
        </p:nvSpPr>
        <p:spPr>
          <a:xfrm>
            <a:off x="1371600" y="1691640"/>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Secure transfer required on storage accounts</a:t>
            </a:r>
            <a:endParaRPr lang="en-US" sz="1400" dirty="0"/>
          </a:p>
          <a:p>
            <a:pPr indent="0" marL="0">
              <a:spcBef>
                <a:spcPts val="500"/>
              </a:spcBef>
              <a:buNone/>
            </a:pPr>
            <a:r>
              <a:rPr lang="en-US" sz="1200" dirty="0">
                <a:solidFill>
                  <a:schemeClr val="accent6"/>
                </a:solidFill>
              </a:rPr>
              <a:t>Storage accounts configured to require secure transfer.</a:t>
            </a:r>
            <a:endParaRPr lang="en-US" sz="1400" dirty="0"/>
          </a:p>
        </p:txBody>
      </p:sp>
      <p:sp>
        <p:nvSpPr>
          <p:cNvPr id="7" name="F2 card"/>
          <p:cNvSpPr/>
          <p:nvPr/>
        </p:nvSpPr>
        <p:spPr>
          <a:xfrm>
            <a:off x="4338218" y="1508760"/>
            <a:ext cx="3515258" cy="1542288"/>
          </a:xfrm>
          <a:prstGeom prst="roundRect">
            <a:avLst>
              <a:gd name="adj" fmla="val 4743"/>
            </a:avLst>
          </a:prstGeom>
          <a:solidFill>
            <a:schemeClr val="bg2"/>
          </a:solidFill>
          <a:ln w="12700">
            <a:solidFill>
              <a:schemeClr val="bg2"/>
            </a:solidFill>
            <a:prstDash val="solid"/>
          </a:ln>
        </p:spPr>
      </p:sp>
      <p:sp>
        <p:nvSpPr>
          <p:cNvPr id="8" name="F2 tag"/>
          <p:cNvSpPr txBox="1"/>
          <p:nvPr/>
        </p:nvSpPr>
        <p:spPr>
          <a:xfrm>
            <a:off x="4521098" y="170992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Storage minimum TLS 1.2"/>
          <p:cNvSpPr txBox="1"/>
          <p:nvPr/>
        </p:nvSpPr>
        <p:spPr>
          <a:xfrm>
            <a:off x="5161178" y="1691640"/>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Storage minimum TLS 1.2</a:t>
            </a:r>
            <a:endParaRPr lang="en-US" sz="1400" dirty="0"/>
          </a:p>
          <a:p>
            <a:pPr indent="0" marL="0">
              <a:spcBef>
                <a:spcPts val="500"/>
              </a:spcBef>
              <a:buNone/>
            </a:pPr>
            <a:r>
              <a:rPr lang="en-US" sz="1200" dirty="0">
                <a:solidFill>
                  <a:schemeClr val="accent6"/>
                </a:solidFill>
              </a:rPr>
              <a:t>Storage accounts requiring TLS 1.2 or newer.</a:t>
            </a:r>
            <a:endParaRPr lang="en-US" sz="1400" dirty="0"/>
          </a:p>
        </p:txBody>
      </p:sp>
      <p:sp>
        <p:nvSpPr>
          <p:cNvPr id="10" name="F3 card"/>
          <p:cNvSpPr/>
          <p:nvPr/>
        </p:nvSpPr>
        <p:spPr>
          <a:xfrm>
            <a:off x="8127797" y="1508760"/>
            <a:ext cx="3515258" cy="1542288"/>
          </a:xfrm>
          <a:prstGeom prst="roundRect">
            <a:avLst>
              <a:gd name="adj" fmla="val 4743"/>
            </a:avLst>
          </a:prstGeom>
          <a:solidFill>
            <a:schemeClr val="bg2"/>
          </a:solidFill>
          <a:ln w="12700">
            <a:solidFill>
              <a:schemeClr val="bg2"/>
            </a:solidFill>
            <a:prstDash val="solid"/>
          </a:ln>
        </p:spPr>
      </p:sp>
      <p:sp>
        <p:nvSpPr>
          <p:cNvPr id="11" name="F3 tag"/>
          <p:cNvSpPr txBox="1"/>
          <p:nvPr/>
        </p:nvSpPr>
        <p:spPr>
          <a:xfrm>
            <a:off x="8310677" y="170992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Key Vault soft delete"/>
          <p:cNvSpPr txBox="1"/>
          <p:nvPr/>
        </p:nvSpPr>
        <p:spPr>
          <a:xfrm>
            <a:off x="8950757" y="1691640"/>
            <a:ext cx="2527706" cy="1249680"/>
          </a:xfrm>
          <a:prstGeom prst="rect">
            <a:avLst/>
          </a:prstGeom>
          <a:noFill/>
          <a:ln/>
        </p:spPr>
        <p:txBody>
          <a:bodyPr wrap="square" lIns="0" tIns="0" rIns="0" bIns="0" rtlCol="0" anchor="t"/>
          <a:lstStyle/>
          <a:p>
            <a:pPr indent="0" marL="0">
              <a:buNone/>
            </a:pPr>
            <a:r>
              <a:rPr lang="en-US" sz="1400" b="1" dirty="0">
                <a:solidFill>
                  <a:schemeClr val="tx2"/>
                </a:solidFill>
              </a:rPr>
              <a:t>Key Vault soft delete</a:t>
            </a:r>
            <a:endParaRPr lang="en-US" sz="1400" dirty="0"/>
          </a:p>
          <a:p>
            <a:pPr indent="0" marL="0">
              <a:spcBef>
                <a:spcPts val="500"/>
              </a:spcBef>
              <a:buNone/>
            </a:pPr>
            <a:r>
              <a:rPr lang="en-US" sz="1200" dirty="0">
                <a:solidFill>
                  <a:schemeClr val="accent6"/>
                </a:solidFill>
              </a:rPr>
              <a:t>Vaults able to recover deleted secrets, keys and certificates.</a:t>
            </a:r>
            <a:endParaRPr lang="en-US" sz="1400" dirty="0"/>
          </a:p>
        </p:txBody>
      </p:sp>
      <p:sp>
        <p:nvSpPr>
          <p:cNvPr id="13" name="F4 card"/>
          <p:cNvSpPr/>
          <p:nvPr/>
        </p:nvSpPr>
        <p:spPr>
          <a:xfrm>
            <a:off x="548640" y="3252216"/>
            <a:ext cx="3515258" cy="1542288"/>
          </a:xfrm>
          <a:prstGeom prst="roundRect">
            <a:avLst>
              <a:gd name="adj" fmla="val 4743"/>
            </a:avLst>
          </a:prstGeom>
          <a:solidFill>
            <a:schemeClr val="bg2"/>
          </a:solidFill>
          <a:ln w="12700">
            <a:solidFill>
              <a:schemeClr val="bg2"/>
            </a:solidFill>
            <a:prstDash val="solid"/>
          </a:ln>
        </p:spPr>
      </p:sp>
      <p:sp>
        <p:nvSpPr>
          <p:cNvPr id="14" name="F4 tag"/>
          <p:cNvSpPr txBox="1"/>
          <p:nvPr/>
        </p:nvSpPr>
        <p:spPr>
          <a:xfrm>
            <a:off x="731520" y="3453384"/>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Key Vault purge protection"/>
          <p:cNvSpPr txBox="1"/>
          <p:nvPr/>
        </p:nvSpPr>
        <p:spPr>
          <a:xfrm>
            <a:off x="1371600" y="3435096"/>
            <a:ext cx="2527706" cy="1249680"/>
          </a:xfrm>
          <a:prstGeom prst="rect">
            <a:avLst/>
          </a:prstGeom>
          <a:noFill/>
          <a:ln/>
        </p:spPr>
        <p:txBody>
          <a:bodyPr wrap="square" lIns="0" tIns="0" rIns="0" bIns="0" rtlCol="0" anchor="t"/>
          <a:lstStyle/>
          <a:p>
            <a:pPr indent="0" marL="0">
              <a:buNone/>
            </a:pPr>
            <a:r>
              <a:rPr lang="en-US" sz="1400" b="1" dirty="0">
                <a:solidFill>
                  <a:schemeClr val="tx2"/>
                </a:solidFill>
              </a:rPr>
              <a:t>Key Vault purge protection</a:t>
            </a:r>
            <a:endParaRPr lang="en-US" sz="1400" dirty="0"/>
          </a:p>
          <a:p>
            <a:pPr indent="0" marL="0">
              <a:spcBef>
                <a:spcPts val="500"/>
              </a:spcBef>
              <a:buNone/>
            </a:pPr>
            <a:r>
              <a:rPr lang="en-US" sz="1200" dirty="0">
                <a:solidFill>
                  <a:schemeClr val="accent6"/>
                </a:solidFill>
              </a:rPr>
              <a:t>Vaults protected against permanent deletion during the retention period.</a:t>
            </a:r>
            <a:endParaRPr lang="en-US" sz="1400" dirty="0"/>
          </a:p>
        </p:txBody>
      </p:sp>
      <p:sp>
        <p:nvSpPr>
          <p:cNvPr id="16" name="F5 card"/>
          <p:cNvSpPr/>
          <p:nvPr/>
        </p:nvSpPr>
        <p:spPr>
          <a:xfrm>
            <a:off x="4338218" y="3252216"/>
            <a:ext cx="3515258" cy="1542288"/>
          </a:xfrm>
          <a:prstGeom prst="roundRect">
            <a:avLst>
              <a:gd name="adj" fmla="val 4743"/>
            </a:avLst>
          </a:prstGeom>
          <a:solidFill>
            <a:schemeClr val="bg2"/>
          </a:solidFill>
          <a:ln w="12700">
            <a:solidFill>
              <a:schemeClr val="bg2"/>
            </a:solidFill>
            <a:prstDash val="solid"/>
          </a:ln>
        </p:spPr>
      </p:sp>
      <p:sp>
        <p:nvSpPr>
          <p:cNvPr id="17" name="F5 tag"/>
          <p:cNvSpPr txBox="1"/>
          <p:nvPr/>
        </p:nvSpPr>
        <p:spPr>
          <a:xfrm>
            <a:off x="4521098" y="3453384"/>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Managed disks encrypted at rest"/>
          <p:cNvSpPr txBox="1"/>
          <p:nvPr/>
        </p:nvSpPr>
        <p:spPr>
          <a:xfrm>
            <a:off x="5161178" y="3435096"/>
            <a:ext cx="2527706" cy="1249680"/>
          </a:xfrm>
          <a:prstGeom prst="rect">
            <a:avLst/>
          </a:prstGeom>
          <a:noFill/>
          <a:ln/>
        </p:spPr>
        <p:txBody>
          <a:bodyPr wrap="square" lIns="0" tIns="0" rIns="0" bIns="0" rtlCol="0" anchor="t"/>
          <a:lstStyle/>
          <a:p>
            <a:pPr indent="0" marL="0">
              <a:buNone/>
            </a:pPr>
            <a:r>
              <a:rPr lang="en-US" sz="1400" b="1" dirty="0">
                <a:solidFill>
                  <a:schemeClr val="tx2"/>
                </a:solidFill>
              </a:rPr>
              <a:t>Managed disks encrypted at rest</a:t>
            </a:r>
            <a:endParaRPr lang="en-US" sz="1400" dirty="0"/>
          </a:p>
          <a:p>
            <a:pPr indent="0" marL="0">
              <a:spcBef>
                <a:spcPts val="500"/>
              </a:spcBef>
              <a:buNone/>
            </a:pPr>
            <a:r>
              <a:rPr lang="en-US" sz="1200" dirty="0">
                <a:solidFill>
                  <a:schemeClr val="accent6"/>
                </a:solidFill>
              </a:rPr>
              <a:t>Platform keys, the Azure default, or customer managed keys. Encryption at host is graded separately.</a:t>
            </a:r>
            <a:endParaRPr lang="en-US" sz="1400" dirty="0"/>
          </a:p>
        </p:txBody>
      </p:sp>
      <p:sp>
        <p:nvSpPr>
          <p:cNvPr id="19" name="F6 card"/>
          <p:cNvSpPr/>
          <p:nvPr/>
        </p:nvSpPr>
        <p:spPr>
          <a:xfrm>
            <a:off x="8127797" y="3252216"/>
            <a:ext cx="3515258" cy="1542288"/>
          </a:xfrm>
          <a:prstGeom prst="roundRect">
            <a:avLst>
              <a:gd name="adj" fmla="val 4743"/>
            </a:avLst>
          </a:prstGeom>
          <a:solidFill>
            <a:schemeClr val="bg2"/>
          </a:solidFill>
          <a:ln w="12700">
            <a:solidFill>
              <a:schemeClr val="bg2"/>
            </a:solidFill>
            <a:prstDash val="solid"/>
          </a:ln>
        </p:spPr>
      </p:sp>
      <p:sp>
        <p:nvSpPr>
          <p:cNvPr id="20" name="F6 tag"/>
          <p:cNvSpPr txBox="1"/>
          <p:nvPr/>
        </p:nvSpPr>
        <p:spPr>
          <a:xfrm>
            <a:off x="8310677" y="3453384"/>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F6</a:t>
            </a:r>
            <a:endParaRPr lang="en-US" sz="1300" dirty="0"/>
          </a:p>
        </p:txBody>
      </p:sp>
      <p:sp>
        <p:nvSpPr>
          <p:cNvPr id="21" name="F6 Safe Links policy set for mail, Teams and Office"/>
          <p:cNvSpPr txBox="1"/>
          <p:nvPr/>
        </p:nvSpPr>
        <p:spPr>
          <a:xfrm>
            <a:off x="8950757" y="3435096"/>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Safe Links policy set for mail, Teams and Office</a:t>
            </a:r>
            <a:endParaRPr lang="en-US" sz="1400" dirty="0"/>
          </a:p>
          <a:p>
            <a:pPr indent="0" marL="0">
              <a:spcBef>
                <a:spcPts val="500"/>
              </a:spcBef>
              <a:buNone/>
            </a:pPr>
            <a:r>
              <a:rPr lang="en-US" sz="1200" dirty="0">
                <a:solidFill>
                  <a:schemeClr val="accent6"/>
                </a:solidFill>
              </a:rPr>
              <a:t>One policy with all three on is enough. Recipients, exceptions and rule state are not read.</a:t>
            </a:r>
            <a:endParaRPr lang="en-US" sz="1400" dirty="0"/>
          </a:p>
        </p:txBody>
      </p:sp>
      <p:sp>
        <p:nvSpPr>
          <p:cNvPr id="22" name="F7 card"/>
          <p:cNvSpPr/>
          <p:nvPr/>
        </p:nvSpPr>
        <p:spPr>
          <a:xfrm>
            <a:off x="548640" y="4995672"/>
            <a:ext cx="3515258" cy="1542288"/>
          </a:xfrm>
          <a:prstGeom prst="roundRect">
            <a:avLst>
              <a:gd name="adj" fmla="val 4743"/>
            </a:avLst>
          </a:prstGeom>
          <a:solidFill>
            <a:schemeClr val="bg2"/>
          </a:solidFill>
          <a:ln w="12700">
            <a:solidFill>
              <a:schemeClr val="bg2"/>
            </a:solidFill>
            <a:prstDash val="solid"/>
          </a:ln>
        </p:spPr>
      </p:sp>
      <p:sp>
        <p:nvSpPr>
          <p:cNvPr id="23" name="F7 tag"/>
          <p:cNvSpPr txBox="1"/>
          <p:nvPr/>
        </p:nvSpPr>
        <p:spPr>
          <a:xfrm>
            <a:off x="731520" y="519684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F7</a:t>
            </a:r>
            <a:endParaRPr lang="en-US" sz="1300" dirty="0"/>
          </a:p>
        </p:txBody>
      </p:sp>
      <p:sp>
        <p:nvSpPr>
          <p:cNvPr id="24" name="F7 Safe Attachments policy set to block or replace malicious files"/>
          <p:cNvSpPr txBox="1"/>
          <p:nvPr/>
        </p:nvSpPr>
        <p:spPr>
          <a:xfrm>
            <a:off x="1371600" y="5178552"/>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Safe Attachments policy set to block or replace malicious files</a:t>
            </a:r>
            <a:endParaRPr lang="en-US" sz="1400" dirty="0"/>
          </a:p>
          <a:p>
            <a:pPr indent="0" marL="0">
              <a:spcBef>
                <a:spcPts val="500"/>
              </a:spcBef>
              <a:buNone/>
            </a:pPr>
            <a:r>
              <a:rPr lang="en-US" sz="1200" dirty="0">
                <a:solidFill>
                  <a:schemeClr val="accent6"/>
                </a:solidFill>
              </a:rPr>
              <a:t>One enabled policy is enough. Scope and exceptions are not read.</a:t>
            </a:r>
            <a:endParaRPr lang="en-US" sz="1400" dirty="0"/>
          </a:p>
        </p:txBody>
      </p:sp>
      <p:sp>
        <p:nvSpPr>
          <p:cNvPr id="25" name="F8 card"/>
          <p:cNvSpPr/>
          <p:nvPr/>
        </p:nvSpPr>
        <p:spPr>
          <a:xfrm>
            <a:off x="4338218" y="4995672"/>
            <a:ext cx="3515258" cy="1542288"/>
          </a:xfrm>
          <a:prstGeom prst="roundRect">
            <a:avLst>
              <a:gd name="adj" fmla="val 4743"/>
            </a:avLst>
          </a:prstGeom>
          <a:solidFill>
            <a:schemeClr val="bg2"/>
          </a:solidFill>
          <a:ln w="12700">
            <a:solidFill>
              <a:schemeClr val="bg2"/>
            </a:solidFill>
            <a:prstDash val="solid"/>
          </a:ln>
        </p:spPr>
      </p:sp>
      <p:sp>
        <p:nvSpPr>
          <p:cNvPr id="26" name="F8 tag"/>
          <p:cNvSpPr txBox="1"/>
          <p:nvPr/>
        </p:nvSpPr>
        <p:spPr>
          <a:xfrm>
            <a:off x="4521098" y="519684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F8</a:t>
            </a:r>
            <a:endParaRPr lang="en-US" sz="1300" dirty="0"/>
          </a:p>
        </p:txBody>
      </p:sp>
      <p:sp>
        <p:nvSpPr>
          <p:cNvPr id="27" name="F8 Malicious mail removed after delivery"/>
          <p:cNvSpPr txBox="1"/>
          <p:nvPr/>
        </p:nvSpPr>
        <p:spPr>
          <a:xfrm>
            <a:off x="5161178" y="5178552"/>
            <a:ext cx="2527706" cy="1249680"/>
          </a:xfrm>
          <a:prstGeom prst="rect">
            <a:avLst/>
          </a:prstGeom>
          <a:noFill/>
          <a:ln/>
        </p:spPr>
        <p:txBody>
          <a:bodyPr wrap="square" lIns="0" tIns="0" rIns="0" bIns="0" rtlCol="0" anchor="t"/>
          <a:lstStyle/>
          <a:p>
            <a:pPr indent="0" marL="0">
              <a:buNone/>
            </a:pPr>
            <a:r>
              <a:rPr lang="en-US" sz="1400" b="1" dirty="0">
                <a:solidFill>
                  <a:schemeClr val="tx2"/>
                </a:solidFill>
              </a:rPr>
              <a:t>Malicious mail removed after delivery</a:t>
            </a:r>
            <a:endParaRPr lang="en-US" sz="1400" dirty="0"/>
          </a:p>
          <a:p>
            <a:pPr indent="0" marL="0">
              <a:spcBef>
                <a:spcPts val="500"/>
              </a:spcBef>
              <a:buNone/>
            </a:pPr>
            <a:r>
              <a:rPr lang="en-US" sz="1200" dirty="0">
                <a:solidFill>
                  <a:schemeClr val="accent6"/>
                </a:solidFill>
              </a:rPr>
              <a:t>Post-delivery removals of malicious mail in the last 30 days.</a:t>
            </a:r>
            <a:endParaRPr lang="en-US" sz="1400" dirty="0"/>
          </a:p>
        </p:txBody>
      </p:sp>
      <p:sp>
        <p:nvSpPr>
          <p:cNvPr id="28" name="F9 card"/>
          <p:cNvSpPr/>
          <p:nvPr/>
        </p:nvSpPr>
        <p:spPr>
          <a:xfrm>
            <a:off x="8127797" y="4995672"/>
            <a:ext cx="3515258" cy="1542288"/>
          </a:xfrm>
          <a:prstGeom prst="roundRect">
            <a:avLst>
              <a:gd name="adj" fmla="val 4743"/>
            </a:avLst>
          </a:prstGeom>
          <a:solidFill>
            <a:schemeClr val="bg2"/>
          </a:solidFill>
          <a:ln w="12700">
            <a:solidFill>
              <a:schemeClr val="bg2"/>
            </a:solidFill>
            <a:prstDash val="solid"/>
          </a:ln>
        </p:spPr>
      </p:sp>
      <p:sp>
        <p:nvSpPr>
          <p:cNvPr id="29" name="F9 tag"/>
          <p:cNvSpPr txBox="1"/>
          <p:nvPr/>
        </p:nvSpPr>
        <p:spPr>
          <a:xfrm>
            <a:off x="8310677" y="519684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F9</a:t>
            </a:r>
            <a:endParaRPr lang="en-US" sz="1300" dirty="0"/>
          </a:p>
        </p:txBody>
      </p:sp>
      <p:sp>
        <p:nvSpPr>
          <p:cNvPr id="30" name="F9 Zero-hour auto purge enabled for malware, spam and phishing"/>
          <p:cNvSpPr txBox="1"/>
          <p:nvPr/>
        </p:nvSpPr>
        <p:spPr>
          <a:xfrm>
            <a:off x="8950757" y="5178552"/>
            <a:ext cx="2527706" cy="1249680"/>
          </a:xfrm>
          <a:prstGeom prst="rect">
            <a:avLst/>
          </a:prstGeom>
          <a:noFill/>
          <a:ln/>
        </p:spPr>
        <p:txBody>
          <a:bodyPr wrap="square" lIns="0" tIns="0" rIns="0" bIns="0" rtlCol="0" anchor="t"/>
          <a:lstStyle/>
          <a:p>
            <a:pPr indent="0" marL="0">
              <a:buNone/>
            </a:pPr>
            <a:r>
              <a:rPr lang="en-US" sz="1400" b="1" dirty="0">
                <a:solidFill>
                  <a:schemeClr val="tx2"/>
                </a:solidFill>
              </a:rPr>
              <a:t>Zero-hour auto purge enabled for malware, spam and phishing</a:t>
            </a:r>
            <a:endParaRPr lang="en-US" sz="1400" dirty="0"/>
          </a:p>
          <a:p>
            <a:pPr indent="0" marL="0">
              <a:spcBef>
                <a:spcPts val="500"/>
              </a:spcBef>
              <a:buNone/>
            </a:pPr>
            <a:r>
              <a:rPr lang="en-US" sz="1200" dirty="0">
                <a:solidFill>
                  <a:schemeClr val="accent6"/>
                </a:solidFill>
              </a:rPr>
              <a:t>Every malware and content filter policy keeps zero-hour auto purge 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Data protection</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4 controls · Layered on afterward and sequenced with each client on the roadmap</a:t>
            </a:r>
            <a:endParaRPr lang="en-US" sz="1600" dirty="0"/>
          </a:p>
        </p:txBody>
      </p:sp>
      <p:sp>
        <p:nvSpPr>
          <p:cNvPr id="4" name="D1 card"/>
          <p:cNvSpPr/>
          <p:nvPr/>
        </p:nvSpPr>
        <p:spPr>
          <a:xfrm>
            <a:off x="548640" y="1600200"/>
            <a:ext cx="3515258" cy="1495044"/>
          </a:xfrm>
          <a:prstGeom prst="roundRect">
            <a:avLst>
              <a:gd name="adj" fmla="val 4893"/>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Key Vault access governed by role-based access control"/>
          <p:cNvSpPr txBox="1"/>
          <p:nvPr/>
        </p:nvSpPr>
        <p:spPr>
          <a:xfrm>
            <a:off x="1371600"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Key Vault access governed by role-based access control</a:t>
            </a:r>
            <a:endParaRPr lang="en-US" sz="1400" dirty="0"/>
          </a:p>
          <a:p>
            <a:pPr indent="0" marL="0">
              <a:spcBef>
                <a:spcPts val="500"/>
              </a:spcBef>
              <a:buNone/>
            </a:pPr>
            <a:r>
              <a:rPr lang="en-US" sz="1200" dirty="0">
                <a:solidFill>
                  <a:schemeClr val="accent6"/>
                </a:solidFill>
              </a:rPr>
              <a:t>Vaults using the Azure RBAC permission model.</a:t>
            </a:r>
            <a:endParaRPr lang="en-US" sz="1400" dirty="0"/>
          </a:p>
        </p:txBody>
      </p:sp>
      <p:sp>
        <p:nvSpPr>
          <p:cNvPr id="7" name="D2 card"/>
          <p:cNvSpPr/>
          <p:nvPr/>
        </p:nvSpPr>
        <p:spPr>
          <a:xfrm>
            <a:off x="4338218" y="1600200"/>
            <a:ext cx="3515258" cy="1495044"/>
          </a:xfrm>
          <a:prstGeom prst="roundRect">
            <a:avLst>
              <a:gd name="adj" fmla="val 4893"/>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Azure Backup protecting virtual machines"/>
          <p:cNvSpPr txBox="1"/>
          <p:nvPr/>
        </p:nvSpPr>
        <p:spPr>
          <a:xfrm>
            <a:off x="5161178"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Azure Backup protecting virtual machines</a:t>
            </a:r>
            <a:endParaRPr lang="en-US" sz="1400" dirty="0"/>
          </a:p>
          <a:p>
            <a:pPr indent="0" marL="0">
              <a:spcBef>
                <a:spcPts val="500"/>
              </a:spcBef>
              <a:buNone/>
            </a:pPr>
            <a:r>
              <a:rPr lang="en-US" sz="1200" dirty="0">
                <a:solidFill>
                  <a:schemeClr val="accent6"/>
                </a:solidFill>
              </a:rPr>
              <a:t>Virtual machines with a protected backup item. Pooled session hosts may be excluded by agreement.</a:t>
            </a:r>
            <a:endParaRPr lang="en-US" sz="1400" dirty="0"/>
          </a:p>
        </p:txBody>
      </p:sp>
      <p:sp>
        <p:nvSpPr>
          <p:cNvPr id="10" name="D3 card"/>
          <p:cNvSpPr/>
          <p:nvPr/>
        </p:nvSpPr>
        <p:spPr>
          <a:xfrm>
            <a:off x="8127797" y="1600200"/>
            <a:ext cx="3515258" cy="1495044"/>
          </a:xfrm>
          <a:prstGeom prst="roundRect">
            <a:avLst>
              <a:gd name="adj" fmla="val 4893"/>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Collaboration sharing boundaries defined"/>
          <p:cNvSpPr txBox="1"/>
          <p:nvPr/>
        </p:nvSpPr>
        <p:spPr>
          <a:xfrm>
            <a:off x="8950757"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Collaboration sharing boundaries defined</a:t>
            </a:r>
            <a:endParaRPr lang="en-US" sz="1400" dirty="0"/>
          </a:p>
          <a:p>
            <a:pPr indent="0" marL="0">
              <a:spcBef>
                <a:spcPts val="500"/>
              </a:spcBef>
              <a:buNone/>
            </a:pPr>
            <a:r>
              <a:rPr lang="en-US" sz="1200" dirty="0">
                <a:solidFill>
                  <a:schemeClr val="accent6"/>
                </a:solidFill>
              </a:rPr>
              <a:t>Tenant sharing level below anyone links, with domain restrictions where agreed.</a:t>
            </a:r>
            <a:endParaRPr lang="en-US" sz="1400" dirty="0"/>
          </a:p>
        </p:txBody>
      </p:sp>
      <p:sp>
        <p:nvSpPr>
          <p:cNvPr id="13" name="D4 card"/>
          <p:cNvSpPr/>
          <p:nvPr/>
        </p:nvSpPr>
        <p:spPr>
          <a:xfrm>
            <a:off x="548640" y="3369564"/>
            <a:ext cx="3515258" cy="1495044"/>
          </a:xfrm>
          <a:prstGeom prst="roundRect">
            <a:avLst>
              <a:gd name="adj" fmla="val 4893"/>
            </a:avLst>
          </a:prstGeom>
          <a:solidFill>
            <a:schemeClr val="bg2"/>
          </a:solidFill>
          <a:ln w="12700">
            <a:solidFill>
              <a:schemeClr val="bg2"/>
            </a:solidFill>
            <a:prstDash val="solid"/>
          </a:ln>
        </p:spPr>
      </p:sp>
      <p:sp>
        <p:nvSpPr>
          <p:cNvPr id="14" name="D4 tag"/>
          <p:cNvSpPr txBox="1"/>
          <p:nvPr/>
        </p:nvSpPr>
        <p:spPr>
          <a:xfrm>
            <a:off x="731520" y="3570732"/>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Endpoint disk encryption enforced on managed devices"/>
          <p:cNvSpPr txBox="1"/>
          <p:nvPr/>
        </p:nvSpPr>
        <p:spPr>
          <a:xfrm>
            <a:off x="1371600" y="3552444"/>
            <a:ext cx="2527706" cy="1202436"/>
          </a:xfrm>
          <a:prstGeom prst="rect">
            <a:avLst/>
          </a:prstGeom>
          <a:noFill/>
          <a:ln/>
        </p:spPr>
        <p:txBody>
          <a:bodyPr wrap="square" lIns="0" tIns="0" rIns="0" bIns="0" rtlCol="0" anchor="t"/>
          <a:lstStyle/>
          <a:p>
            <a:pPr indent="0" marL="0">
              <a:buNone/>
            </a:pPr>
            <a:r>
              <a:rPr lang="en-US" sz="1400" b="1" dirty="0">
                <a:solidFill>
                  <a:schemeClr val="tx2"/>
                </a:solidFill>
              </a:rPr>
              <a:t>Endpoint disk encryption enforced on managed devices</a:t>
            </a:r>
            <a:endParaRPr lang="en-US" sz="1400" dirty="0"/>
          </a:p>
          <a:p>
            <a:pPr indent="0" marL="0">
              <a:spcBef>
                <a:spcPts val="500"/>
              </a:spcBef>
              <a:buNone/>
            </a:pPr>
            <a:r>
              <a:rPr lang="en-US" sz="1200" dirty="0">
                <a:solidFill>
                  <a:schemeClr val="accent6"/>
                </a:solidFill>
              </a:rPr>
              <a:t>Managed Windows and macOS devices reported as encrypted.</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Detection and response</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6 controls · Configured at build and held at E at every review</a:t>
            </a:r>
            <a:endParaRPr lang="en-US" sz="1600" dirty="0"/>
          </a:p>
        </p:txBody>
      </p:sp>
      <p:sp>
        <p:nvSpPr>
          <p:cNvPr id="4" name="F1 card"/>
          <p:cNvSpPr/>
          <p:nvPr/>
        </p:nvSpPr>
        <p:spPr>
          <a:xfrm>
            <a:off x="548640" y="1600200"/>
            <a:ext cx="3515258" cy="2226564"/>
          </a:xfrm>
          <a:prstGeom prst="roundRect">
            <a:avLst>
              <a:gd name="adj" fmla="val 3285"/>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Endpoint sensors active on onboarded Azure virtual machines"/>
          <p:cNvSpPr txBox="1"/>
          <p:nvPr/>
        </p:nvSpPr>
        <p:spPr>
          <a:xfrm>
            <a:off x="1371600"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Endpoint sensors active on onboarded Azure virtual machines</a:t>
            </a:r>
            <a:endParaRPr lang="en-US" sz="1400" dirty="0"/>
          </a:p>
          <a:p>
            <a:pPr indent="0" marL="0">
              <a:spcBef>
                <a:spcPts val="500"/>
              </a:spcBef>
              <a:buNone/>
            </a:pPr>
            <a:r>
              <a:rPr lang="en-US" sz="1200" dirty="0">
                <a:solidFill>
                  <a:schemeClr val="accent6"/>
                </a:solidFill>
              </a:rPr>
              <a:t>Active sensors among the Azure virtual machines onboarded to Defender for Endpoint, seen in the last 7 days. Workstations and network devices such as firewalls are not part of this measure.</a:t>
            </a:r>
            <a:endParaRPr lang="en-US" sz="1400" dirty="0"/>
          </a:p>
        </p:txBody>
      </p:sp>
      <p:sp>
        <p:nvSpPr>
          <p:cNvPr id="7" name="F2 card"/>
          <p:cNvSpPr/>
          <p:nvPr/>
        </p:nvSpPr>
        <p:spPr>
          <a:xfrm>
            <a:off x="4338218" y="1600200"/>
            <a:ext cx="3515258" cy="2226564"/>
          </a:xfrm>
          <a:prstGeom prst="roundRect">
            <a:avLst>
              <a:gd name="adj" fmla="val 3285"/>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Cloud workload protection plan coverage, a plan-level estimate"/>
          <p:cNvSpPr txBox="1"/>
          <p:nvPr/>
        </p:nvSpPr>
        <p:spPr>
          <a:xfrm>
            <a:off x="5161178"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Cloud workload protection plan coverage, a plan-level estimate</a:t>
            </a:r>
            <a:endParaRPr lang="en-US" sz="1400" dirty="0"/>
          </a:p>
          <a:p>
            <a:pPr indent="0" marL="0">
              <a:spcBef>
                <a:spcPts val="500"/>
              </a:spcBef>
              <a:buNone/>
            </a:pPr>
            <a:r>
              <a:rPr lang="en-US" sz="1200" dirty="0">
                <a:solidFill>
                  <a:schemeClr val="accent6"/>
                </a:solidFill>
              </a:rPr>
              <a:t>Eligible resources on a Standard Defender for Cloud plan, a plan-level estimate read from the subscription plan configuration.</a:t>
            </a:r>
            <a:endParaRPr lang="en-US" sz="1400" dirty="0"/>
          </a:p>
        </p:txBody>
      </p:sp>
      <p:sp>
        <p:nvSpPr>
          <p:cNvPr id="10" name="F3 card"/>
          <p:cNvSpPr/>
          <p:nvPr/>
        </p:nvSpPr>
        <p:spPr>
          <a:xfrm>
            <a:off x="8127797" y="1600200"/>
            <a:ext cx="3515258" cy="2226564"/>
          </a:xfrm>
          <a:prstGeom prst="roundRect">
            <a:avLst>
              <a:gd name="adj" fmla="val 3285"/>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Analytics rules enabled in every Sentinel workspace"/>
          <p:cNvSpPr txBox="1"/>
          <p:nvPr/>
        </p:nvSpPr>
        <p:spPr>
          <a:xfrm>
            <a:off x="8950757"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Analytics rules enabled in every Sentinel workspace</a:t>
            </a:r>
            <a:endParaRPr lang="en-US" sz="1400" dirty="0"/>
          </a:p>
          <a:p>
            <a:pPr indent="0" marL="0">
              <a:spcBef>
                <a:spcPts val="500"/>
              </a:spcBef>
              <a:buNone/>
            </a:pPr>
            <a:r>
              <a:rPr lang="en-US" sz="1200" dirty="0">
                <a:solidFill>
                  <a:schemeClr val="accent6"/>
                </a:solidFill>
              </a:rPr>
              <a:t>Sentinel workspaces with at least one enabled analytics rule, of the workspaces in scope. It does not identify which rules are Atmosera's standard set.</a:t>
            </a:r>
            <a:endParaRPr lang="en-US" sz="1400" dirty="0"/>
          </a:p>
        </p:txBody>
      </p:sp>
      <p:sp>
        <p:nvSpPr>
          <p:cNvPr id="13" name="F4 card"/>
          <p:cNvSpPr/>
          <p:nvPr/>
        </p:nvSpPr>
        <p:spPr>
          <a:xfrm>
            <a:off x="548640" y="4101084"/>
            <a:ext cx="3515258" cy="2226564"/>
          </a:xfrm>
          <a:prstGeom prst="roundRect">
            <a:avLst>
              <a:gd name="adj" fmla="val 3285"/>
            </a:avLst>
          </a:prstGeom>
          <a:solidFill>
            <a:schemeClr val="bg2"/>
          </a:solidFill>
          <a:ln w="12700">
            <a:solidFill>
              <a:schemeClr val="bg2"/>
            </a:solidFill>
            <a:prstDash val="solid"/>
          </a:ln>
        </p:spPr>
      </p:sp>
      <p:sp>
        <p:nvSpPr>
          <p:cNvPr id="14" name="F4 tag"/>
          <p:cNvSpPr txBox="1"/>
          <p:nvPr/>
        </p:nvSpPr>
        <p:spPr>
          <a:xfrm>
            <a:off x="731520"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Threat intelligence indicators ingested tenant-wide"/>
          <p:cNvSpPr txBox="1"/>
          <p:nvPr/>
        </p:nvSpPr>
        <p:spPr>
          <a:xfrm>
            <a:off x="1371600"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Threat intelligence indicators ingested tenant-wide</a:t>
            </a:r>
            <a:endParaRPr lang="en-US" sz="1400" dirty="0"/>
          </a:p>
          <a:p>
            <a:pPr indent="0" marL="0">
              <a:spcBef>
                <a:spcPts val="500"/>
              </a:spcBef>
              <a:buNone/>
            </a:pPr>
            <a:r>
              <a:rPr lang="en-US" sz="1200" dirty="0">
                <a:solidFill>
                  <a:schemeClr val="accent6"/>
                </a:solidFill>
              </a:rPr>
              <a:t>Threat intelligence indicators available for matching in the workspace.</a:t>
            </a:r>
            <a:endParaRPr lang="en-US" sz="1400" dirty="0"/>
          </a:p>
        </p:txBody>
      </p:sp>
      <p:sp>
        <p:nvSpPr>
          <p:cNvPr id="16" name="F5 card"/>
          <p:cNvSpPr/>
          <p:nvPr/>
        </p:nvSpPr>
        <p:spPr>
          <a:xfrm>
            <a:off x="4338218" y="4101084"/>
            <a:ext cx="3515258" cy="2226564"/>
          </a:xfrm>
          <a:prstGeom prst="roundRect">
            <a:avLst>
              <a:gd name="adj" fmla="val 3285"/>
            </a:avLst>
          </a:prstGeom>
          <a:solidFill>
            <a:schemeClr val="bg2"/>
          </a:solidFill>
          <a:ln w="12700">
            <a:solidFill>
              <a:schemeClr val="bg2"/>
            </a:solidFill>
            <a:prstDash val="solid"/>
          </a:ln>
        </p:spPr>
      </p:sp>
      <p:sp>
        <p:nvSpPr>
          <p:cNvPr id="17" name="F5 tag"/>
          <p:cNvSpPr txBox="1"/>
          <p:nvPr/>
        </p:nvSpPr>
        <p:spPr>
          <a:xfrm>
            <a:off x="4521098"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Alerts closed with a documented disposition"/>
          <p:cNvSpPr txBox="1"/>
          <p:nvPr/>
        </p:nvSpPr>
        <p:spPr>
          <a:xfrm>
            <a:off x="5161178"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Alerts closed with a documented disposition</a:t>
            </a:r>
            <a:endParaRPr lang="en-US" sz="1400" dirty="0"/>
          </a:p>
          <a:p>
            <a:pPr indent="0" marL="0">
              <a:spcBef>
                <a:spcPts val="500"/>
              </a:spcBef>
              <a:buNone/>
            </a:pPr>
            <a:r>
              <a:rPr lang="en-US" sz="1200" dirty="0">
                <a:solidFill>
                  <a:schemeClr val="accent6"/>
                </a:solidFill>
              </a:rPr>
              <a:t>Alerts closed in the last 30 days that carry a classification and a closing comment.</a:t>
            </a:r>
            <a:endParaRPr lang="en-US" sz="1400" dirty="0"/>
          </a:p>
        </p:txBody>
      </p:sp>
      <p:sp>
        <p:nvSpPr>
          <p:cNvPr id="19" name="F6 card"/>
          <p:cNvSpPr/>
          <p:nvPr/>
        </p:nvSpPr>
        <p:spPr>
          <a:xfrm>
            <a:off x="8127797" y="4101084"/>
            <a:ext cx="3515258" cy="2226564"/>
          </a:xfrm>
          <a:prstGeom prst="roundRect">
            <a:avLst>
              <a:gd name="adj" fmla="val 3285"/>
            </a:avLst>
          </a:prstGeom>
          <a:solidFill>
            <a:schemeClr val="bg2"/>
          </a:solidFill>
          <a:ln w="12700">
            <a:solidFill>
              <a:schemeClr val="bg2"/>
            </a:solidFill>
            <a:prstDash val="solid"/>
          </a:ln>
        </p:spPr>
      </p:sp>
      <p:sp>
        <p:nvSpPr>
          <p:cNvPr id="20" name="F6 tag"/>
          <p:cNvSpPr txBox="1"/>
          <p:nvPr/>
        </p:nvSpPr>
        <p:spPr>
          <a:xfrm>
            <a:off x="8310677"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F6</a:t>
            </a:r>
            <a:endParaRPr lang="en-US" sz="1300" dirty="0"/>
          </a:p>
        </p:txBody>
      </p:sp>
      <p:sp>
        <p:nvSpPr>
          <p:cNvPr id="21" name="F6 Audit logging initiative compliant across its resources"/>
          <p:cNvSpPr txBox="1"/>
          <p:nvPr/>
        </p:nvSpPr>
        <p:spPr>
          <a:xfrm>
            <a:off x="8950757"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Audit logging initiative compliant across its resources</a:t>
            </a:r>
            <a:endParaRPr lang="en-US" sz="1400" dirty="0"/>
          </a:p>
          <a:p>
            <a:pPr indent="0" marL="0">
              <a:spcBef>
                <a:spcPts val="500"/>
              </a:spcBef>
              <a:buNone/>
            </a:pPr>
            <a:r>
              <a:rPr lang="en-US" sz="1200" dirty="0">
                <a:solidFill>
                  <a:schemeClr val="accent6"/>
                </a:solidFill>
              </a:rPr>
              <a:t>Resources compliant with the ATMO-MXDR diagnostic logging initiative.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Detection and response</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3 controls · Layered on afterward and sequenced with each client on the roadmap</a:t>
            </a:r>
            <a:endParaRPr lang="en-US" sz="1600" dirty="0"/>
          </a:p>
        </p:txBody>
      </p:sp>
      <p:sp>
        <p:nvSpPr>
          <p:cNvPr id="4" name="D1 card"/>
          <p:cNvSpPr/>
          <p:nvPr/>
        </p:nvSpPr>
        <p:spPr>
          <a:xfrm>
            <a:off x="548640" y="1600200"/>
            <a:ext cx="3515258" cy="1495044"/>
          </a:xfrm>
          <a:prstGeom prst="roundRect">
            <a:avLst>
              <a:gd name="adj" fmla="val 4893"/>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Domain controller telemetry collected continuously"/>
          <p:cNvSpPr txBox="1"/>
          <p:nvPr/>
        </p:nvSpPr>
        <p:spPr>
          <a:xfrm>
            <a:off x="1371600"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Domain controller telemetry collected continuously</a:t>
            </a:r>
            <a:endParaRPr lang="en-US" sz="1400" dirty="0"/>
          </a:p>
          <a:p>
            <a:pPr indent="0" marL="0">
              <a:spcBef>
                <a:spcPts val="500"/>
              </a:spcBef>
              <a:buNone/>
            </a:pPr>
            <a:r>
              <a:rPr lang="en-US" sz="1200" dirty="0">
                <a:solidFill>
                  <a:schemeClr val="accent6"/>
                </a:solidFill>
              </a:rPr>
              <a:t>Domain controller security events arriving in the workspace.</a:t>
            </a:r>
            <a:endParaRPr lang="en-US" sz="1400" dirty="0"/>
          </a:p>
        </p:txBody>
      </p:sp>
      <p:sp>
        <p:nvSpPr>
          <p:cNvPr id="7" name="D2 card"/>
          <p:cNvSpPr/>
          <p:nvPr/>
        </p:nvSpPr>
        <p:spPr>
          <a:xfrm>
            <a:off x="4338218" y="1600200"/>
            <a:ext cx="3515258" cy="1495044"/>
          </a:xfrm>
          <a:prstGeom prst="roundRect">
            <a:avLst>
              <a:gd name="adj" fmla="val 4893"/>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Defender for Identity sensors healthy on domain controllers"/>
          <p:cNvSpPr txBox="1"/>
          <p:nvPr/>
        </p:nvSpPr>
        <p:spPr>
          <a:xfrm>
            <a:off x="5161178"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Defender for Identity sensors healthy on domain controllers</a:t>
            </a:r>
            <a:endParaRPr lang="en-US" sz="1400" dirty="0"/>
          </a:p>
          <a:p>
            <a:pPr indent="0" marL="0">
              <a:spcBef>
                <a:spcPts val="500"/>
              </a:spcBef>
              <a:buNone/>
            </a:pPr>
            <a:r>
              <a:rPr lang="en-US" sz="1200" dirty="0">
                <a:solidFill>
                  <a:schemeClr val="accent6"/>
                </a:solidFill>
              </a:rPr>
              <a:t>Sensors reporting healthy, of sensors registered.</a:t>
            </a:r>
            <a:endParaRPr lang="en-US" sz="1400" dirty="0"/>
          </a:p>
        </p:txBody>
      </p:sp>
      <p:sp>
        <p:nvSpPr>
          <p:cNvPr id="10" name="D3 card"/>
          <p:cNvSpPr/>
          <p:nvPr/>
        </p:nvSpPr>
        <p:spPr>
          <a:xfrm>
            <a:off x="8127797" y="1600200"/>
            <a:ext cx="3515258" cy="1495044"/>
          </a:xfrm>
          <a:prstGeom prst="roundRect">
            <a:avLst>
              <a:gd name="adj" fmla="val 4893"/>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Diagnostic logging enabled on all platform resources"/>
          <p:cNvSpPr txBox="1"/>
          <p:nvPr/>
        </p:nvSpPr>
        <p:spPr>
          <a:xfrm>
            <a:off x="8950757"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Diagnostic logging enabled on all platform resources</a:t>
            </a:r>
            <a:endParaRPr lang="en-US" sz="1400" dirty="0"/>
          </a:p>
          <a:p>
            <a:pPr indent="0" marL="0">
              <a:spcBef>
                <a:spcPts val="500"/>
              </a:spcBef>
              <a:buNone/>
            </a:pPr>
            <a:r>
              <a:rPr lang="en-US" sz="1200" dirty="0">
                <a:solidFill>
                  <a:schemeClr val="accent6"/>
                </a:solidFill>
              </a:rPr>
              <a:t>Resources with every diagnostic and audit logging assessment healthy.</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6949440" cy="914400"/>
          </a:xfrm>
          <a:prstGeom prst="rect">
            <a:avLst/>
          </a:prstGeom>
          <a:noFill/>
          <a:ln/>
        </p:spPr>
        <p:txBody>
          <a:bodyPr wrap="square" lIns="0" tIns="0" rIns="0" bIns="0" rtlCol="0" anchor="t"/>
          <a:lstStyle/>
          <a:p>
            <a:pPr algn="l" indent="0" marL="0">
              <a:buNone/>
            </a:pPr>
            <a:r>
              <a:rPr lang="en-US" sz="4400" b="1" dirty="0">
                <a:solidFill>
                  <a:schemeClr val="bg1"/>
                </a:solidFill>
              </a:rPr>
              <a:t>Feedback welcome</a:t>
            </a:r>
            <a:endParaRPr lang="en-US" sz="4400" dirty="0"/>
          </a:p>
        </p:txBody>
      </p:sp>
      <p:sp>
        <p:nvSpPr>
          <p:cNvPr id="3" name="Text 0"/>
          <p:cNvSpPr/>
          <p:nvPr>
            <p:ph idx="101" type="body" hasCustomPrompt="1"/>
          </p:nvPr>
        </p:nvSpPr>
        <p:spPr>
          <a:xfrm>
            <a:off x="640080" y="3154680"/>
            <a:ext cx="6400800" cy="1463040"/>
          </a:xfrm>
          <a:prstGeom prst="rect">
            <a:avLst/>
          </a:prstGeom>
          <a:noFill/>
          <a:ln/>
        </p:spPr>
        <p:txBody>
          <a:bodyPr wrap="square" lIns="0" tIns="0" rIns="0" bIns="0" rtlCol="0" anchor="t"/>
          <a:lstStyle/>
          <a:p>
            <a:pPr algn="l" indent="0" marL="0">
              <a:buNone/>
            </a:pPr>
            <a:r>
              <a:rPr lang="en-US" sz="2000" dirty="0">
                <a:solidFill>
                  <a:schemeClr val="bg2"/>
                </a:solidFill>
              </a:rPr>
              <a:t>Feedback on any control, its tier or how it is measured is welcome and is weighed for the next version of this standard.</a:t>
            </a:r>
            <a:endParaRPr lang="en-US" sz="2000" dirty="0"/>
          </a:p>
        </p:txBody>
      </p:sp>
    </p:spTree>
  </p:cSld>
  <p:clrMapOvr>
    <a:masterClrMapping/>
  </p:clrMapOvr>
</p:sld>
</file>

<file path=ppt/theme/theme1.xml><?xml version="1.0" encoding="utf-8"?>
<a:theme xmlns:a="http://schemas.openxmlformats.org/drawingml/2006/main" name="Atmosera MXDR">
  <a:themeElements>
    <a:clrScheme name="Atmosera MXDR">
      <a:dk1>
        <a:srgbClr val="21374C"/>
      </a:dk1>
      <a:lt1>
        <a:srgbClr val="FFFFFF"/>
      </a:lt1>
      <a:dk2>
        <a:srgbClr val="15365F"/>
      </a:dk2>
      <a:lt2>
        <a:srgbClr val="F3F6FA"/>
      </a:lt2>
      <a:accent1>
        <a:srgbClr val="01ACD9"/>
      </a:accent1>
      <a:accent2>
        <a:srgbClr val="007CB3"/>
      </a:accent2>
      <a:accent3>
        <a:srgbClr val="1F9D74"/>
      </a:accent3>
      <a:accent4>
        <a:srgbClr val="F37321"/>
      </a:accent4>
      <a:accent5>
        <a:srgbClr val="2E5B8C"/>
      </a:accent5>
      <a:accent6>
        <a:srgbClr val="5A6B7F"/>
      </a:accent6>
      <a:hlink>
        <a:srgbClr val="007CB3"/>
      </a:hlink>
      <a:folHlink>
        <a:srgbClr val="2E5B8C"/>
      </a:folHlink>
    </a:clrScheme>
    <a:fontScheme name="Atmosera MXD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Atmosera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controls that matter</dc:title>
  <dc:subject>PptxGenJS Presentation</dc:subject>
  <dc:creator>Atmosera</dc:creator>
  <cp:lastModifiedBy>Atmosera</cp:lastModifiedBy>
  <cp:revision>1</cp:revision>
  <dcterms:created xsi:type="dcterms:W3CDTF">2026-10-18T23:52:29Z</dcterms:created>
  <dcterms:modified xsi:type="dcterms:W3CDTF">2026-10-18T23:52:29Z</dcterms:modified>
</cp:coreProperties>
</file>